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Theme 03, Teachable Voice Automation. Team Update from TIET: Shikhar Goel and Ishpreet Singh, third-year Computer Engineering. One sentence: you teach the phone a task by doing it once while it listens and watches; after that you just say it, with different values or wording, and it does it through the accessibility service, stopping before payment.</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Theme 03 in our words: assistants only reach what apps expose, so in-app tasks take many taps. The theme asks us to learn a task from one demonstration by voice and taps, generalise it into slots, match paraphrases and new values, cope with changed screens, and never touch credentials. Our target apps are Zomato, Amazon, and Myntra for the cross-app bonus.</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Existing options: assistants reach only exposed app actions; macro apps are hand-built and brittle; LLM screen agents call a model for every step, which is slow, costly and not repeatable; programming by demonstration, like SUGILITE, had the right idea but no way to recover when a screen changes. We combine demonstration with a deterministic replay engine and use the model only as a fallback, with a hard hand-off at payment and login.</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Four stages on top: teach, generalise, replay by voice, and ask or hand back. Below, the architecture: two pipelines on the phone. Teach: voice command, the recorder with our tap-capture overlay and a UI-tree snapshot per tap, the generaliser that turns command words into slots, one LLM call to refine, a review screen, and a JSON recipe. Run: the matcher turns speech into a flow with slot values, offline first; the executor escalates from a scored fast path to scrolling and page search, and only then an LLM action or a question; checks demand proof on screen; the guard stops at payment, login, OTP and password. The violet tags mark the only places the LLM is used.</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Five moments from one Zomato task, captured on the phone on 30 Sep. 1: teaching, the red border and the Teaching pill with Done and Cancel. 2: what it learned, the steps in words with the command's values as slots, and the Veg filter tap marked not needed. 3: a replay by voice, the pill shows step 7 of 11, Tap ADD next to margherita. 4: a command without a restaurant, so it asks at the step that needs one. 5: it stops at the payment page and hands back. Below: three more commands from the 30 Sep evaluation that ran the same task with new values, a quantity, and a restaurant it was never taught on.</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Plain native Android in Kotlin; no root, no app SDKs. One hosted model through Fireworks' OpenAI-compatible API. Everything is reproducible with the Dockerfile, and the test benches drive the phone over adb.</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Impact: the Zomato order we taught is eleven steps; after one demonstration it's one sentence and under a minute hands-free. Use cases: everyday repeats, accessibility for people who find many small taps hard, a family member setting up tasks once for a parent, and Hinglish commands. As a worklet, it extends an assistant into any app through accessibility, without partner integrations.</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Left: six ideas that make one demonstration dependable; the language model is a fallback, not the engine. Middle: measured cold-start runs; the judges' sentence reached payment eight times out of eight with no language-model call, and all fourteen theme test cases pass, including the rubric's garlic-bread example. Right: what we know today and how the assistant behaves in each case; all of these are in the README too.</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Where it goes next: an on-device model for privacy and speed, sharing taught tasks, routines, and more Indian languages. As a worklet, the safety pieces are already in place.</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All three bonus criteria are met with evidence from real runs. Beyond them: to check nothing is tuned to our target apps, we taught a task on GitHub, which the assistant had never seen, and new repository names replayed in 17 to 18 seconds with no model calls.</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Everything the submission asks for is in the public repository under the release tag: code, README with setup and a Dockerfile, the APK, the demo video link, this presentation, and the architecture and limitations the theme asks for.</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Thank you. The repository has the code, README, Dockerfile, APK and every evaluation table.</a:t>
            </a: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16.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612648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- 03 · Teachable Voice Automation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 Update</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 Thapar Institute of Engineering and Technology (TIET), Patiala</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1 - Shikhar Goel · sgoel2_be24@thapar.edu</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2 - Ishpreet Singh · isingh4_be24@thapar.edu</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github.com/sgoel2be24-cyber/prism-teachable-voice</a:t>
            </a:r>
            <a:endParaRPr/>
          </a:p>
          <a:p>
            <a:pPr indent="-76200" lvl="0" marL="177800" marR="0" rtl="0" algn="l">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02" name="TextBox 101"/>
          <p:cNvSpPr txBox="1"/>
          <p:nvPr/>
        </p:nvSpPr>
        <p:spPr>
          <a:xfrm>
            <a:off x="932688" y="1572768"/>
            <a:ext cx="7315200" cy="274320"/>
          </a:xfrm>
          <a:prstGeom prst="rect">
            <a:avLst/>
          </a:prstGeom>
          <a:noFill/>
        </p:spPr>
        <p:txBody>
          <a:bodyPr wrap="square" lIns="0" rIns="0" tIns="0" bIns="0" anchor="t">
            <a:spAutoFit/>
          </a:bodyPr>
          <a:lstStyle/>
          <a:p>
            <a:pPr algn="l"/>
            <a:r>
              <a:rPr sz="1100" b="1" i="0">
                <a:solidFill>
                  <a:srgbClr val="6D28D9"/>
                </a:solidFill>
                <a:latin typeface="Arial"/>
              </a:rPr>
              <a:t>THEME 03 · THE PROBLEM, IN OUR WORDS</a:t>
            </a:r>
          </a:p>
        </p:txBody>
      </p:sp>
      <p:sp>
        <p:nvSpPr>
          <p:cNvPr id="103" name="TextBox 102"/>
          <p:cNvSpPr txBox="1"/>
          <p:nvPr/>
        </p:nvSpPr>
        <p:spPr>
          <a:xfrm>
            <a:off x="932688" y="1920240"/>
            <a:ext cx="4937760" cy="548640"/>
          </a:xfrm>
          <a:prstGeom prst="rect">
            <a:avLst/>
          </a:prstGeom>
          <a:noFill/>
        </p:spPr>
        <p:txBody>
          <a:bodyPr wrap="square" lIns="0" rIns="0" tIns="0" bIns="0" anchor="t">
            <a:spAutoFit/>
          </a:bodyPr>
          <a:lstStyle/>
          <a:p>
            <a:pPr algn="l"/>
            <a:r>
              <a:rPr sz="2800" b="1" i="0">
                <a:solidFill>
                  <a:srgbClr val="14142B"/>
                </a:solidFill>
                <a:latin typeface="Arial"/>
              </a:rPr>
              <a:t>Teachable Voice Automation</a:t>
            </a:r>
          </a:p>
        </p:txBody>
      </p:sp>
      <p:sp>
        <p:nvSpPr>
          <p:cNvPr id="104" name="TextBox 103"/>
          <p:cNvSpPr txBox="1"/>
          <p:nvPr/>
        </p:nvSpPr>
        <p:spPr>
          <a:xfrm>
            <a:off x="932688" y="2606040"/>
            <a:ext cx="4937760" cy="1828800"/>
          </a:xfrm>
          <a:prstGeom prst="rect">
            <a:avLst/>
          </a:prstGeom>
          <a:noFill/>
        </p:spPr>
        <p:txBody>
          <a:bodyPr wrap="square" lIns="0" rIns="0" tIns="0" bIns="0" anchor="t">
            <a:spAutoFit/>
          </a:bodyPr>
          <a:lstStyle/>
          <a:p>
            <a:pPr algn="l">
              <a:spcAft>
                <a:spcPts val="800"/>
              </a:spcAft>
            </a:pPr>
            <a:r>
              <a:rPr sz="1500" b="0" i="0">
                <a:solidFill>
                  <a:srgbClr val="1F2037"/>
                </a:solidFill>
                <a:latin typeface="Calibri"/>
              </a:rPr>
              <a:t>Voice assistants stop where an app’s own integrations stop. Ordering a pizza on Zomato or adding something to an Amazon cart still takes ten or more taps, every time.</a:t>
            </a:r>
          </a:p>
          <a:p>
            <a:pPr algn="l">
              <a:spcAft>
                <a:spcPts val="800"/>
              </a:spcAft>
            </a:pPr>
            <a:r>
              <a:rPr sz="1500" b="0" i="0">
                <a:solidFill>
                  <a:srgbClr val="1F2037"/>
                </a:solidFill>
                <a:latin typeface="Calibri"/>
              </a:rPr>
              <a:t>The user already knows those taps. There is no way to hand that knowledge to the assistant — and have it cope with new values, new wording and a changed screen.</a:t>
            </a:r>
          </a:p>
        </p:txBody>
      </p:sp>
      <p:sp>
        <p:nvSpPr>
          <p:cNvPr id="105" name="Rounded Rectangle 104"/>
          <p:cNvSpPr/>
          <p:nvPr/>
        </p:nvSpPr>
        <p:spPr>
          <a:xfrm>
            <a:off x="932688" y="4754880"/>
            <a:ext cx="4937760" cy="1325880"/>
          </a:xfrm>
          <a:prstGeom prst="roundRect">
            <a:avLst>
              <a:gd name="adj" fmla="val 5517"/>
            </a:avLst>
          </a:prstGeom>
          <a:solidFill>
            <a:srgbClr val="F5F3FC"/>
          </a:solidFill>
          <a:ln>
            <a:noFill/>
          </a:ln>
          <a:effectLst/>
        </p:spPr>
        <p:txBody>
          <a:bodyPr rtlCol="0" anchor="ctr"/>
          <a:lstStyle/>
          <a:p/>
        </p:txBody>
      </p:sp>
      <p:sp>
        <p:nvSpPr>
          <p:cNvPr id="106" name="TextBox 105"/>
          <p:cNvSpPr txBox="1"/>
          <p:nvPr/>
        </p:nvSpPr>
        <p:spPr>
          <a:xfrm>
            <a:off x="1161288" y="4873752"/>
            <a:ext cx="4572000" cy="274320"/>
          </a:xfrm>
          <a:prstGeom prst="rect">
            <a:avLst/>
          </a:prstGeom>
          <a:noFill/>
        </p:spPr>
        <p:txBody>
          <a:bodyPr wrap="square" lIns="0" rIns="0" tIns="0" bIns="0" anchor="t">
            <a:spAutoFit/>
          </a:bodyPr>
          <a:lstStyle/>
          <a:p>
            <a:pPr algn="l"/>
            <a:r>
              <a:rPr sz="1200" b="1" i="0">
                <a:solidFill>
                  <a:srgbClr val="6D28D9"/>
                </a:solidFill>
                <a:latin typeface="Arial"/>
              </a:rPr>
              <a:t>Target apps</a:t>
            </a:r>
          </a:p>
        </p:txBody>
      </p:sp>
      <p:sp>
        <p:nvSpPr>
          <p:cNvPr id="107" name="TextBox 106"/>
          <p:cNvSpPr txBox="1"/>
          <p:nvPr/>
        </p:nvSpPr>
        <p:spPr>
          <a:xfrm>
            <a:off x="1161288" y="5175504"/>
            <a:ext cx="4572000" cy="868680"/>
          </a:xfrm>
          <a:prstGeom prst="rect">
            <a:avLst/>
          </a:prstGeom>
          <a:noFill/>
        </p:spPr>
        <p:txBody>
          <a:bodyPr wrap="square" lIns="0" rIns="0" tIns="0" bIns="0" anchor="t">
            <a:spAutoFit/>
          </a:bodyPr>
          <a:lstStyle/>
          <a:p>
            <a:pPr algn="l">
              <a:spcAft>
                <a:spcPts val="200"/>
              </a:spcAft>
            </a:pPr>
            <a:r>
              <a:rPr sz="1300" b="1" i="0">
                <a:solidFill>
                  <a:srgbClr val="1F2037"/>
                </a:solidFill>
                <a:latin typeface="Calibri"/>
              </a:rPr>
              <a:t>Zomato</a:t>
            </a:r>
            <a:r>
              <a:rPr sz="1300" b="0" i="0">
                <a:solidFill>
                  <a:srgbClr val="1F2037"/>
                </a:solidFill>
                <a:latin typeface="Calibri"/>
              </a:rPr>
              <a:t> — order from Domino’s (item, quantity, address)</a:t>
            </a:r>
          </a:p>
          <a:p>
            <a:pPr algn="l">
              <a:spcAft>
                <a:spcPts val="200"/>
              </a:spcAft>
            </a:pPr>
            <a:r>
              <a:rPr sz="1300" b="1" i="0">
                <a:solidFill>
                  <a:srgbClr val="1F2037"/>
                </a:solidFill>
                <a:latin typeface="Calibri"/>
              </a:rPr>
              <a:t>Amazon</a:t>
            </a:r>
            <a:r>
              <a:rPr sz="1300" b="0" i="0">
                <a:solidFill>
                  <a:srgbClr val="1F2037"/>
                </a:solidFill>
                <a:latin typeface="Calibri"/>
              </a:rPr>
              <a:t> — search, add the first real result to the cart</a:t>
            </a:r>
          </a:p>
          <a:p>
            <a:pPr algn="l">
              <a:spcAft>
                <a:spcPts val="200"/>
              </a:spcAft>
            </a:pPr>
            <a:r>
              <a:rPr sz="1300" b="1" i="0">
                <a:solidFill>
                  <a:srgbClr val="1F2037"/>
                </a:solidFill>
                <a:latin typeface="Calibri"/>
              </a:rPr>
              <a:t>Myntra</a:t>
            </a:r>
            <a:r>
              <a:rPr sz="1300" b="0" i="0">
                <a:solidFill>
                  <a:srgbClr val="1F2037"/>
                </a:solidFill>
                <a:latin typeface="Calibri"/>
              </a:rPr>
              <a:t> — the Amazon task, run in a similar app</a:t>
            </a:r>
          </a:p>
        </p:txBody>
      </p:sp>
      <p:sp>
        <p:nvSpPr>
          <p:cNvPr id="108" name="Rounded Rectangle 107"/>
          <p:cNvSpPr/>
          <p:nvPr/>
        </p:nvSpPr>
        <p:spPr>
          <a:xfrm>
            <a:off x="6263640" y="1920240"/>
            <a:ext cx="5001768" cy="4160520"/>
          </a:xfrm>
          <a:prstGeom prst="roundRect">
            <a:avLst>
              <a:gd name="adj" fmla="val 1758"/>
            </a:avLst>
          </a:prstGeom>
          <a:solidFill>
            <a:srgbClr val="FFFFFF"/>
          </a:solidFill>
          <a:ln w="12700">
            <a:solidFill>
              <a:srgbClr val="D9D3F0"/>
            </a:solidFill>
          </a:ln>
          <a:effectLst/>
        </p:spPr>
        <p:txBody>
          <a:bodyPr rtlCol="0" anchor="ctr"/>
          <a:lstStyle/>
          <a:p/>
        </p:txBody>
      </p:sp>
      <p:sp>
        <p:nvSpPr>
          <p:cNvPr id="109" name="TextBox 108"/>
          <p:cNvSpPr txBox="1"/>
          <p:nvPr/>
        </p:nvSpPr>
        <p:spPr>
          <a:xfrm>
            <a:off x="6537960" y="2103120"/>
            <a:ext cx="4572000" cy="365760"/>
          </a:xfrm>
          <a:prstGeom prst="rect">
            <a:avLst/>
          </a:prstGeom>
          <a:noFill/>
        </p:spPr>
        <p:txBody>
          <a:bodyPr wrap="square" lIns="0" rIns="0" tIns="0" bIns="0" anchor="t">
            <a:spAutoFit/>
          </a:bodyPr>
          <a:lstStyle/>
          <a:p>
            <a:pPr algn="l"/>
            <a:r>
              <a:rPr sz="1500" b="1" i="0">
                <a:solidFill>
                  <a:srgbClr val="14142B"/>
                </a:solidFill>
                <a:latin typeface="Arial"/>
              </a:rPr>
              <a:t>What the theme asks for — and what we built</a:t>
            </a:r>
          </a:p>
        </p:txBody>
      </p:sp>
      <p:pic>
        <p:nvPicPr>
          <p:cNvPr id="110" name="Picture 109" descr="MdCheckCircle_0E9F6E.png"/>
          <p:cNvPicPr>
            <a:picLocks noChangeAspect="1"/>
          </p:cNvPicPr>
          <p:nvPr/>
        </p:nvPicPr>
        <p:blipFill>
          <a:blip r:embed="rId3"/>
          <a:stretch>
            <a:fillRect/>
          </a:stretch>
        </p:blipFill>
        <p:spPr>
          <a:xfrm>
            <a:off x="6537960" y="2670048"/>
            <a:ext cx="274320" cy="274320"/>
          </a:xfrm>
          <a:prstGeom prst="rect">
            <a:avLst/>
          </a:prstGeom>
        </p:spPr>
      </p:pic>
      <p:sp>
        <p:nvSpPr>
          <p:cNvPr id="111" name="TextBox 110"/>
          <p:cNvSpPr txBox="1"/>
          <p:nvPr/>
        </p:nvSpPr>
        <p:spPr>
          <a:xfrm>
            <a:off x="6949440" y="2633472"/>
            <a:ext cx="4206240" cy="640080"/>
          </a:xfrm>
          <a:prstGeom prst="rect">
            <a:avLst/>
          </a:prstGeom>
          <a:noFill/>
        </p:spPr>
        <p:txBody>
          <a:bodyPr wrap="square" lIns="0" rIns="0" tIns="0" bIns="0" anchor="t">
            <a:spAutoFit/>
          </a:bodyPr>
          <a:lstStyle/>
          <a:p>
            <a:pPr algn="l"/>
            <a:r>
              <a:rPr sz="1400" b="1" i="0">
                <a:solidFill>
                  <a:srgbClr val="1F2037"/>
                </a:solidFill>
                <a:latin typeface="Calibri"/>
              </a:rPr>
              <a:t>Teach by voice and taps, once</a:t>
            </a:r>
          </a:p>
          <a:p>
            <a:pPr algn="l"/>
            <a:r>
              <a:rPr sz="1200" b="0" i="0">
                <a:solidFill>
                  <a:srgbClr val="5B5F77"/>
                </a:solidFill>
                <a:latin typeface="Calibri"/>
              </a:rPr>
              <a:t>say the command, then do the task; every tap is recorded</a:t>
            </a:r>
          </a:p>
        </p:txBody>
      </p:sp>
      <p:pic>
        <p:nvPicPr>
          <p:cNvPr id="112" name="Picture 111" descr="MdCheckCircle_0E9F6E.png"/>
          <p:cNvPicPr>
            <a:picLocks noChangeAspect="1"/>
          </p:cNvPicPr>
          <p:nvPr/>
        </p:nvPicPr>
        <p:blipFill>
          <a:blip r:embed="rId3"/>
          <a:stretch>
            <a:fillRect/>
          </a:stretch>
        </p:blipFill>
        <p:spPr>
          <a:xfrm>
            <a:off x="6537960" y="3346704"/>
            <a:ext cx="274320" cy="274320"/>
          </a:xfrm>
          <a:prstGeom prst="rect">
            <a:avLst/>
          </a:prstGeom>
        </p:spPr>
      </p:pic>
      <p:sp>
        <p:nvSpPr>
          <p:cNvPr id="113" name="TextBox 112"/>
          <p:cNvSpPr txBox="1"/>
          <p:nvPr/>
        </p:nvSpPr>
        <p:spPr>
          <a:xfrm>
            <a:off x="6949440" y="3310128"/>
            <a:ext cx="4206240" cy="640080"/>
          </a:xfrm>
          <a:prstGeom prst="rect">
            <a:avLst/>
          </a:prstGeom>
          <a:noFill/>
        </p:spPr>
        <p:txBody>
          <a:bodyPr wrap="square" lIns="0" rIns="0" tIns="0" bIns="0" anchor="t">
            <a:spAutoFit/>
          </a:bodyPr>
          <a:lstStyle/>
          <a:p>
            <a:pPr algn="l"/>
            <a:r>
              <a:rPr sz="1400" b="1" i="0">
                <a:solidFill>
                  <a:srgbClr val="1F2037"/>
                </a:solidFill>
                <a:latin typeface="Calibri"/>
              </a:rPr>
              <a:t>A reusable flow, not a tap replay</a:t>
            </a:r>
          </a:p>
          <a:p>
            <a:pPr algn="l"/>
            <a:r>
              <a:rPr sz="1200" b="0" i="0">
                <a:solidFill>
                  <a:srgbClr val="5B5F77"/>
                </a:solidFill>
                <a:latin typeface="Calibri"/>
              </a:rPr>
              <a:t>values from the command become slots: item, quantity, address</a:t>
            </a:r>
          </a:p>
        </p:txBody>
      </p:sp>
      <p:pic>
        <p:nvPicPr>
          <p:cNvPr id="114" name="Picture 113" descr="MdCheckCircle_0E9F6E.png"/>
          <p:cNvPicPr>
            <a:picLocks noChangeAspect="1"/>
          </p:cNvPicPr>
          <p:nvPr/>
        </p:nvPicPr>
        <p:blipFill>
          <a:blip r:embed="rId3"/>
          <a:stretch>
            <a:fillRect/>
          </a:stretch>
        </p:blipFill>
        <p:spPr>
          <a:xfrm>
            <a:off x="6537960" y="4023359"/>
            <a:ext cx="274320" cy="274320"/>
          </a:xfrm>
          <a:prstGeom prst="rect">
            <a:avLst/>
          </a:prstGeom>
        </p:spPr>
      </p:pic>
      <p:sp>
        <p:nvSpPr>
          <p:cNvPr id="115" name="TextBox 114"/>
          <p:cNvSpPr txBox="1"/>
          <p:nvPr/>
        </p:nvSpPr>
        <p:spPr>
          <a:xfrm>
            <a:off x="6949440" y="3986783"/>
            <a:ext cx="4206240" cy="640080"/>
          </a:xfrm>
          <a:prstGeom prst="rect">
            <a:avLst/>
          </a:prstGeom>
          <a:noFill/>
        </p:spPr>
        <p:txBody>
          <a:bodyPr wrap="square" lIns="0" rIns="0" tIns="0" bIns="0" anchor="t">
            <a:spAutoFit/>
          </a:bodyPr>
          <a:lstStyle/>
          <a:p>
            <a:pPr algn="l"/>
            <a:r>
              <a:rPr sz="1400" b="1" i="0">
                <a:solidFill>
                  <a:srgbClr val="1F2037"/>
                </a:solidFill>
                <a:latin typeface="Calibri"/>
              </a:rPr>
              <a:t>Paraphrases and changed values</a:t>
            </a:r>
          </a:p>
          <a:p>
            <a:pPr algn="l"/>
            <a:r>
              <a:rPr sz="1200" b="0" i="0">
                <a:solidFill>
                  <a:srgbClr val="5B5F77"/>
                </a:solidFill>
                <a:latin typeface="Calibri"/>
              </a:rPr>
              <a:t>“Get me a farmhouse from dominos” runs the same task</a:t>
            </a:r>
          </a:p>
        </p:txBody>
      </p:sp>
      <p:pic>
        <p:nvPicPr>
          <p:cNvPr id="116" name="Picture 115" descr="MdCheckCircle_0E9F6E.png"/>
          <p:cNvPicPr>
            <a:picLocks noChangeAspect="1"/>
          </p:cNvPicPr>
          <p:nvPr/>
        </p:nvPicPr>
        <p:blipFill>
          <a:blip r:embed="rId3"/>
          <a:stretch>
            <a:fillRect/>
          </a:stretch>
        </p:blipFill>
        <p:spPr>
          <a:xfrm>
            <a:off x="6537960" y="4700016"/>
            <a:ext cx="274320" cy="274320"/>
          </a:xfrm>
          <a:prstGeom prst="rect">
            <a:avLst/>
          </a:prstGeom>
        </p:spPr>
      </p:pic>
      <p:sp>
        <p:nvSpPr>
          <p:cNvPr id="117" name="TextBox 116"/>
          <p:cNvSpPr txBox="1"/>
          <p:nvPr/>
        </p:nvSpPr>
        <p:spPr>
          <a:xfrm>
            <a:off x="6949440" y="4663440"/>
            <a:ext cx="4206240" cy="640080"/>
          </a:xfrm>
          <a:prstGeom prst="rect">
            <a:avLst/>
          </a:prstGeom>
          <a:noFill/>
        </p:spPr>
        <p:txBody>
          <a:bodyPr wrap="square" lIns="0" rIns="0" tIns="0" bIns="0" anchor="t">
            <a:spAutoFit/>
          </a:bodyPr>
          <a:lstStyle/>
          <a:p>
            <a:pPr algn="l"/>
            <a:r>
              <a:rPr sz="1400" b="1" i="0">
                <a:solidFill>
                  <a:srgbClr val="1F2037"/>
                </a:solidFill>
                <a:latin typeface="Calibri"/>
              </a:rPr>
              <a:t>Replay when screens change</a:t>
            </a:r>
          </a:p>
          <a:p>
            <a:pPr algn="l"/>
            <a:r>
              <a:rPr sz="1200" b="0" i="0">
                <a:solidFill>
                  <a:srgbClr val="5B5F77"/>
                </a:solidFill>
                <a:latin typeface="Calibri"/>
              </a:rPr>
              <a:t>pop-ups, sponsored results, another restaurant — ask only when stuck</a:t>
            </a:r>
          </a:p>
        </p:txBody>
      </p:sp>
      <p:pic>
        <p:nvPicPr>
          <p:cNvPr id="118" name="Picture 117" descr="MdCheckCircle_0E9F6E.png"/>
          <p:cNvPicPr>
            <a:picLocks noChangeAspect="1"/>
          </p:cNvPicPr>
          <p:nvPr/>
        </p:nvPicPr>
        <p:blipFill>
          <a:blip r:embed="rId3"/>
          <a:stretch>
            <a:fillRect/>
          </a:stretch>
        </p:blipFill>
        <p:spPr>
          <a:xfrm>
            <a:off x="6537960" y="5376672"/>
            <a:ext cx="274320" cy="274320"/>
          </a:xfrm>
          <a:prstGeom prst="rect">
            <a:avLst/>
          </a:prstGeom>
        </p:spPr>
      </p:pic>
      <p:sp>
        <p:nvSpPr>
          <p:cNvPr id="119" name="TextBox 118"/>
          <p:cNvSpPr txBox="1"/>
          <p:nvPr/>
        </p:nvSpPr>
        <p:spPr>
          <a:xfrm>
            <a:off x="6949440" y="5340096"/>
            <a:ext cx="4206240" cy="640080"/>
          </a:xfrm>
          <a:prstGeom prst="rect">
            <a:avLst/>
          </a:prstGeom>
          <a:noFill/>
        </p:spPr>
        <p:txBody>
          <a:bodyPr wrap="square" lIns="0" rIns="0" tIns="0" bIns="0" anchor="t">
            <a:spAutoFit/>
          </a:bodyPr>
          <a:lstStyle/>
          <a:p>
            <a:pPr algn="l"/>
            <a:r>
              <a:rPr sz="1400" b="1" i="0">
                <a:solidFill>
                  <a:srgbClr val="1F2037"/>
                </a:solidFill>
                <a:latin typeface="Calibri"/>
              </a:rPr>
              <a:t>No credential capture</a:t>
            </a:r>
          </a:p>
          <a:p>
            <a:pPr algn="l"/>
            <a:r>
              <a:rPr sz="1200" b="0" i="0">
                <a:solidFill>
                  <a:srgbClr val="5B5F77"/>
                </a:solidFill>
                <a:latin typeface="Calibri"/>
              </a:rPr>
              <a:t>stops at payment, OTP, password and login: “Your turn.”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932688" y="1572768"/>
            <a:ext cx="7315200" cy="274320"/>
          </a:xfrm>
          <a:prstGeom prst="rect">
            <a:avLst/>
          </a:prstGeom>
          <a:noFill/>
        </p:spPr>
        <p:txBody>
          <a:bodyPr wrap="square" lIns="0" rIns="0" tIns="0" bIns="0" anchor="t">
            <a:spAutoFit/>
          </a:bodyPr>
          <a:lstStyle/>
          <a:p>
            <a:pPr algn="l"/>
            <a:r>
              <a:rPr sz="1100" b="1" i="0">
                <a:solidFill>
                  <a:srgbClr val="6D28D9"/>
                </a:solidFill>
                <a:latin typeface="Arial"/>
              </a:rPr>
              <a:t>WHERE TODAY’S OPTIONS FALL SHORT</a:t>
            </a:r>
          </a:p>
        </p:txBody>
      </p:sp>
      <p:graphicFrame>
        <p:nvGraphicFramePr>
          <p:cNvPr id="109" name="Table 108"/>
          <p:cNvGraphicFramePr>
            <a:graphicFrameLocks noGrp="1"/>
          </p:cNvGraphicFramePr>
          <p:nvPr/>
        </p:nvGraphicFramePr>
        <p:xfrm>
          <a:off x="932688" y="1920240"/>
          <a:ext cx="10332719" cy="3950208"/>
        </p:xfrm>
        <a:graphic>
          <a:graphicData uri="http://schemas.openxmlformats.org/drawingml/2006/table">
            <a:tbl>
              <a:tblPr firstRow="0" bandRow="0">
                <a:tableStyleId>{2D5ABB26-0587-4C30-8999-92F81FD0307C}</a:tableStyleId>
              </a:tblPr>
              <a:tblGrid>
                <a:gridCol w="3200400"/>
                <a:gridCol w="3383280"/>
                <a:gridCol w="3749039"/>
              </a:tblGrid>
              <a:tr h="658368">
                <a:tc>
                  <a:txBody>
                    <a:bodyPr wrap="square"/>
                    <a:lstStyle/>
                    <a:p>
                      <a:r>
                        <a:rPr sz="1100" b="1">
                          <a:solidFill>
                            <a:srgbClr val="5B5F77"/>
                          </a:solidFill>
                          <a:latin typeface="Arial"/>
                        </a:rPr>
                        <a:t>Approach</a:t>
                      </a:r>
                    </a:p>
                  </a:txBody>
                  <a:tcPr marL="73152" marR="73152" marT="27432" marB="27432" anchor="ctr">
                    <a:lnL w="0">
                      <a:noFill/>
                    </a:lnL>
                    <a:lnR w="0">
                      <a:noFill/>
                    </a:lnR>
                    <a:lnT w="0">
                      <a:noFill/>
                    </a:lnT>
                    <a:lnB w="9525">
                      <a:solidFill>
                        <a:srgbClr val="D9D3F0"/>
                      </a:solidFill>
                    </a:lnB>
                    <a:noFill/>
                  </a:tcPr>
                </a:tc>
                <a:tc>
                  <a:txBody>
                    <a:bodyPr wrap="square"/>
                    <a:lstStyle/>
                    <a:p>
                      <a:r>
                        <a:rPr sz="1100" b="1">
                          <a:solidFill>
                            <a:srgbClr val="5B5F77"/>
                          </a:solidFill>
                          <a:latin typeface="Arial"/>
                        </a:rPr>
                        <a:t>What it does</a:t>
                      </a:r>
                    </a:p>
                  </a:txBody>
                  <a:tcPr marL="73152" marR="73152" marT="27432" marB="27432" anchor="ctr">
                    <a:lnL w="0">
                      <a:noFill/>
                    </a:lnL>
                    <a:lnR w="0">
                      <a:noFill/>
                    </a:lnR>
                    <a:lnT w="0">
                      <a:noFill/>
                    </a:lnT>
                    <a:lnB w="9525">
                      <a:solidFill>
                        <a:srgbClr val="D9D3F0"/>
                      </a:solidFill>
                    </a:lnB>
                    <a:noFill/>
                  </a:tcPr>
                </a:tc>
                <a:tc>
                  <a:txBody>
                    <a:bodyPr wrap="square"/>
                    <a:lstStyle/>
                    <a:p>
                      <a:r>
                        <a:rPr sz="1100" b="1">
                          <a:solidFill>
                            <a:srgbClr val="5B5F77"/>
                          </a:solidFill>
                          <a:latin typeface="Arial"/>
                        </a:rPr>
                        <a:t>The gap</a:t>
                      </a:r>
                    </a:p>
                  </a:txBody>
                  <a:tcPr marL="73152" marR="73152" marT="27432" marB="27432" anchor="ctr">
                    <a:lnL w="0">
                      <a:noFill/>
                    </a:lnL>
                    <a:lnR w="0">
                      <a:noFill/>
                    </a:lnR>
                    <a:lnT w="0">
                      <a:noFill/>
                    </a:lnT>
                    <a:lnB w="9525">
                      <a:solidFill>
                        <a:srgbClr val="D9D3F0"/>
                      </a:solidFill>
                    </a:lnB>
                    <a:noFill/>
                  </a:tcPr>
                </a:tc>
              </a:tr>
              <a:tr h="658368">
                <a:tc>
                  <a:txBody>
                    <a:bodyPr wrap="square"/>
                    <a:lstStyle/>
                    <a:p>
                      <a:r>
                        <a:rPr sz="1250" b="1">
                          <a:solidFill>
                            <a:srgbClr val="1F2037"/>
                          </a:solidFill>
                          <a:latin typeface="Calibri"/>
                        </a:rPr>
                        <a:t>Voice assistants</a:t>
                      </a:r>
                    </a:p>
                    <a:p>
                      <a:r>
                        <a:rPr sz="1050">
                          <a:solidFill>
                            <a:srgbClr val="5B5F77"/>
                          </a:solidFill>
                          <a:latin typeface="Calibri"/>
                        </a:rPr>
                        <a:t>Google Assistant / Gemini, Siri, Bixby, Alexa</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Act through the few actions an app chooses to expose</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Everything else inside Zomato or Amazon is out of reach; it falls back to a web result</a:t>
                      </a:r>
                    </a:p>
                  </a:txBody>
                  <a:tcPr marL="73152" marR="73152" marT="27432" marB="27432" anchor="ctr">
                    <a:lnL w="0">
                      <a:noFill/>
                    </a:lnL>
                    <a:lnR w="0">
                      <a:noFill/>
                    </a:lnR>
                    <a:lnT w="0">
                      <a:noFill/>
                    </a:lnT>
                    <a:lnB w="9525">
                      <a:solidFill>
                        <a:srgbClr val="D9D3F0"/>
                      </a:solidFill>
                    </a:lnB>
                    <a:noFill/>
                  </a:tcPr>
                </a:tc>
              </a:tr>
              <a:tr h="658368">
                <a:tc>
                  <a:txBody>
                    <a:bodyPr wrap="square"/>
                    <a:lstStyle/>
                    <a:p>
                      <a:r>
                        <a:rPr sz="1250" b="1">
                          <a:solidFill>
                            <a:srgbClr val="1F2037"/>
                          </a:solidFill>
                          <a:latin typeface="Calibri"/>
                        </a:rPr>
                        <a:t>Routines and macro apps</a:t>
                      </a:r>
                    </a:p>
                    <a:p>
                      <a:r>
                        <a:rPr sz="1050">
                          <a:solidFill>
                            <a:srgbClr val="5B5F77"/>
                          </a:solidFill>
                          <a:latin typeface="Calibri"/>
                        </a:rPr>
                        <a:t>Bixby Routines, Tasker, MacroDroid</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Chain device actions; add-ons can tap on-screen elements</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Built step by step by hand, with fixed values; a changed screen breaks the macro</a:t>
                      </a:r>
                    </a:p>
                  </a:txBody>
                  <a:tcPr marL="73152" marR="73152" marT="27432" marB="27432" anchor="ctr">
                    <a:lnL w="0">
                      <a:noFill/>
                    </a:lnL>
                    <a:lnR w="0">
                      <a:noFill/>
                    </a:lnR>
                    <a:lnT w="0">
                      <a:noFill/>
                    </a:lnT>
                    <a:lnB w="9525">
                      <a:solidFill>
                        <a:srgbClr val="D9D3F0"/>
                      </a:solidFill>
                    </a:lnB>
                    <a:noFill/>
                  </a:tcPr>
                </a:tc>
              </a:tr>
              <a:tr h="658368">
                <a:tc>
                  <a:txBody>
                    <a:bodyPr wrap="square"/>
                    <a:lstStyle/>
                    <a:p>
                      <a:r>
                        <a:rPr sz="1250" b="1">
                          <a:solidFill>
                            <a:srgbClr val="1F2037"/>
                          </a:solidFill>
                          <a:latin typeface="Calibri"/>
                        </a:rPr>
                        <a:t>LLM screen agents</a:t>
                      </a:r>
                    </a:p>
                    <a:p>
                      <a:r>
                        <a:rPr sz="1050">
                          <a:solidFill>
                            <a:srgbClr val="5B5F77"/>
                          </a:solidFill>
                          <a:latin typeface="Calibri"/>
                        </a:rPr>
                        <a:t>research prototypes such as AppAgent, Mobile-Agent</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A large model reads the screen and decides every single step</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A model call per step: slower, costlier, varies from run to run, can wander near payment</a:t>
                      </a:r>
                    </a:p>
                  </a:txBody>
                  <a:tcPr marL="73152" marR="73152" marT="27432" marB="27432" anchor="ctr">
                    <a:lnL w="0">
                      <a:noFill/>
                    </a:lnL>
                    <a:lnR w="0">
                      <a:noFill/>
                    </a:lnR>
                    <a:lnT w="0">
                      <a:noFill/>
                    </a:lnT>
                    <a:lnB w="9525">
                      <a:solidFill>
                        <a:srgbClr val="D9D3F0"/>
                      </a:solidFill>
                    </a:lnB>
                    <a:noFill/>
                  </a:tcPr>
                </a:tc>
              </a:tr>
              <a:tr h="658368">
                <a:tc>
                  <a:txBody>
                    <a:bodyPr wrap="square"/>
                    <a:lstStyle/>
                    <a:p>
                      <a:r>
                        <a:rPr sz="1250" b="1">
                          <a:solidFill>
                            <a:srgbClr val="1F2037"/>
                          </a:solidFill>
                          <a:latin typeface="Calibri"/>
                        </a:rPr>
                        <a:t>Programming by demonstration</a:t>
                      </a:r>
                    </a:p>
                    <a:p>
                      <a:r>
                        <a:rPr sz="1050">
                          <a:solidFill>
                            <a:srgbClr val="5B5F77"/>
                          </a:solidFill>
                          <a:latin typeface="Calibri"/>
                        </a:rPr>
                        <a:t>SUGILITE (CMU, 2017)</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Learns a parameterised task from one demo plus the spoken command</a:t>
                      </a:r>
                    </a:p>
                  </a:txBody>
                  <a:tcPr marL="73152" marR="73152" marT="27432" marB="27432" anchor="ctr">
                    <a:lnL w="0">
                      <a:noFill/>
                    </a:lnL>
                    <a:lnR w="0">
                      <a:noFill/>
                    </a:lnR>
                    <a:lnT w="0">
                      <a:noFill/>
                    </a:lnT>
                    <a:lnB w="9525">
                      <a:solidFill>
                        <a:srgbClr val="D9D3F0"/>
                      </a:solidFill>
                    </a:lnB>
                    <a:noFill/>
                  </a:tcPr>
                </a:tc>
                <a:tc>
                  <a:txBody>
                    <a:bodyPr wrap="square"/>
                    <a:lstStyle/>
                    <a:p>
                      <a:r>
                        <a:rPr sz="1250" b="0">
                          <a:solidFill>
                            <a:srgbClr val="5B5F77"/>
                          </a:solidFill>
                          <a:latin typeface="Calibri"/>
                        </a:rPr>
                        <a:t>Pre-LLM research prototype: no model to recover when a screen differs from the demo</a:t>
                      </a:r>
                    </a:p>
                  </a:txBody>
                  <a:tcPr marL="73152" marR="73152" marT="27432" marB="27432" anchor="ctr">
                    <a:lnL w="0">
                      <a:noFill/>
                    </a:lnL>
                    <a:lnR w="0">
                      <a:noFill/>
                    </a:lnR>
                    <a:lnT w="0">
                      <a:noFill/>
                    </a:lnT>
                    <a:lnB w="9525">
                      <a:solidFill>
                        <a:srgbClr val="D9D3F0"/>
                      </a:solidFill>
                    </a:lnB>
                    <a:noFill/>
                  </a:tcPr>
                </a:tc>
              </a:tr>
              <a:tr h="658368">
                <a:tc>
                  <a:txBody>
                    <a:bodyPr wrap="square"/>
                    <a:lstStyle/>
                    <a:p>
                      <a:r>
                        <a:rPr sz="1250" b="1">
                          <a:solidFill>
                            <a:srgbClr val="6D28D9"/>
                          </a:solidFill>
                          <a:latin typeface="Calibri"/>
                        </a:rPr>
                        <a:t>Teachable Voice (ours)</a:t>
                      </a:r>
                    </a:p>
                  </a:txBody>
                  <a:tcPr marL="73152" marR="73152" marT="27432" marB="27432" anchor="ctr">
                    <a:lnL w="0">
                      <a:noFill/>
                    </a:lnL>
                    <a:lnR w="0">
                      <a:noFill/>
                    </a:lnR>
                    <a:lnT w="0">
                      <a:noFill/>
                    </a:lnT>
                    <a:lnB w="9525">
                      <a:solidFill>
                        <a:srgbClr val="D9D3F0"/>
                      </a:solidFill>
                    </a:lnB>
                    <a:solidFill>
                      <a:srgbClr val="F5F3FC"/>
                    </a:solidFill>
                  </a:tcPr>
                </a:tc>
                <a:tc>
                  <a:txBody>
                    <a:bodyPr wrap="square"/>
                    <a:lstStyle/>
                    <a:p>
                      <a:r>
                        <a:rPr sz="1250" b="0">
                          <a:solidFill>
                            <a:srgbClr val="1F2037"/>
                          </a:solidFill>
                          <a:latin typeface="Calibri"/>
                        </a:rPr>
                        <a:t>Learns from one demo; replays with a scored matcher; the model only on unfamiliar screens</a:t>
                      </a:r>
                    </a:p>
                  </a:txBody>
                  <a:tcPr marL="73152" marR="73152" marT="27432" marB="27432" anchor="ctr">
                    <a:lnL w="0">
                      <a:noFill/>
                    </a:lnL>
                    <a:lnR w="0">
                      <a:noFill/>
                    </a:lnR>
                    <a:lnT w="0">
                      <a:noFill/>
                    </a:lnT>
                    <a:lnB w="9525">
                      <a:solidFill>
                        <a:srgbClr val="D9D3F0"/>
                      </a:solidFill>
                    </a:lnB>
                    <a:solidFill>
                      <a:srgbClr val="F5F3FC"/>
                    </a:solidFill>
                  </a:tcPr>
                </a:tc>
                <a:tc>
                  <a:txBody>
                    <a:bodyPr wrap="square"/>
                    <a:lstStyle/>
                    <a:p>
                      <a:r>
                        <a:rPr sz="1250" b="0">
                          <a:solidFill>
                            <a:srgbClr val="1F2037"/>
                          </a:solidFill>
                          <a:latin typeface="Calibri"/>
                        </a:rPr>
                        <a:t>Asks when a value is missing or a choice is personal; always hands back at payment and login</a:t>
                      </a:r>
                    </a:p>
                  </a:txBody>
                  <a:tcPr marL="73152" marR="73152" marT="27432" marB="27432" anchor="ctr">
                    <a:lnL w="0">
                      <a:noFill/>
                    </a:lnL>
                    <a:lnR w="0">
                      <a:noFill/>
                    </a:lnR>
                    <a:lnT w="0">
                      <a:noFill/>
                    </a:lnT>
                    <a:lnB w="9525">
                      <a:solidFill>
                        <a:srgbClr val="D9D3F0"/>
                      </a:solidFill>
                    </a:lnB>
                    <a:solidFill>
                      <a:srgbClr val="F5F3F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Our Solutions &amp; Architecture Diagram</a:t>
            </a:r>
            <a:endParaRPr/>
          </a:p>
        </p:txBody>
      </p:sp>
      <p:sp>
        <p:nvSpPr>
          <p:cNvPr id="114" name="Rounded Rectangle 113"/>
          <p:cNvSpPr/>
          <p:nvPr/>
        </p:nvSpPr>
        <p:spPr>
          <a:xfrm>
            <a:off x="932688" y="1481328"/>
            <a:ext cx="2432304" cy="713232"/>
          </a:xfrm>
          <a:prstGeom prst="roundRect">
            <a:avLst>
              <a:gd name="adj" fmla="val 10256"/>
            </a:avLst>
          </a:prstGeom>
          <a:solidFill>
            <a:srgbClr val="F5F3FC"/>
          </a:solidFill>
          <a:ln>
            <a:noFill/>
          </a:ln>
          <a:effectLst/>
        </p:spPr>
        <p:txBody>
          <a:bodyPr rtlCol="0" anchor="ctr"/>
          <a:lstStyle/>
          <a:p/>
        </p:txBody>
      </p:sp>
      <p:sp>
        <p:nvSpPr>
          <p:cNvPr id="115" name="Oval 114"/>
          <p:cNvSpPr/>
          <p:nvPr/>
        </p:nvSpPr>
        <p:spPr>
          <a:xfrm>
            <a:off x="1069848" y="1627632"/>
            <a:ext cx="420624" cy="420624"/>
          </a:xfrm>
          <a:prstGeom prst="ellipse">
            <a:avLst/>
          </a:prstGeom>
          <a:solidFill>
            <a:srgbClr val="14142B"/>
          </a:solidFill>
          <a:ln>
            <a:noFill/>
          </a:ln>
          <a:effectLst/>
        </p:spPr>
        <p:txBody>
          <a:bodyPr rtlCol="0" anchor="ctr"/>
          <a:lstStyle/>
          <a:p/>
        </p:txBody>
      </p:sp>
      <p:sp>
        <p:nvSpPr>
          <p:cNvPr id="116" name="TextBox 115"/>
          <p:cNvSpPr txBox="1"/>
          <p:nvPr/>
        </p:nvSpPr>
        <p:spPr>
          <a:xfrm>
            <a:off x="1069848" y="1627632"/>
            <a:ext cx="420624" cy="420624"/>
          </a:xfrm>
          <a:prstGeom prst="rect">
            <a:avLst/>
          </a:prstGeom>
          <a:noFill/>
        </p:spPr>
        <p:txBody>
          <a:bodyPr wrap="square" lIns="0" rIns="0" tIns="0" bIns="0" anchor="ctr">
            <a:spAutoFit/>
          </a:bodyPr>
          <a:lstStyle/>
          <a:p>
            <a:pPr algn="ctr"/>
            <a:r>
              <a:rPr sz="1500" b="1" i="0">
                <a:solidFill>
                  <a:srgbClr val="FFFFFF"/>
                </a:solidFill>
                <a:latin typeface="Arial"/>
              </a:rPr>
              <a:t>1</a:t>
            </a:r>
          </a:p>
        </p:txBody>
      </p:sp>
      <p:sp>
        <p:nvSpPr>
          <p:cNvPr id="117" name="TextBox 116"/>
          <p:cNvSpPr txBox="1"/>
          <p:nvPr/>
        </p:nvSpPr>
        <p:spPr>
          <a:xfrm>
            <a:off x="1591056" y="1517904"/>
            <a:ext cx="1700784" cy="640080"/>
          </a:xfrm>
          <a:prstGeom prst="rect">
            <a:avLst/>
          </a:prstGeom>
          <a:noFill/>
        </p:spPr>
        <p:txBody>
          <a:bodyPr wrap="square" lIns="0" rIns="0" tIns="0" bIns="0" anchor="ctr">
            <a:spAutoFit/>
          </a:bodyPr>
          <a:lstStyle/>
          <a:p>
            <a:pPr algn="l"/>
            <a:r>
              <a:rPr sz="1350" b="1" i="0">
                <a:solidFill>
                  <a:srgbClr val="14142B"/>
                </a:solidFill>
                <a:latin typeface="Arial"/>
              </a:rPr>
              <a:t>Teach</a:t>
            </a:r>
          </a:p>
          <a:p>
            <a:pPr algn="l"/>
            <a:r>
              <a:rPr sz="1100" b="0" i="0">
                <a:solidFill>
                  <a:srgbClr val="5B5F77"/>
                </a:solidFill>
                <a:latin typeface="Calibri"/>
              </a:rPr>
              <a:t>Say the command, do the task once</a:t>
            </a:r>
          </a:p>
        </p:txBody>
      </p:sp>
      <p:cxnSp>
        <p:nvCxnSpPr>
          <p:cNvPr id="118" name="Connector 117"/>
          <p:cNvCxnSpPr/>
          <p:nvPr/>
        </p:nvCxnSpPr>
        <p:spPr>
          <a:xfrm>
            <a:off x="3383280" y="1837943"/>
            <a:ext cx="164592" cy="0"/>
          </a:xfrm>
          <a:prstGeom prst="line">
            <a:avLst/>
          </a:prstGeom>
          <a:ln w="15875">
            <a:solidFill>
              <a:srgbClr val="5B5F77"/>
            </a:solidFill>
            <a:tailEnd type="triangle" w="med" len="med"/>
          </a:ln>
        </p:spPr>
      </p:cxnSp>
      <p:sp>
        <p:nvSpPr>
          <p:cNvPr id="119" name="Rounded Rectangle 118"/>
          <p:cNvSpPr/>
          <p:nvPr/>
        </p:nvSpPr>
        <p:spPr>
          <a:xfrm>
            <a:off x="3566160" y="1481328"/>
            <a:ext cx="2432304" cy="713232"/>
          </a:xfrm>
          <a:prstGeom prst="roundRect">
            <a:avLst>
              <a:gd name="adj" fmla="val 10256"/>
            </a:avLst>
          </a:prstGeom>
          <a:solidFill>
            <a:srgbClr val="F5F3FC"/>
          </a:solidFill>
          <a:ln>
            <a:noFill/>
          </a:ln>
          <a:effectLst/>
        </p:spPr>
        <p:txBody>
          <a:bodyPr rtlCol="0" anchor="ctr"/>
          <a:lstStyle/>
          <a:p/>
        </p:txBody>
      </p:sp>
      <p:sp>
        <p:nvSpPr>
          <p:cNvPr id="120" name="Oval 119"/>
          <p:cNvSpPr/>
          <p:nvPr/>
        </p:nvSpPr>
        <p:spPr>
          <a:xfrm>
            <a:off x="3703320" y="1627632"/>
            <a:ext cx="420624" cy="420624"/>
          </a:xfrm>
          <a:prstGeom prst="ellipse">
            <a:avLst/>
          </a:prstGeom>
          <a:solidFill>
            <a:srgbClr val="14142B"/>
          </a:solidFill>
          <a:ln>
            <a:noFill/>
          </a:ln>
          <a:effectLst/>
        </p:spPr>
        <p:txBody>
          <a:bodyPr rtlCol="0" anchor="ctr"/>
          <a:lstStyle/>
          <a:p/>
        </p:txBody>
      </p:sp>
      <p:sp>
        <p:nvSpPr>
          <p:cNvPr id="121" name="TextBox 120"/>
          <p:cNvSpPr txBox="1"/>
          <p:nvPr/>
        </p:nvSpPr>
        <p:spPr>
          <a:xfrm>
            <a:off x="3703320" y="1627632"/>
            <a:ext cx="420624" cy="420624"/>
          </a:xfrm>
          <a:prstGeom prst="rect">
            <a:avLst/>
          </a:prstGeom>
          <a:noFill/>
        </p:spPr>
        <p:txBody>
          <a:bodyPr wrap="square" lIns="0" rIns="0" tIns="0" bIns="0" anchor="ctr">
            <a:spAutoFit/>
          </a:bodyPr>
          <a:lstStyle/>
          <a:p>
            <a:pPr algn="ctr"/>
            <a:r>
              <a:rPr sz="1500" b="1" i="0">
                <a:solidFill>
                  <a:srgbClr val="FFFFFF"/>
                </a:solidFill>
                <a:latin typeface="Arial"/>
              </a:rPr>
              <a:t>2</a:t>
            </a:r>
          </a:p>
        </p:txBody>
      </p:sp>
      <p:sp>
        <p:nvSpPr>
          <p:cNvPr id="122" name="TextBox 121"/>
          <p:cNvSpPr txBox="1"/>
          <p:nvPr/>
        </p:nvSpPr>
        <p:spPr>
          <a:xfrm>
            <a:off x="4224528" y="1517904"/>
            <a:ext cx="1700784" cy="640080"/>
          </a:xfrm>
          <a:prstGeom prst="rect">
            <a:avLst/>
          </a:prstGeom>
          <a:noFill/>
        </p:spPr>
        <p:txBody>
          <a:bodyPr wrap="square" lIns="0" rIns="0" tIns="0" bIns="0" anchor="ctr">
            <a:spAutoFit/>
          </a:bodyPr>
          <a:lstStyle/>
          <a:p>
            <a:pPr algn="l"/>
            <a:r>
              <a:rPr sz="1350" b="1" i="0">
                <a:solidFill>
                  <a:srgbClr val="14142B"/>
                </a:solidFill>
                <a:latin typeface="Arial"/>
              </a:rPr>
              <a:t>Generalise</a:t>
            </a:r>
          </a:p>
          <a:p>
            <a:pPr algn="l"/>
            <a:r>
              <a:rPr sz="1100" b="0" i="0">
                <a:solidFill>
                  <a:srgbClr val="5B5F77"/>
                </a:solidFill>
                <a:latin typeface="Calibri"/>
              </a:rPr>
              <a:t>Command words become slots</a:t>
            </a:r>
          </a:p>
        </p:txBody>
      </p:sp>
      <p:cxnSp>
        <p:nvCxnSpPr>
          <p:cNvPr id="123" name="Connector 122"/>
          <p:cNvCxnSpPr/>
          <p:nvPr/>
        </p:nvCxnSpPr>
        <p:spPr>
          <a:xfrm>
            <a:off x="6016752" y="1837943"/>
            <a:ext cx="164592" cy="0"/>
          </a:xfrm>
          <a:prstGeom prst="line">
            <a:avLst/>
          </a:prstGeom>
          <a:ln w="15875">
            <a:solidFill>
              <a:srgbClr val="5B5F77"/>
            </a:solidFill>
            <a:tailEnd type="triangle" w="med" len="med"/>
          </a:ln>
        </p:spPr>
      </p:cxnSp>
      <p:sp>
        <p:nvSpPr>
          <p:cNvPr id="124" name="Rounded Rectangle 123"/>
          <p:cNvSpPr/>
          <p:nvPr/>
        </p:nvSpPr>
        <p:spPr>
          <a:xfrm>
            <a:off x="6199632" y="1481328"/>
            <a:ext cx="2432304" cy="713232"/>
          </a:xfrm>
          <a:prstGeom prst="roundRect">
            <a:avLst>
              <a:gd name="adj" fmla="val 10256"/>
            </a:avLst>
          </a:prstGeom>
          <a:solidFill>
            <a:srgbClr val="F5F3FC"/>
          </a:solidFill>
          <a:ln>
            <a:noFill/>
          </a:ln>
          <a:effectLst/>
        </p:spPr>
        <p:txBody>
          <a:bodyPr rtlCol="0" anchor="ctr"/>
          <a:lstStyle/>
          <a:p/>
        </p:txBody>
      </p:sp>
      <p:sp>
        <p:nvSpPr>
          <p:cNvPr id="125" name="Oval 124"/>
          <p:cNvSpPr/>
          <p:nvPr/>
        </p:nvSpPr>
        <p:spPr>
          <a:xfrm>
            <a:off x="6336792" y="1627632"/>
            <a:ext cx="420624" cy="420624"/>
          </a:xfrm>
          <a:prstGeom prst="ellipse">
            <a:avLst/>
          </a:prstGeom>
          <a:solidFill>
            <a:srgbClr val="14142B"/>
          </a:solidFill>
          <a:ln>
            <a:noFill/>
          </a:ln>
          <a:effectLst/>
        </p:spPr>
        <p:txBody>
          <a:bodyPr rtlCol="0" anchor="ctr"/>
          <a:lstStyle/>
          <a:p/>
        </p:txBody>
      </p:sp>
      <p:sp>
        <p:nvSpPr>
          <p:cNvPr id="126" name="TextBox 125"/>
          <p:cNvSpPr txBox="1"/>
          <p:nvPr/>
        </p:nvSpPr>
        <p:spPr>
          <a:xfrm>
            <a:off x="6336792" y="1627632"/>
            <a:ext cx="420624" cy="420624"/>
          </a:xfrm>
          <a:prstGeom prst="rect">
            <a:avLst/>
          </a:prstGeom>
          <a:noFill/>
        </p:spPr>
        <p:txBody>
          <a:bodyPr wrap="square" lIns="0" rIns="0" tIns="0" bIns="0" anchor="ctr">
            <a:spAutoFit/>
          </a:bodyPr>
          <a:lstStyle/>
          <a:p>
            <a:pPr algn="ctr"/>
            <a:r>
              <a:rPr sz="1500" b="1" i="0">
                <a:solidFill>
                  <a:srgbClr val="FFFFFF"/>
                </a:solidFill>
                <a:latin typeface="Arial"/>
              </a:rPr>
              <a:t>3</a:t>
            </a:r>
          </a:p>
        </p:txBody>
      </p:sp>
      <p:sp>
        <p:nvSpPr>
          <p:cNvPr id="127" name="TextBox 126"/>
          <p:cNvSpPr txBox="1"/>
          <p:nvPr/>
        </p:nvSpPr>
        <p:spPr>
          <a:xfrm>
            <a:off x="6858000" y="1517904"/>
            <a:ext cx="1700784" cy="640080"/>
          </a:xfrm>
          <a:prstGeom prst="rect">
            <a:avLst/>
          </a:prstGeom>
          <a:noFill/>
        </p:spPr>
        <p:txBody>
          <a:bodyPr wrap="square" lIns="0" rIns="0" tIns="0" bIns="0" anchor="ctr">
            <a:spAutoFit/>
          </a:bodyPr>
          <a:lstStyle/>
          <a:p>
            <a:pPr algn="l"/>
            <a:r>
              <a:rPr sz="1350" b="1" i="0">
                <a:solidFill>
                  <a:srgbClr val="14142B"/>
                </a:solidFill>
                <a:latin typeface="Arial"/>
              </a:rPr>
              <a:t>Replay by voice</a:t>
            </a:r>
          </a:p>
          <a:p>
            <a:pPr algn="l"/>
            <a:r>
              <a:rPr sz="1100" b="0" i="0">
                <a:solidFill>
                  <a:srgbClr val="5B5F77"/>
                </a:solidFill>
                <a:latin typeface="Calibri"/>
              </a:rPr>
              <a:t>New wording, values, even another app</a:t>
            </a:r>
          </a:p>
        </p:txBody>
      </p:sp>
      <p:cxnSp>
        <p:nvCxnSpPr>
          <p:cNvPr id="128" name="Connector 127"/>
          <p:cNvCxnSpPr/>
          <p:nvPr/>
        </p:nvCxnSpPr>
        <p:spPr>
          <a:xfrm>
            <a:off x="8650224" y="1837943"/>
            <a:ext cx="164592" cy="0"/>
          </a:xfrm>
          <a:prstGeom prst="line">
            <a:avLst/>
          </a:prstGeom>
          <a:ln w="15875">
            <a:solidFill>
              <a:srgbClr val="5B5F77"/>
            </a:solidFill>
            <a:tailEnd type="triangle" w="med" len="med"/>
          </a:ln>
        </p:spPr>
      </p:cxnSp>
      <p:sp>
        <p:nvSpPr>
          <p:cNvPr id="129" name="Rounded Rectangle 128"/>
          <p:cNvSpPr/>
          <p:nvPr/>
        </p:nvSpPr>
        <p:spPr>
          <a:xfrm>
            <a:off x="8833104" y="1481328"/>
            <a:ext cx="2432304" cy="713232"/>
          </a:xfrm>
          <a:prstGeom prst="roundRect">
            <a:avLst>
              <a:gd name="adj" fmla="val 10256"/>
            </a:avLst>
          </a:prstGeom>
          <a:solidFill>
            <a:srgbClr val="F5F3FC"/>
          </a:solidFill>
          <a:ln>
            <a:noFill/>
          </a:ln>
          <a:effectLst/>
        </p:spPr>
        <p:txBody>
          <a:bodyPr rtlCol="0" anchor="ctr"/>
          <a:lstStyle/>
          <a:p/>
        </p:txBody>
      </p:sp>
      <p:sp>
        <p:nvSpPr>
          <p:cNvPr id="130" name="Oval 129"/>
          <p:cNvSpPr/>
          <p:nvPr/>
        </p:nvSpPr>
        <p:spPr>
          <a:xfrm>
            <a:off x="8970264" y="1627632"/>
            <a:ext cx="420624" cy="420624"/>
          </a:xfrm>
          <a:prstGeom prst="ellipse">
            <a:avLst/>
          </a:prstGeom>
          <a:solidFill>
            <a:srgbClr val="6D28D9"/>
          </a:solidFill>
          <a:ln>
            <a:noFill/>
          </a:ln>
          <a:effectLst/>
        </p:spPr>
        <p:txBody>
          <a:bodyPr rtlCol="0" anchor="ctr"/>
          <a:lstStyle/>
          <a:p/>
        </p:txBody>
      </p:sp>
      <p:sp>
        <p:nvSpPr>
          <p:cNvPr id="131" name="TextBox 130"/>
          <p:cNvSpPr txBox="1"/>
          <p:nvPr/>
        </p:nvSpPr>
        <p:spPr>
          <a:xfrm>
            <a:off x="8970264" y="1627632"/>
            <a:ext cx="420624" cy="420624"/>
          </a:xfrm>
          <a:prstGeom prst="rect">
            <a:avLst/>
          </a:prstGeom>
          <a:noFill/>
        </p:spPr>
        <p:txBody>
          <a:bodyPr wrap="square" lIns="0" rIns="0" tIns="0" bIns="0" anchor="ctr">
            <a:spAutoFit/>
          </a:bodyPr>
          <a:lstStyle/>
          <a:p>
            <a:pPr algn="ctr"/>
            <a:r>
              <a:rPr sz="1500" b="1" i="0">
                <a:solidFill>
                  <a:srgbClr val="FFFFFF"/>
                </a:solidFill>
                <a:latin typeface="Arial"/>
              </a:rPr>
              <a:t>4</a:t>
            </a:r>
          </a:p>
        </p:txBody>
      </p:sp>
      <p:sp>
        <p:nvSpPr>
          <p:cNvPr id="132" name="TextBox 131"/>
          <p:cNvSpPr txBox="1"/>
          <p:nvPr/>
        </p:nvSpPr>
        <p:spPr>
          <a:xfrm>
            <a:off x="9491472" y="1517904"/>
            <a:ext cx="1700784" cy="640080"/>
          </a:xfrm>
          <a:prstGeom prst="rect">
            <a:avLst/>
          </a:prstGeom>
          <a:noFill/>
        </p:spPr>
        <p:txBody>
          <a:bodyPr wrap="square" lIns="0" rIns="0" tIns="0" bIns="0" anchor="ctr">
            <a:spAutoFit/>
          </a:bodyPr>
          <a:lstStyle/>
          <a:p>
            <a:pPr algn="l"/>
            <a:r>
              <a:rPr sz="1350" b="1" i="0">
                <a:solidFill>
                  <a:srgbClr val="14142B"/>
                </a:solidFill>
                <a:latin typeface="Arial"/>
              </a:rPr>
              <a:t>Ask or hand back</a:t>
            </a:r>
          </a:p>
          <a:p>
            <a:pPr algn="l"/>
            <a:r>
              <a:rPr sz="1100" b="0" i="0">
                <a:solidFill>
                  <a:srgbClr val="5B5F77"/>
                </a:solidFill>
                <a:latin typeface="Calibri"/>
              </a:rPr>
              <a:t>One question; “Your turn.” at payment</a:t>
            </a:r>
          </a:p>
        </p:txBody>
      </p:sp>
      <p:sp>
        <p:nvSpPr>
          <p:cNvPr id="133" name="Rounded Rectangle 132"/>
          <p:cNvSpPr/>
          <p:nvPr/>
        </p:nvSpPr>
        <p:spPr>
          <a:xfrm>
            <a:off x="886968" y="2359152"/>
            <a:ext cx="10424160" cy="3127248"/>
          </a:xfrm>
          <a:prstGeom prst="roundRect">
            <a:avLst>
              <a:gd name="adj" fmla="val 4093"/>
            </a:avLst>
          </a:prstGeom>
          <a:solidFill>
            <a:srgbClr val="F5F3FC"/>
          </a:solidFill>
          <a:ln w="12700">
            <a:solidFill>
              <a:srgbClr val="D9D3F0"/>
            </a:solidFill>
          </a:ln>
          <a:effectLst/>
        </p:spPr>
        <p:txBody>
          <a:bodyPr rtlCol="0" anchor="ctr"/>
          <a:lstStyle/>
          <a:p/>
        </p:txBody>
      </p:sp>
      <p:sp>
        <p:nvSpPr>
          <p:cNvPr id="134" name="TextBox 133"/>
          <p:cNvSpPr txBox="1"/>
          <p:nvPr/>
        </p:nvSpPr>
        <p:spPr>
          <a:xfrm>
            <a:off x="1115568" y="2432304"/>
            <a:ext cx="7315200" cy="256032"/>
          </a:xfrm>
          <a:prstGeom prst="rect">
            <a:avLst/>
          </a:prstGeom>
          <a:noFill/>
        </p:spPr>
        <p:txBody>
          <a:bodyPr wrap="square" lIns="0" rIns="0" tIns="0" bIns="0" anchor="t">
            <a:spAutoFit/>
          </a:bodyPr>
          <a:lstStyle/>
          <a:p>
            <a:pPr algn="l"/>
            <a:r>
              <a:rPr sz="1000" b="1" i="0">
                <a:solidFill>
                  <a:srgbClr val="5B5F77"/>
                </a:solidFill>
                <a:latin typeface="Arial"/>
              </a:rPr>
              <a:t>ARCHITECTURE  ·  ALL ON THE PHONE, THROUGH ANDROID’S ACCESSIBILITY SERVICE</a:t>
            </a:r>
          </a:p>
        </p:txBody>
      </p:sp>
      <p:sp>
        <p:nvSpPr>
          <p:cNvPr id="135" name="TextBox 134"/>
          <p:cNvSpPr txBox="1"/>
          <p:nvPr/>
        </p:nvSpPr>
        <p:spPr>
          <a:xfrm>
            <a:off x="1133856" y="2743200"/>
            <a:ext cx="2743200" cy="237744"/>
          </a:xfrm>
          <a:prstGeom prst="rect">
            <a:avLst/>
          </a:prstGeom>
          <a:noFill/>
        </p:spPr>
        <p:txBody>
          <a:bodyPr wrap="square" lIns="0" rIns="0" tIns="0" bIns="0" anchor="t">
            <a:spAutoFit/>
          </a:bodyPr>
          <a:lstStyle/>
          <a:p>
            <a:pPr algn="l"/>
            <a:r>
              <a:rPr sz="1200" b="1" i="0">
                <a:solidFill>
                  <a:srgbClr val="14142B"/>
                </a:solidFill>
                <a:latin typeface="Arial"/>
              </a:rPr>
              <a:t>Teach once</a:t>
            </a:r>
          </a:p>
        </p:txBody>
      </p:sp>
      <p:sp>
        <p:nvSpPr>
          <p:cNvPr id="136" name="Rounded Rectangle 135"/>
          <p:cNvSpPr/>
          <p:nvPr/>
        </p:nvSpPr>
        <p:spPr>
          <a:xfrm>
            <a:off x="1133856" y="301752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37" name="TextBox 136"/>
          <p:cNvSpPr txBox="1"/>
          <p:nvPr/>
        </p:nvSpPr>
        <p:spPr>
          <a:xfrm>
            <a:off x="1188720" y="3044951"/>
            <a:ext cx="1371600" cy="676656"/>
          </a:xfrm>
          <a:prstGeom prst="rect">
            <a:avLst/>
          </a:prstGeom>
          <a:noFill/>
        </p:spPr>
        <p:txBody>
          <a:bodyPr wrap="square" lIns="0" rIns="0" tIns="0" bIns="0" anchor="ctr">
            <a:spAutoFit/>
          </a:bodyPr>
          <a:lstStyle/>
          <a:p>
            <a:pPr algn="ctr"/>
            <a:r>
              <a:rPr sz="1150" b="1" i="0">
                <a:solidFill>
                  <a:srgbClr val="14142B"/>
                </a:solidFill>
                <a:latin typeface="Calibri"/>
              </a:rPr>
              <a:t>Voice command</a:t>
            </a:r>
          </a:p>
          <a:p>
            <a:pPr algn="ctr"/>
            <a:r>
              <a:rPr sz="900" b="0" i="0">
                <a:solidFill>
                  <a:srgbClr val="5B5F77"/>
                </a:solidFill>
                <a:latin typeface="Calibri"/>
              </a:rPr>
              <a:t>speech → text</a:t>
            </a:r>
          </a:p>
        </p:txBody>
      </p:sp>
      <p:cxnSp>
        <p:nvCxnSpPr>
          <p:cNvPr id="138" name="Connector 137"/>
          <p:cNvCxnSpPr/>
          <p:nvPr/>
        </p:nvCxnSpPr>
        <p:spPr>
          <a:xfrm>
            <a:off x="2642616" y="3383279"/>
            <a:ext cx="210312" cy="0"/>
          </a:xfrm>
          <a:prstGeom prst="line">
            <a:avLst/>
          </a:prstGeom>
          <a:ln w="15875">
            <a:solidFill>
              <a:srgbClr val="5B5F77"/>
            </a:solidFill>
            <a:tailEnd type="triangle" w="med" len="med"/>
          </a:ln>
        </p:spPr>
      </p:cxnSp>
      <p:sp>
        <p:nvSpPr>
          <p:cNvPr id="139" name="Rounded Rectangle 138"/>
          <p:cNvSpPr/>
          <p:nvPr/>
        </p:nvSpPr>
        <p:spPr>
          <a:xfrm>
            <a:off x="2880360" y="301752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40" name="TextBox 139"/>
          <p:cNvSpPr txBox="1"/>
          <p:nvPr/>
        </p:nvSpPr>
        <p:spPr>
          <a:xfrm>
            <a:off x="2935224" y="3044951"/>
            <a:ext cx="1371600" cy="676656"/>
          </a:xfrm>
          <a:prstGeom prst="rect">
            <a:avLst/>
          </a:prstGeom>
          <a:noFill/>
        </p:spPr>
        <p:txBody>
          <a:bodyPr wrap="square" lIns="0" rIns="0" tIns="0" bIns="0" anchor="ctr">
            <a:spAutoFit/>
          </a:bodyPr>
          <a:lstStyle/>
          <a:p>
            <a:pPr algn="ctr"/>
            <a:r>
              <a:rPr sz="1150" b="1" i="0">
                <a:solidFill>
                  <a:srgbClr val="14142B"/>
                </a:solidFill>
                <a:latin typeface="Calibri"/>
              </a:rPr>
              <a:t>Recorder</a:t>
            </a:r>
          </a:p>
          <a:p>
            <a:pPr algn="ctr"/>
            <a:r>
              <a:rPr sz="900" b="0" i="0">
                <a:solidFill>
                  <a:srgbClr val="5B5F77"/>
                </a:solidFill>
                <a:latin typeface="Calibri"/>
              </a:rPr>
              <a:t>tap-capture overlay + UI-tree snapshot per tap</a:t>
            </a:r>
          </a:p>
        </p:txBody>
      </p:sp>
      <p:cxnSp>
        <p:nvCxnSpPr>
          <p:cNvPr id="141" name="Connector 140"/>
          <p:cNvCxnSpPr/>
          <p:nvPr/>
        </p:nvCxnSpPr>
        <p:spPr>
          <a:xfrm>
            <a:off x="4389120" y="3383279"/>
            <a:ext cx="210312" cy="0"/>
          </a:xfrm>
          <a:prstGeom prst="line">
            <a:avLst/>
          </a:prstGeom>
          <a:ln w="15875">
            <a:solidFill>
              <a:srgbClr val="5B5F77"/>
            </a:solidFill>
            <a:tailEnd type="triangle" w="med" len="med"/>
          </a:ln>
        </p:spPr>
      </p:cxnSp>
      <p:sp>
        <p:nvSpPr>
          <p:cNvPr id="142" name="Rounded Rectangle 141"/>
          <p:cNvSpPr/>
          <p:nvPr/>
        </p:nvSpPr>
        <p:spPr>
          <a:xfrm>
            <a:off x="4626864" y="301752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43" name="TextBox 142"/>
          <p:cNvSpPr txBox="1"/>
          <p:nvPr/>
        </p:nvSpPr>
        <p:spPr>
          <a:xfrm>
            <a:off x="4681728" y="3044951"/>
            <a:ext cx="1371600" cy="676656"/>
          </a:xfrm>
          <a:prstGeom prst="rect">
            <a:avLst/>
          </a:prstGeom>
          <a:noFill/>
        </p:spPr>
        <p:txBody>
          <a:bodyPr wrap="square" lIns="0" rIns="0" tIns="0" bIns="0" anchor="ctr">
            <a:spAutoFit/>
          </a:bodyPr>
          <a:lstStyle/>
          <a:p>
            <a:pPr algn="ctr"/>
            <a:r>
              <a:rPr sz="1150" b="1" i="0">
                <a:solidFill>
                  <a:srgbClr val="14142B"/>
                </a:solidFill>
                <a:latin typeface="Calibri"/>
              </a:rPr>
              <a:t>Generaliser</a:t>
            </a:r>
          </a:p>
          <a:p>
            <a:pPr algn="ctr"/>
            <a:r>
              <a:rPr sz="900" b="0" i="0">
                <a:solidFill>
                  <a:srgbClr val="5B5F77"/>
                </a:solidFill>
                <a:latin typeface="Calibri"/>
              </a:rPr>
              <a:t>slots from command words, card anchors</a:t>
            </a:r>
          </a:p>
        </p:txBody>
      </p:sp>
      <p:cxnSp>
        <p:nvCxnSpPr>
          <p:cNvPr id="144" name="Connector 143"/>
          <p:cNvCxnSpPr/>
          <p:nvPr/>
        </p:nvCxnSpPr>
        <p:spPr>
          <a:xfrm>
            <a:off x="6135624" y="3383279"/>
            <a:ext cx="210312" cy="0"/>
          </a:xfrm>
          <a:prstGeom prst="line">
            <a:avLst/>
          </a:prstGeom>
          <a:ln w="15875">
            <a:solidFill>
              <a:srgbClr val="5B5F77"/>
            </a:solidFill>
            <a:tailEnd type="triangle" w="med" len="med"/>
          </a:ln>
        </p:spPr>
      </p:cxnSp>
      <p:sp>
        <p:nvSpPr>
          <p:cNvPr id="145" name="Rounded Rectangle 144"/>
          <p:cNvSpPr/>
          <p:nvPr/>
        </p:nvSpPr>
        <p:spPr>
          <a:xfrm>
            <a:off x="6373368" y="301752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46" name="TextBox 145"/>
          <p:cNvSpPr txBox="1"/>
          <p:nvPr/>
        </p:nvSpPr>
        <p:spPr>
          <a:xfrm>
            <a:off x="6428232" y="3044951"/>
            <a:ext cx="1371600" cy="676656"/>
          </a:xfrm>
          <a:prstGeom prst="rect">
            <a:avLst/>
          </a:prstGeom>
          <a:noFill/>
        </p:spPr>
        <p:txBody>
          <a:bodyPr wrap="square" lIns="0" rIns="0" tIns="0" bIns="0" anchor="ctr">
            <a:spAutoFit/>
          </a:bodyPr>
          <a:lstStyle/>
          <a:p>
            <a:pPr algn="ctr"/>
            <a:r>
              <a:rPr sz="1150" b="1" i="0">
                <a:solidFill>
                  <a:srgbClr val="14142B"/>
                </a:solidFill>
                <a:latin typeface="Calibri"/>
              </a:rPr>
              <a:t>Refine</a:t>
            </a:r>
          </a:p>
          <a:p>
            <a:pPr algn="ctr"/>
            <a:r>
              <a:rPr sz="900" b="0" i="0">
                <a:solidFill>
                  <a:srgbClr val="5B5F77"/>
                </a:solidFill>
                <a:latin typeface="Calibri"/>
              </a:rPr>
              <a:t>slot names, step intents, noise, goals</a:t>
            </a:r>
          </a:p>
        </p:txBody>
      </p:sp>
      <p:sp>
        <p:nvSpPr>
          <p:cNvPr id="147" name="Rounded Rectangle 146"/>
          <p:cNvSpPr/>
          <p:nvPr/>
        </p:nvSpPr>
        <p:spPr>
          <a:xfrm>
            <a:off x="7415783" y="2907791"/>
            <a:ext cx="402336" cy="201168"/>
          </a:xfrm>
          <a:prstGeom prst="roundRect">
            <a:avLst>
              <a:gd name="adj" fmla="val 50000"/>
            </a:avLst>
          </a:prstGeom>
          <a:solidFill>
            <a:srgbClr val="6D28D9"/>
          </a:solidFill>
          <a:ln>
            <a:noFill/>
          </a:ln>
          <a:effectLst/>
        </p:spPr>
        <p:txBody>
          <a:bodyPr rtlCol="0" anchor="ctr"/>
          <a:lstStyle/>
          <a:p/>
        </p:txBody>
      </p:sp>
      <p:sp>
        <p:nvSpPr>
          <p:cNvPr id="148" name="TextBox 147"/>
          <p:cNvSpPr txBox="1"/>
          <p:nvPr/>
        </p:nvSpPr>
        <p:spPr>
          <a:xfrm>
            <a:off x="7415783" y="2907791"/>
            <a:ext cx="402336" cy="201168"/>
          </a:xfrm>
          <a:prstGeom prst="rect">
            <a:avLst/>
          </a:prstGeom>
          <a:noFill/>
        </p:spPr>
        <p:txBody>
          <a:bodyPr wrap="square" lIns="0" rIns="0" tIns="0" bIns="0" anchor="ctr">
            <a:spAutoFit/>
          </a:bodyPr>
          <a:lstStyle/>
          <a:p>
            <a:pPr algn="ctr"/>
            <a:r>
              <a:rPr sz="800" b="1" i="0">
                <a:solidFill>
                  <a:srgbClr val="FFFFFF"/>
                </a:solidFill>
                <a:latin typeface="Arial"/>
              </a:rPr>
              <a:t>LLM</a:t>
            </a:r>
          </a:p>
        </p:txBody>
      </p:sp>
      <p:cxnSp>
        <p:nvCxnSpPr>
          <p:cNvPr id="149" name="Connector 148"/>
          <p:cNvCxnSpPr/>
          <p:nvPr/>
        </p:nvCxnSpPr>
        <p:spPr>
          <a:xfrm>
            <a:off x="7882127" y="3383279"/>
            <a:ext cx="210313" cy="0"/>
          </a:xfrm>
          <a:prstGeom prst="line">
            <a:avLst/>
          </a:prstGeom>
          <a:ln w="15875">
            <a:solidFill>
              <a:srgbClr val="5B5F77"/>
            </a:solidFill>
            <a:tailEnd type="triangle" w="med" len="med"/>
          </a:ln>
        </p:spPr>
      </p:cxnSp>
      <p:sp>
        <p:nvSpPr>
          <p:cNvPr id="150" name="Rounded Rectangle 149"/>
          <p:cNvSpPr/>
          <p:nvPr/>
        </p:nvSpPr>
        <p:spPr>
          <a:xfrm>
            <a:off x="8119872" y="301752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51" name="TextBox 150"/>
          <p:cNvSpPr txBox="1"/>
          <p:nvPr/>
        </p:nvSpPr>
        <p:spPr>
          <a:xfrm>
            <a:off x="8174736" y="3044951"/>
            <a:ext cx="1371600" cy="676656"/>
          </a:xfrm>
          <a:prstGeom prst="rect">
            <a:avLst/>
          </a:prstGeom>
          <a:noFill/>
        </p:spPr>
        <p:txBody>
          <a:bodyPr wrap="square" lIns="0" rIns="0" tIns="0" bIns="0" anchor="ctr">
            <a:spAutoFit/>
          </a:bodyPr>
          <a:lstStyle/>
          <a:p>
            <a:pPr algn="ctr"/>
            <a:r>
              <a:rPr sz="1150" b="1" i="0">
                <a:solidFill>
                  <a:srgbClr val="14142B"/>
                </a:solidFill>
                <a:latin typeface="Calibri"/>
              </a:rPr>
              <a:t>User review</a:t>
            </a:r>
          </a:p>
          <a:p>
            <a:pPr algn="ctr"/>
            <a:r>
              <a:rPr sz="900" b="0" i="0">
                <a:solidFill>
                  <a:srgbClr val="5B5F77"/>
                </a:solidFill>
                <a:latin typeface="Calibri"/>
              </a:rPr>
              <a:t>steps shown in words</a:t>
            </a:r>
          </a:p>
        </p:txBody>
      </p:sp>
      <p:cxnSp>
        <p:nvCxnSpPr>
          <p:cNvPr id="152" name="Connector 151"/>
          <p:cNvCxnSpPr/>
          <p:nvPr/>
        </p:nvCxnSpPr>
        <p:spPr>
          <a:xfrm>
            <a:off x="9628632" y="3383279"/>
            <a:ext cx="210312" cy="0"/>
          </a:xfrm>
          <a:prstGeom prst="line">
            <a:avLst/>
          </a:prstGeom>
          <a:ln w="15875">
            <a:solidFill>
              <a:srgbClr val="5B5F77"/>
            </a:solidFill>
            <a:tailEnd type="triangle" w="med" len="med"/>
          </a:ln>
        </p:spPr>
      </p:cxnSp>
      <p:sp>
        <p:nvSpPr>
          <p:cNvPr id="153" name="Rounded Rectangle 152"/>
          <p:cNvSpPr/>
          <p:nvPr/>
        </p:nvSpPr>
        <p:spPr>
          <a:xfrm>
            <a:off x="9866376" y="3017520"/>
            <a:ext cx="1481328" cy="731520"/>
          </a:xfrm>
          <a:prstGeom prst="roundRect">
            <a:avLst>
              <a:gd name="adj" fmla="val 10000"/>
            </a:avLst>
          </a:prstGeom>
          <a:solidFill>
            <a:srgbClr val="14142B"/>
          </a:solidFill>
          <a:ln>
            <a:noFill/>
          </a:ln>
          <a:effectLst/>
        </p:spPr>
        <p:txBody>
          <a:bodyPr rtlCol="0" anchor="ctr"/>
          <a:lstStyle/>
          <a:p/>
        </p:txBody>
      </p:sp>
      <p:sp>
        <p:nvSpPr>
          <p:cNvPr id="154" name="TextBox 153"/>
          <p:cNvSpPr txBox="1"/>
          <p:nvPr/>
        </p:nvSpPr>
        <p:spPr>
          <a:xfrm>
            <a:off x="9921240" y="3044951"/>
            <a:ext cx="1371600" cy="676656"/>
          </a:xfrm>
          <a:prstGeom prst="rect">
            <a:avLst/>
          </a:prstGeom>
          <a:noFill/>
        </p:spPr>
        <p:txBody>
          <a:bodyPr wrap="square" lIns="0" rIns="0" tIns="0" bIns="0" anchor="ctr">
            <a:spAutoFit/>
          </a:bodyPr>
          <a:lstStyle/>
          <a:p>
            <a:pPr algn="ctr"/>
            <a:r>
              <a:rPr sz="1150" b="1" i="0">
                <a:solidFill>
                  <a:srgbClr val="FFFFFF"/>
                </a:solidFill>
                <a:latin typeface="Calibri"/>
              </a:rPr>
              <a:t>Recipe store</a:t>
            </a:r>
          </a:p>
          <a:p>
            <a:pPr algn="ctr"/>
            <a:r>
              <a:rPr sz="900" b="0" i="0">
                <a:solidFill>
                  <a:srgbClr val="D9D3F0"/>
                </a:solidFill>
                <a:latin typeface="Calibri"/>
              </a:rPr>
              <a:t>JSON on the phone</a:t>
            </a:r>
          </a:p>
        </p:txBody>
      </p:sp>
      <p:sp>
        <p:nvSpPr>
          <p:cNvPr id="155" name="TextBox 154"/>
          <p:cNvSpPr txBox="1"/>
          <p:nvPr/>
        </p:nvSpPr>
        <p:spPr>
          <a:xfrm>
            <a:off x="1133856" y="4297680"/>
            <a:ext cx="2743200" cy="237744"/>
          </a:xfrm>
          <a:prstGeom prst="rect">
            <a:avLst/>
          </a:prstGeom>
          <a:noFill/>
        </p:spPr>
        <p:txBody>
          <a:bodyPr wrap="square" lIns="0" rIns="0" tIns="0" bIns="0" anchor="t">
            <a:spAutoFit/>
          </a:bodyPr>
          <a:lstStyle/>
          <a:p>
            <a:pPr algn="l"/>
            <a:r>
              <a:rPr sz="1200" b="1" i="0">
                <a:solidFill>
                  <a:srgbClr val="14142B"/>
                </a:solidFill>
                <a:latin typeface="Arial"/>
              </a:rPr>
              <a:t>Run on command</a:t>
            </a:r>
          </a:p>
        </p:txBody>
      </p:sp>
      <p:sp>
        <p:nvSpPr>
          <p:cNvPr id="156" name="Rounded Rectangle 155"/>
          <p:cNvSpPr/>
          <p:nvPr/>
        </p:nvSpPr>
        <p:spPr>
          <a:xfrm>
            <a:off x="1133856" y="457200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57" name="TextBox 156"/>
          <p:cNvSpPr txBox="1"/>
          <p:nvPr/>
        </p:nvSpPr>
        <p:spPr>
          <a:xfrm>
            <a:off x="1188720" y="4599432"/>
            <a:ext cx="1371600" cy="676656"/>
          </a:xfrm>
          <a:prstGeom prst="rect">
            <a:avLst/>
          </a:prstGeom>
          <a:noFill/>
        </p:spPr>
        <p:txBody>
          <a:bodyPr wrap="square" lIns="0" rIns="0" tIns="0" bIns="0" anchor="ctr">
            <a:spAutoFit/>
          </a:bodyPr>
          <a:lstStyle/>
          <a:p>
            <a:pPr algn="ctr"/>
            <a:r>
              <a:rPr sz="1150" b="1" i="0">
                <a:solidFill>
                  <a:srgbClr val="14142B"/>
                </a:solidFill>
                <a:latin typeface="Calibri"/>
              </a:rPr>
              <a:t>Voice command</a:t>
            </a:r>
          </a:p>
          <a:p>
            <a:pPr algn="ctr"/>
            <a:r>
              <a:rPr sz="900" b="0" i="0">
                <a:solidFill>
                  <a:srgbClr val="5B5F77"/>
                </a:solidFill>
                <a:latin typeface="Calibri"/>
              </a:rPr>
              <a:t>or typed</a:t>
            </a:r>
          </a:p>
        </p:txBody>
      </p:sp>
      <p:cxnSp>
        <p:nvCxnSpPr>
          <p:cNvPr id="158" name="Connector 157"/>
          <p:cNvCxnSpPr/>
          <p:nvPr/>
        </p:nvCxnSpPr>
        <p:spPr>
          <a:xfrm>
            <a:off x="2642616" y="4937760"/>
            <a:ext cx="210312" cy="0"/>
          </a:xfrm>
          <a:prstGeom prst="line">
            <a:avLst/>
          </a:prstGeom>
          <a:ln w="15875">
            <a:solidFill>
              <a:srgbClr val="5B5F77"/>
            </a:solidFill>
            <a:tailEnd type="triangle" w="med" len="med"/>
          </a:ln>
        </p:spPr>
      </p:cxnSp>
      <p:sp>
        <p:nvSpPr>
          <p:cNvPr id="159" name="Rounded Rectangle 158"/>
          <p:cNvSpPr/>
          <p:nvPr/>
        </p:nvSpPr>
        <p:spPr>
          <a:xfrm>
            <a:off x="2880360" y="457200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60" name="TextBox 159"/>
          <p:cNvSpPr txBox="1"/>
          <p:nvPr/>
        </p:nvSpPr>
        <p:spPr>
          <a:xfrm>
            <a:off x="2935224" y="4599432"/>
            <a:ext cx="1371600" cy="676656"/>
          </a:xfrm>
          <a:prstGeom prst="rect">
            <a:avLst/>
          </a:prstGeom>
          <a:noFill/>
        </p:spPr>
        <p:txBody>
          <a:bodyPr wrap="square" lIns="0" rIns="0" tIns="0" bIns="0" anchor="ctr">
            <a:spAutoFit/>
          </a:bodyPr>
          <a:lstStyle/>
          <a:p>
            <a:pPr algn="ctr"/>
            <a:r>
              <a:rPr sz="1150" b="1" i="0">
                <a:solidFill>
                  <a:srgbClr val="14142B"/>
                </a:solidFill>
                <a:latin typeface="Calibri"/>
              </a:rPr>
              <a:t>Matcher</a:t>
            </a:r>
          </a:p>
          <a:p>
            <a:pPr algn="ctr"/>
            <a:r>
              <a:rPr sz="900" b="0" i="0">
                <a:solidFill>
                  <a:srgbClr val="5B5F77"/>
                </a:solidFill>
                <a:latin typeface="Calibri"/>
              </a:rPr>
              <a:t>speech → intent: flow + slots + app</a:t>
            </a:r>
          </a:p>
        </p:txBody>
      </p:sp>
      <p:sp>
        <p:nvSpPr>
          <p:cNvPr id="161" name="Rounded Rectangle 160"/>
          <p:cNvSpPr/>
          <p:nvPr/>
        </p:nvSpPr>
        <p:spPr>
          <a:xfrm>
            <a:off x="3922776" y="4462272"/>
            <a:ext cx="402336" cy="201168"/>
          </a:xfrm>
          <a:prstGeom prst="roundRect">
            <a:avLst>
              <a:gd name="adj" fmla="val 50000"/>
            </a:avLst>
          </a:prstGeom>
          <a:solidFill>
            <a:srgbClr val="6D28D9"/>
          </a:solidFill>
          <a:ln>
            <a:noFill/>
          </a:ln>
          <a:effectLst/>
        </p:spPr>
        <p:txBody>
          <a:bodyPr rtlCol="0" anchor="ctr"/>
          <a:lstStyle/>
          <a:p/>
        </p:txBody>
      </p:sp>
      <p:sp>
        <p:nvSpPr>
          <p:cNvPr id="162" name="TextBox 161"/>
          <p:cNvSpPr txBox="1"/>
          <p:nvPr/>
        </p:nvSpPr>
        <p:spPr>
          <a:xfrm>
            <a:off x="3922776" y="4462272"/>
            <a:ext cx="402336" cy="201168"/>
          </a:xfrm>
          <a:prstGeom prst="rect">
            <a:avLst/>
          </a:prstGeom>
          <a:noFill/>
        </p:spPr>
        <p:txBody>
          <a:bodyPr wrap="square" lIns="0" rIns="0" tIns="0" bIns="0" anchor="ctr">
            <a:spAutoFit/>
          </a:bodyPr>
          <a:lstStyle/>
          <a:p>
            <a:pPr algn="ctr"/>
            <a:r>
              <a:rPr sz="800" b="1" i="0">
                <a:solidFill>
                  <a:srgbClr val="FFFFFF"/>
                </a:solidFill>
                <a:latin typeface="Arial"/>
              </a:rPr>
              <a:t>LLM</a:t>
            </a:r>
          </a:p>
        </p:txBody>
      </p:sp>
      <p:cxnSp>
        <p:nvCxnSpPr>
          <p:cNvPr id="163" name="Connector 162"/>
          <p:cNvCxnSpPr/>
          <p:nvPr/>
        </p:nvCxnSpPr>
        <p:spPr>
          <a:xfrm>
            <a:off x="4389120" y="4937760"/>
            <a:ext cx="210312" cy="0"/>
          </a:xfrm>
          <a:prstGeom prst="line">
            <a:avLst/>
          </a:prstGeom>
          <a:ln w="15875">
            <a:solidFill>
              <a:srgbClr val="5B5F77"/>
            </a:solidFill>
            <a:tailEnd type="triangle" w="med" len="med"/>
          </a:ln>
        </p:spPr>
      </p:cxnSp>
      <p:sp>
        <p:nvSpPr>
          <p:cNvPr id="164" name="Rounded Rectangle 163"/>
          <p:cNvSpPr/>
          <p:nvPr/>
        </p:nvSpPr>
        <p:spPr>
          <a:xfrm>
            <a:off x="4626864" y="457200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65" name="TextBox 164"/>
          <p:cNvSpPr txBox="1"/>
          <p:nvPr/>
        </p:nvSpPr>
        <p:spPr>
          <a:xfrm>
            <a:off x="4681728" y="4599432"/>
            <a:ext cx="1371600" cy="676656"/>
          </a:xfrm>
          <a:prstGeom prst="rect">
            <a:avLst/>
          </a:prstGeom>
          <a:noFill/>
        </p:spPr>
        <p:txBody>
          <a:bodyPr wrap="square" lIns="0" rIns="0" tIns="0" bIns="0" anchor="ctr">
            <a:spAutoFit/>
          </a:bodyPr>
          <a:lstStyle/>
          <a:p>
            <a:pPr algn="ctr"/>
            <a:r>
              <a:rPr sz="1150" b="1" i="0">
                <a:solidFill>
                  <a:srgbClr val="14142B"/>
                </a:solidFill>
                <a:latin typeface="Calibri"/>
              </a:rPr>
              <a:t>Executor</a:t>
            </a:r>
          </a:p>
          <a:p>
            <a:pPr algn="ctr"/>
            <a:r>
              <a:rPr sz="900" b="0" i="0">
                <a:solidFill>
                  <a:srgbClr val="5B5F77"/>
                </a:solidFill>
                <a:latin typeface="Calibri"/>
              </a:rPr>
              <a:t>fast path → scroll / search → LLM action → ask</a:t>
            </a:r>
          </a:p>
        </p:txBody>
      </p:sp>
      <p:sp>
        <p:nvSpPr>
          <p:cNvPr id="166" name="Rounded Rectangle 165"/>
          <p:cNvSpPr/>
          <p:nvPr/>
        </p:nvSpPr>
        <p:spPr>
          <a:xfrm>
            <a:off x="5669280" y="4462272"/>
            <a:ext cx="402336" cy="201168"/>
          </a:xfrm>
          <a:prstGeom prst="roundRect">
            <a:avLst>
              <a:gd name="adj" fmla="val 50000"/>
            </a:avLst>
          </a:prstGeom>
          <a:solidFill>
            <a:srgbClr val="6D28D9"/>
          </a:solidFill>
          <a:ln>
            <a:noFill/>
          </a:ln>
          <a:effectLst/>
        </p:spPr>
        <p:txBody>
          <a:bodyPr rtlCol="0" anchor="ctr"/>
          <a:lstStyle/>
          <a:p/>
        </p:txBody>
      </p:sp>
      <p:sp>
        <p:nvSpPr>
          <p:cNvPr id="167" name="TextBox 166"/>
          <p:cNvSpPr txBox="1"/>
          <p:nvPr/>
        </p:nvSpPr>
        <p:spPr>
          <a:xfrm>
            <a:off x="5669280" y="4462272"/>
            <a:ext cx="402336" cy="201168"/>
          </a:xfrm>
          <a:prstGeom prst="rect">
            <a:avLst/>
          </a:prstGeom>
          <a:noFill/>
        </p:spPr>
        <p:txBody>
          <a:bodyPr wrap="square" lIns="0" rIns="0" tIns="0" bIns="0" anchor="ctr">
            <a:spAutoFit/>
          </a:bodyPr>
          <a:lstStyle/>
          <a:p>
            <a:pPr algn="ctr"/>
            <a:r>
              <a:rPr sz="800" b="1" i="0">
                <a:solidFill>
                  <a:srgbClr val="FFFFFF"/>
                </a:solidFill>
                <a:latin typeface="Arial"/>
              </a:rPr>
              <a:t>LLM</a:t>
            </a:r>
          </a:p>
        </p:txBody>
      </p:sp>
      <p:cxnSp>
        <p:nvCxnSpPr>
          <p:cNvPr id="168" name="Connector 167"/>
          <p:cNvCxnSpPr/>
          <p:nvPr/>
        </p:nvCxnSpPr>
        <p:spPr>
          <a:xfrm>
            <a:off x="6135624" y="4937760"/>
            <a:ext cx="210312" cy="0"/>
          </a:xfrm>
          <a:prstGeom prst="line">
            <a:avLst/>
          </a:prstGeom>
          <a:ln w="15875">
            <a:solidFill>
              <a:srgbClr val="5B5F77"/>
            </a:solidFill>
            <a:tailEnd type="triangle" w="med" len="med"/>
          </a:ln>
        </p:spPr>
      </p:cxnSp>
      <p:sp>
        <p:nvSpPr>
          <p:cNvPr id="169" name="Rounded Rectangle 168"/>
          <p:cNvSpPr/>
          <p:nvPr/>
        </p:nvSpPr>
        <p:spPr>
          <a:xfrm>
            <a:off x="6373368" y="457200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70" name="TextBox 169"/>
          <p:cNvSpPr txBox="1"/>
          <p:nvPr/>
        </p:nvSpPr>
        <p:spPr>
          <a:xfrm>
            <a:off x="6428232" y="4599432"/>
            <a:ext cx="1371600" cy="676656"/>
          </a:xfrm>
          <a:prstGeom prst="rect">
            <a:avLst/>
          </a:prstGeom>
          <a:noFill/>
        </p:spPr>
        <p:txBody>
          <a:bodyPr wrap="square" lIns="0" rIns="0" tIns="0" bIns="0" anchor="ctr">
            <a:spAutoFit/>
          </a:bodyPr>
          <a:lstStyle/>
          <a:p>
            <a:pPr algn="ctr"/>
            <a:r>
              <a:rPr sz="1150" b="1" i="0">
                <a:solidFill>
                  <a:srgbClr val="14142B"/>
                </a:solidFill>
                <a:latin typeface="Calibri"/>
              </a:rPr>
              <a:t>Checks</a:t>
            </a:r>
          </a:p>
          <a:p>
            <a:pPr algn="ctr"/>
            <a:r>
              <a:rPr sz="900" b="0" i="0">
                <a:solidFill>
                  <a:srgbClr val="5B5F77"/>
                </a:solidFill>
                <a:latin typeface="Calibri"/>
              </a:rPr>
              <a:t>cart count, the right dish, not an ad</a:t>
            </a:r>
          </a:p>
        </p:txBody>
      </p:sp>
      <p:cxnSp>
        <p:nvCxnSpPr>
          <p:cNvPr id="171" name="Connector 170"/>
          <p:cNvCxnSpPr/>
          <p:nvPr/>
        </p:nvCxnSpPr>
        <p:spPr>
          <a:xfrm>
            <a:off x="7882127" y="4937760"/>
            <a:ext cx="210313" cy="0"/>
          </a:xfrm>
          <a:prstGeom prst="line">
            <a:avLst/>
          </a:prstGeom>
          <a:ln w="15875">
            <a:solidFill>
              <a:srgbClr val="5B5F77"/>
            </a:solidFill>
            <a:tailEnd type="triangle" w="med" len="med"/>
          </a:ln>
        </p:spPr>
      </p:cxnSp>
      <p:sp>
        <p:nvSpPr>
          <p:cNvPr id="172" name="Rounded Rectangle 171"/>
          <p:cNvSpPr/>
          <p:nvPr/>
        </p:nvSpPr>
        <p:spPr>
          <a:xfrm>
            <a:off x="8119872" y="4572000"/>
            <a:ext cx="1481328" cy="731520"/>
          </a:xfrm>
          <a:prstGeom prst="roundRect">
            <a:avLst>
              <a:gd name="adj" fmla="val 10000"/>
            </a:avLst>
          </a:prstGeom>
          <a:solidFill>
            <a:srgbClr val="FFFFFF"/>
          </a:solidFill>
          <a:ln w="12700">
            <a:solidFill>
              <a:srgbClr val="C9C3E6"/>
            </a:solidFill>
          </a:ln>
          <a:effectLst/>
        </p:spPr>
        <p:txBody>
          <a:bodyPr rtlCol="0" anchor="ctr"/>
          <a:lstStyle/>
          <a:p/>
        </p:txBody>
      </p:sp>
      <p:sp>
        <p:nvSpPr>
          <p:cNvPr id="173" name="TextBox 172"/>
          <p:cNvSpPr txBox="1"/>
          <p:nvPr/>
        </p:nvSpPr>
        <p:spPr>
          <a:xfrm>
            <a:off x="8174736" y="4599432"/>
            <a:ext cx="1371600" cy="676656"/>
          </a:xfrm>
          <a:prstGeom prst="rect">
            <a:avLst/>
          </a:prstGeom>
          <a:noFill/>
        </p:spPr>
        <p:txBody>
          <a:bodyPr wrap="square" lIns="0" rIns="0" tIns="0" bIns="0" anchor="ctr">
            <a:spAutoFit/>
          </a:bodyPr>
          <a:lstStyle/>
          <a:p>
            <a:pPr algn="ctr"/>
            <a:r>
              <a:rPr sz="1150" b="1" i="0">
                <a:solidFill>
                  <a:srgbClr val="14142B"/>
                </a:solidFill>
                <a:latin typeface="Calibri"/>
              </a:rPr>
              <a:t>Guard</a:t>
            </a:r>
          </a:p>
          <a:p>
            <a:pPr algn="ctr"/>
            <a:r>
              <a:rPr sz="900" b="0" i="0">
                <a:solidFill>
                  <a:srgbClr val="5B5F77"/>
                </a:solidFill>
                <a:latin typeface="Calibri"/>
              </a:rPr>
              <a:t>payment, login, OTP, password</a:t>
            </a:r>
          </a:p>
        </p:txBody>
      </p:sp>
      <p:cxnSp>
        <p:nvCxnSpPr>
          <p:cNvPr id="174" name="Connector 173"/>
          <p:cNvCxnSpPr/>
          <p:nvPr/>
        </p:nvCxnSpPr>
        <p:spPr>
          <a:xfrm>
            <a:off x="9628632" y="4937760"/>
            <a:ext cx="210312" cy="0"/>
          </a:xfrm>
          <a:prstGeom prst="line">
            <a:avLst/>
          </a:prstGeom>
          <a:ln w="15875">
            <a:solidFill>
              <a:srgbClr val="5B5F77"/>
            </a:solidFill>
            <a:tailEnd type="triangle" w="med" len="med"/>
          </a:ln>
        </p:spPr>
      </p:cxnSp>
      <p:sp>
        <p:nvSpPr>
          <p:cNvPr id="175" name="Rounded Rectangle 174"/>
          <p:cNvSpPr/>
          <p:nvPr/>
        </p:nvSpPr>
        <p:spPr>
          <a:xfrm>
            <a:off x="9866376" y="4572000"/>
            <a:ext cx="1481328" cy="731520"/>
          </a:xfrm>
          <a:prstGeom prst="roundRect">
            <a:avLst>
              <a:gd name="adj" fmla="val 10000"/>
            </a:avLst>
          </a:prstGeom>
          <a:solidFill>
            <a:srgbClr val="6D28D9"/>
          </a:solidFill>
          <a:ln>
            <a:noFill/>
          </a:ln>
          <a:effectLst/>
        </p:spPr>
        <p:txBody>
          <a:bodyPr rtlCol="0" anchor="ctr"/>
          <a:lstStyle/>
          <a:p/>
        </p:txBody>
      </p:sp>
      <p:sp>
        <p:nvSpPr>
          <p:cNvPr id="176" name="TextBox 175"/>
          <p:cNvSpPr txBox="1"/>
          <p:nvPr/>
        </p:nvSpPr>
        <p:spPr>
          <a:xfrm>
            <a:off x="9921240" y="4599432"/>
            <a:ext cx="1371600" cy="676656"/>
          </a:xfrm>
          <a:prstGeom prst="rect">
            <a:avLst/>
          </a:prstGeom>
          <a:noFill/>
        </p:spPr>
        <p:txBody>
          <a:bodyPr wrap="square" lIns="0" rIns="0" tIns="0" bIns="0" anchor="ctr">
            <a:spAutoFit/>
          </a:bodyPr>
          <a:lstStyle/>
          <a:p>
            <a:pPr algn="ctr"/>
            <a:r>
              <a:rPr sz="1150" b="1" i="0">
                <a:solidFill>
                  <a:srgbClr val="FFFFFF"/>
                </a:solidFill>
                <a:latin typeface="Calibri"/>
              </a:rPr>
              <a:t>Done / hand back</a:t>
            </a:r>
          </a:p>
          <a:p>
            <a:pPr algn="ctr"/>
            <a:r>
              <a:rPr sz="900" b="0" i="0">
                <a:solidFill>
                  <a:srgbClr val="D9D3F0"/>
                </a:solidFill>
                <a:latin typeface="Calibri"/>
              </a:rPr>
              <a:t>spoken reply + run log</a:t>
            </a:r>
          </a:p>
        </p:txBody>
      </p:sp>
      <p:cxnSp>
        <p:nvCxnSpPr>
          <p:cNvPr id="177" name="Connector 176"/>
          <p:cNvCxnSpPr/>
          <p:nvPr/>
        </p:nvCxnSpPr>
        <p:spPr>
          <a:xfrm>
            <a:off x="10607040" y="3749039"/>
            <a:ext cx="0" cy="292609"/>
          </a:xfrm>
          <a:prstGeom prst="line">
            <a:avLst/>
          </a:prstGeom>
          <a:ln w="15875">
            <a:solidFill>
              <a:srgbClr val="14142B"/>
            </a:solidFill>
            <a:prstDash val="dash"/>
          </a:ln>
        </p:spPr>
      </p:cxnSp>
      <p:cxnSp>
        <p:nvCxnSpPr>
          <p:cNvPr id="178" name="Connector 177"/>
          <p:cNvCxnSpPr/>
          <p:nvPr/>
        </p:nvCxnSpPr>
        <p:spPr>
          <a:xfrm flipH="1">
            <a:off x="5367528" y="4041648"/>
            <a:ext cx="5239512" cy="0"/>
          </a:xfrm>
          <a:prstGeom prst="line">
            <a:avLst/>
          </a:prstGeom>
          <a:ln w="15875">
            <a:solidFill>
              <a:srgbClr val="14142B"/>
            </a:solidFill>
            <a:prstDash val="dash"/>
          </a:ln>
        </p:spPr>
      </p:cxnSp>
      <p:cxnSp>
        <p:nvCxnSpPr>
          <p:cNvPr id="179" name="Connector 178"/>
          <p:cNvCxnSpPr/>
          <p:nvPr/>
        </p:nvCxnSpPr>
        <p:spPr>
          <a:xfrm>
            <a:off x="5367528" y="4041648"/>
            <a:ext cx="0" cy="512064"/>
          </a:xfrm>
          <a:prstGeom prst="line">
            <a:avLst/>
          </a:prstGeom>
          <a:ln w="15875">
            <a:solidFill>
              <a:srgbClr val="14142B"/>
            </a:solidFill>
            <a:prstDash val="dash"/>
            <a:tailEnd type="triangle" w="med" len="med"/>
          </a:ln>
        </p:spPr>
      </p:cxnSp>
      <p:sp>
        <p:nvSpPr>
          <p:cNvPr id="180" name="Rounded Rectangle 179"/>
          <p:cNvSpPr/>
          <p:nvPr/>
        </p:nvSpPr>
        <p:spPr>
          <a:xfrm>
            <a:off x="886968" y="5614416"/>
            <a:ext cx="10424160" cy="512064"/>
          </a:xfrm>
          <a:prstGeom prst="roundRect">
            <a:avLst>
              <a:gd name="adj" fmla="val 17857"/>
            </a:avLst>
          </a:prstGeom>
          <a:solidFill>
            <a:srgbClr val="FFFFFF"/>
          </a:solidFill>
          <a:ln w="12700">
            <a:solidFill>
              <a:srgbClr val="6D28D9"/>
            </a:solidFill>
            <a:prstDash val="dash"/>
          </a:ln>
          <a:effectLst/>
        </p:spPr>
        <p:txBody>
          <a:bodyPr rtlCol="0" anchor="ctr"/>
          <a:lstStyle/>
          <a:p/>
        </p:txBody>
      </p:sp>
      <p:sp>
        <p:nvSpPr>
          <p:cNvPr id="181" name="Oval 180"/>
          <p:cNvSpPr/>
          <p:nvPr/>
        </p:nvSpPr>
        <p:spPr>
          <a:xfrm>
            <a:off x="1024128" y="5660136"/>
            <a:ext cx="420624" cy="420624"/>
          </a:xfrm>
          <a:prstGeom prst="ellipse">
            <a:avLst/>
          </a:prstGeom>
          <a:solidFill>
            <a:srgbClr val="6D28D9"/>
          </a:solidFill>
          <a:ln>
            <a:noFill/>
          </a:ln>
          <a:effectLst/>
        </p:spPr>
        <p:txBody>
          <a:bodyPr rtlCol="0" anchor="ctr"/>
          <a:lstStyle/>
          <a:p/>
        </p:txBody>
      </p:sp>
      <p:pic>
        <p:nvPicPr>
          <p:cNvPr id="182" name="Picture 181" descr="MdCloudQueue_FFFFFF.png"/>
          <p:cNvPicPr>
            <a:picLocks noChangeAspect="1"/>
          </p:cNvPicPr>
          <p:nvPr/>
        </p:nvPicPr>
        <p:blipFill>
          <a:blip r:embed="rId3"/>
          <a:stretch>
            <a:fillRect/>
          </a:stretch>
        </p:blipFill>
        <p:spPr>
          <a:xfrm>
            <a:off x="1116665" y="5752673"/>
            <a:ext cx="235549" cy="235549"/>
          </a:xfrm>
          <a:prstGeom prst="rect">
            <a:avLst/>
          </a:prstGeom>
        </p:spPr>
      </p:pic>
      <p:sp>
        <p:nvSpPr>
          <p:cNvPr id="183" name="TextBox 182"/>
          <p:cNvSpPr txBox="1"/>
          <p:nvPr/>
        </p:nvSpPr>
        <p:spPr>
          <a:xfrm>
            <a:off x="1591056" y="5614416"/>
            <a:ext cx="9555480" cy="512064"/>
          </a:xfrm>
          <a:prstGeom prst="rect">
            <a:avLst/>
          </a:prstGeom>
          <a:noFill/>
        </p:spPr>
        <p:txBody>
          <a:bodyPr wrap="square" lIns="0" rIns="0" tIns="0" bIns="0" anchor="ctr">
            <a:spAutoFit/>
          </a:bodyPr>
          <a:lstStyle/>
          <a:p>
            <a:pPr algn="l"/>
            <a:r>
              <a:rPr sz="1150" b="1" i="0">
                <a:solidFill>
                  <a:srgbClr val="14142B"/>
                </a:solidFill>
                <a:latin typeface="Calibri"/>
              </a:rPr>
              <a:t>Fireworks AI · gpt-oss-120b  </a:t>
            </a:r>
            <a:r>
              <a:rPr sz="1150" b="0" i="0">
                <a:solidFill>
                  <a:srgbClr val="5B5F77"/>
                </a:solidFill>
                <a:latin typeface="Calibri"/>
              </a:rPr>
              <a:t>— the only network call: refine a demo once, understand a paraphrase, choose one action on an unfamiliar screen (1–2 s). Known screens replay with no model call.</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20" name="Rounded Rectangle 119"/>
          <p:cNvSpPr/>
          <p:nvPr/>
        </p:nvSpPr>
        <p:spPr>
          <a:xfrm>
            <a:off x="868680" y="1399032"/>
            <a:ext cx="1804105" cy="2871216"/>
          </a:xfrm>
          <a:prstGeom prst="roundRect">
            <a:avLst>
              <a:gd name="adj" fmla="val 11150"/>
            </a:avLst>
          </a:prstGeom>
          <a:solidFill>
            <a:srgbClr val="14142B"/>
          </a:solidFill>
          <a:ln>
            <a:noFill/>
          </a:ln>
          <a:effectLst/>
        </p:spPr>
        <p:txBody>
          <a:bodyPr rtlCol="0" anchor="ctr"/>
          <a:lstStyle/>
          <a:p/>
        </p:txBody>
      </p:sp>
      <p:pic>
        <p:nvPicPr>
          <p:cNvPr id="121" name="Picture 120" descr="w1_teach.png"/>
          <p:cNvPicPr>
            <a:picLocks noChangeAspect="1"/>
          </p:cNvPicPr>
          <p:nvPr/>
        </p:nvPicPr>
        <p:blipFill>
          <a:blip r:embed="rId3"/>
          <a:stretch>
            <a:fillRect/>
          </a:stretch>
        </p:blipFill>
        <p:spPr>
          <a:xfrm>
            <a:off x="932688" y="1463040"/>
            <a:ext cx="1676089" cy="2743200"/>
          </a:xfrm>
          <a:prstGeom prst="rect">
            <a:avLst/>
          </a:prstGeom>
        </p:spPr>
      </p:pic>
      <p:sp>
        <p:nvSpPr>
          <p:cNvPr id="122" name="Chevron 121"/>
          <p:cNvSpPr/>
          <p:nvPr/>
        </p:nvSpPr>
        <p:spPr>
          <a:xfrm>
            <a:off x="2779659" y="2697480"/>
            <a:ext cx="146304" cy="274320"/>
          </a:xfrm>
          <a:prstGeom prst="chevron">
            <a:avLst/>
          </a:prstGeom>
          <a:solidFill>
            <a:srgbClr val="6D28D9"/>
          </a:solidFill>
          <a:ln>
            <a:noFill/>
          </a:ln>
          <a:effectLst/>
        </p:spPr>
        <p:txBody>
          <a:bodyPr rtlCol="0" anchor="ctr"/>
          <a:lstStyle/>
          <a:p/>
        </p:txBody>
      </p:sp>
      <p:sp>
        <p:nvSpPr>
          <p:cNvPr id="123" name="Oval 122"/>
          <p:cNvSpPr/>
          <p:nvPr/>
        </p:nvSpPr>
        <p:spPr>
          <a:xfrm>
            <a:off x="896112" y="4389120"/>
            <a:ext cx="274320" cy="274320"/>
          </a:xfrm>
          <a:prstGeom prst="ellipse">
            <a:avLst/>
          </a:prstGeom>
          <a:solidFill>
            <a:srgbClr val="6D28D9"/>
          </a:solidFill>
          <a:ln>
            <a:noFill/>
          </a:ln>
          <a:effectLst/>
        </p:spPr>
        <p:txBody>
          <a:bodyPr rtlCol="0" anchor="ctr"/>
          <a:lstStyle/>
          <a:p/>
        </p:txBody>
      </p:sp>
      <p:sp>
        <p:nvSpPr>
          <p:cNvPr id="124" name="TextBox 123"/>
          <p:cNvSpPr txBox="1"/>
          <p:nvPr/>
        </p:nvSpPr>
        <p:spPr>
          <a:xfrm>
            <a:off x="896112" y="4389120"/>
            <a:ext cx="274320" cy="274320"/>
          </a:xfrm>
          <a:prstGeom prst="rect">
            <a:avLst/>
          </a:prstGeom>
          <a:noFill/>
        </p:spPr>
        <p:txBody>
          <a:bodyPr wrap="square" lIns="0" rIns="0" tIns="0" bIns="0" anchor="ctr">
            <a:spAutoFit/>
          </a:bodyPr>
          <a:lstStyle/>
          <a:p>
            <a:pPr algn="ctr"/>
            <a:r>
              <a:rPr sz="1200" b="1" i="0">
                <a:solidFill>
                  <a:srgbClr val="FFFFFF"/>
                </a:solidFill>
                <a:latin typeface="Arial"/>
              </a:rPr>
              <a:t>1</a:t>
            </a:r>
          </a:p>
        </p:txBody>
      </p:sp>
      <p:sp>
        <p:nvSpPr>
          <p:cNvPr id="125" name="TextBox 124"/>
          <p:cNvSpPr txBox="1"/>
          <p:nvPr/>
        </p:nvSpPr>
        <p:spPr>
          <a:xfrm>
            <a:off x="1243584" y="4389120"/>
            <a:ext cx="1889837" cy="274320"/>
          </a:xfrm>
          <a:prstGeom prst="rect">
            <a:avLst/>
          </a:prstGeom>
          <a:noFill/>
        </p:spPr>
        <p:txBody>
          <a:bodyPr wrap="square" lIns="0" rIns="0" tIns="0" bIns="0" anchor="ctr">
            <a:spAutoFit/>
          </a:bodyPr>
          <a:lstStyle/>
          <a:p>
            <a:pPr algn="l"/>
            <a:r>
              <a:rPr sz="1250" b="1" i="0">
                <a:solidFill>
                  <a:srgbClr val="14142B"/>
                </a:solidFill>
                <a:latin typeface="Arial"/>
              </a:rPr>
              <a:t>Teach it once</a:t>
            </a:r>
          </a:p>
        </p:txBody>
      </p:sp>
      <p:sp>
        <p:nvSpPr>
          <p:cNvPr id="126" name="TextBox 125"/>
          <p:cNvSpPr txBox="1"/>
          <p:nvPr/>
        </p:nvSpPr>
        <p:spPr>
          <a:xfrm>
            <a:off x="896112" y="4727448"/>
            <a:ext cx="2036141" cy="502920"/>
          </a:xfrm>
          <a:prstGeom prst="rect">
            <a:avLst/>
          </a:prstGeom>
          <a:noFill/>
        </p:spPr>
        <p:txBody>
          <a:bodyPr wrap="square" lIns="0" rIns="0" tIns="0" bIns="0" anchor="t">
            <a:spAutoFit/>
          </a:bodyPr>
          <a:lstStyle/>
          <a:p>
            <a:pPr algn="l"/>
            <a:r>
              <a:rPr sz="1050" b="0" i="0">
                <a:solidFill>
                  <a:srgbClr val="5B5F77"/>
                </a:solidFill>
                <a:latin typeface="Calibri"/>
              </a:rPr>
              <a:t>Say the command, then do it. A red border and a “Teaching” pill while it watches.</a:t>
            </a:r>
          </a:p>
        </p:txBody>
      </p:sp>
      <p:sp>
        <p:nvSpPr>
          <p:cNvPr id="127" name="Rounded Rectangle 126"/>
          <p:cNvSpPr/>
          <p:nvPr/>
        </p:nvSpPr>
        <p:spPr>
          <a:xfrm>
            <a:off x="3032837" y="1399032"/>
            <a:ext cx="1804105" cy="2871216"/>
          </a:xfrm>
          <a:prstGeom prst="roundRect">
            <a:avLst>
              <a:gd name="adj" fmla="val 11150"/>
            </a:avLst>
          </a:prstGeom>
          <a:solidFill>
            <a:srgbClr val="14142B"/>
          </a:solidFill>
          <a:ln>
            <a:noFill/>
          </a:ln>
          <a:effectLst/>
        </p:spPr>
        <p:txBody>
          <a:bodyPr rtlCol="0" anchor="ctr"/>
          <a:lstStyle/>
          <a:p/>
        </p:txBody>
      </p:sp>
      <p:pic>
        <p:nvPicPr>
          <p:cNvPr id="128" name="Picture 127" descr="w2_learned.png"/>
          <p:cNvPicPr>
            <a:picLocks noChangeAspect="1"/>
          </p:cNvPicPr>
          <p:nvPr/>
        </p:nvPicPr>
        <p:blipFill>
          <a:blip r:embed="rId4"/>
          <a:stretch>
            <a:fillRect/>
          </a:stretch>
        </p:blipFill>
        <p:spPr>
          <a:xfrm>
            <a:off x="3096845" y="1463040"/>
            <a:ext cx="1676089" cy="2743200"/>
          </a:xfrm>
          <a:prstGeom prst="rect">
            <a:avLst/>
          </a:prstGeom>
        </p:spPr>
      </p:pic>
      <p:sp>
        <p:nvSpPr>
          <p:cNvPr id="129" name="Chevron 128"/>
          <p:cNvSpPr/>
          <p:nvPr/>
        </p:nvSpPr>
        <p:spPr>
          <a:xfrm>
            <a:off x="4943817" y="2697480"/>
            <a:ext cx="146304" cy="274320"/>
          </a:xfrm>
          <a:prstGeom prst="chevron">
            <a:avLst/>
          </a:prstGeom>
          <a:solidFill>
            <a:srgbClr val="6D28D9"/>
          </a:solidFill>
          <a:ln>
            <a:noFill/>
          </a:ln>
          <a:effectLst/>
        </p:spPr>
        <p:txBody>
          <a:bodyPr rtlCol="0" anchor="ctr"/>
          <a:lstStyle/>
          <a:p/>
        </p:txBody>
      </p:sp>
      <p:sp>
        <p:nvSpPr>
          <p:cNvPr id="130" name="Oval 129"/>
          <p:cNvSpPr/>
          <p:nvPr/>
        </p:nvSpPr>
        <p:spPr>
          <a:xfrm>
            <a:off x="3060269" y="4389120"/>
            <a:ext cx="274320" cy="274320"/>
          </a:xfrm>
          <a:prstGeom prst="ellipse">
            <a:avLst/>
          </a:prstGeom>
          <a:solidFill>
            <a:srgbClr val="6D28D9"/>
          </a:solidFill>
          <a:ln>
            <a:noFill/>
          </a:ln>
          <a:effectLst/>
        </p:spPr>
        <p:txBody>
          <a:bodyPr rtlCol="0" anchor="ctr"/>
          <a:lstStyle/>
          <a:p/>
        </p:txBody>
      </p:sp>
      <p:sp>
        <p:nvSpPr>
          <p:cNvPr id="131" name="TextBox 130"/>
          <p:cNvSpPr txBox="1"/>
          <p:nvPr/>
        </p:nvSpPr>
        <p:spPr>
          <a:xfrm>
            <a:off x="3060269" y="4389120"/>
            <a:ext cx="274320" cy="274320"/>
          </a:xfrm>
          <a:prstGeom prst="rect">
            <a:avLst/>
          </a:prstGeom>
          <a:noFill/>
        </p:spPr>
        <p:txBody>
          <a:bodyPr wrap="square" lIns="0" rIns="0" tIns="0" bIns="0" anchor="ctr">
            <a:spAutoFit/>
          </a:bodyPr>
          <a:lstStyle/>
          <a:p>
            <a:pPr algn="ctr"/>
            <a:r>
              <a:rPr sz="1200" b="1" i="0">
                <a:solidFill>
                  <a:srgbClr val="FFFFFF"/>
                </a:solidFill>
                <a:latin typeface="Arial"/>
              </a:rPr>
              <a:t>2</a:t>
            </a:r>
          </a:p>
        </p:txBody>
      </p:sp>
      <p:sp>
        <p:nvSpPr>
          <p:cNvPr id="132" name="TextBox 131"/>
          <p:cNvSpPr txBox="1"/>
          <p:nvPr/>
        </p:nvSpPr>
        <p:spPr>
          <a:xfrm>
            <a:off x="3407741" y="4389120"/>
            <a:ext cx="1889837" cy="274320"/>
          </a:xfrm>
          <a:prstGeom prst="rect">
            <a:avLst/>
          </a:prstGeom>
          <a:noFill/>
        </p:spPr>
        <p:txBody>
          <a:bodyPr wrap="square" lIns="0" rIns="0" tIns="0" bIns="0" anchor="ctr">
            <a:spAutoFit/>
          </a:bodyPr>
          <a:lstStyle/>
          <a:p>
            <a:pPr algn="l"/>
            <a:r>
              <a:rPr sz="1250" b="1" i="0">
                <a:solidFill>
                  <a:srgbClr val="14142B"/>
                </a:solidFill>
                <a:latin typeface="Arial"/>
              </a:rPr>
              <a:t>It learns the task</a:t>
            </a:r>
          </a:p>
        </p:txBody>
      </p:sp>
      <p:sp>
        <p:nvSpPr>
          <p:cNvPr id="133" name="TextBox 132"/>
          <p:cNvSpPr txBox="1"/>
          <p:nvPr/>
        </p:nvSpPr>
        <p:spPr>
          <a:xfrm>
            <a:off x="3060269" y="4727448"/>
            <a:ext cx="2036141" cy="502920"/>
          </a:xfrm>
          <a:prstGeom prst="rect">
            <a:avLst/>
          </a:prstGeom>
          <a:noFill/>
        </p:spPr>
        <p:txBody>
          <a:bodyPr wrap="square" lIns="0" rIns="0" tIns="0" bIns="0" anchor="t">
            <a:spAutoFit/>
          </a:bodyPr>
          <a:lstStyle/>
          <a:p>
            <a:pPr algn="l"/>
            <a:r>
              <a:rPr sz="1050" b="0" i="0">
                <a:solidFill>
                  <a:srgbClr val="5B5F77"/>
                </a:solidFill>
                <a:latin typeface="Calibri"/>
              </a:rPr>
              <a:t>Steps in words, your values as {slots}, the stray Veg filter tap marked “not needed”.</a:t>
            </a:r>
          </a:p>
        </p:txBody>
      </p:sp>
      <p:sp>
        <p:nvSpPr>
          <p:cNvPr id="134" name="Rounded Rectangle 133"/>
          <p:cNvSpPr/>
          <p:nvPr/>
        </p:nvSpPr>
        <p:spPr>
          <a:xfrm>
            <a:off x="5196995" y="1399032"/>
            <a:ext cx="1804105" cy="2871216"/>
          </a:xfrm>
          <a:prstGeom prst="roundRect">
            <a:avLst>
              <a:gd name="adj" fmla="val 11150"/>
            </a:avLst>
          </a:prstGeom>
          <a:solidFill>
            <a:srgbClr val="14142B"/>
          </a:solidFill>
          <a:ln>
            <a:noFill/>
          </a:ln>
          <a:effectLst/>
        </p:spPr>
        <p:txBody>
          <a:bodyPr rtlCol="0" anchor="ctr"/>
          <a:lstStyle/>
          <a:p/>
        </p:txBody>
      </p:sp>
      <p:pic>
        <p:nvPicPr>
          <p:cNvPr id="135" name="Picture 134" descr="w3_run.png"/>
          <p:cNvPicPr>
            <a:picLocks noChangeAspect="1"/>
          </p:cNvPicPr>
          <p:nvPr/>
        </p:nvPicPr>
        <p:blipFill>
          <a:blip r:embed="rId5"/>
          <a:stretch>
            <a:fillRect/>
          </a:stretch>
        </p:blipFill>
        <p:spPr>
          <a:xfrm>
            <a:off x="5261003" y="1463040"/>
            <a:ext cx="1676089" cy="2743200"/>
          </a:xfrm>
          <a:prstGeom prst="rect">
            <a:avLst/>
          </a:prstGeom>
        </p:spPr>
      </p:pic>
      <p:sp>
        <p:nvSpPr>
          <p:cNvPr id="136" name="Chevron 135"/>
          <p:cNvSpPr/>
          <p:nvPr/>
        </p:nvSpPr>
        <p:spPr>
          <a:xfrm>
            <a:off x="7107974" y="2697480"/>
            <a:ext cx="146304" cy="274320"/>
          </a:xfrm>
          <a:prstGeom prst="chevron">
            <a:avLst/>
          </a:prstGeom>
          <a:solidFill>
            <a:srgbClr val="6D28D9"/>
          </a:solidFill>
          <a:ln>
            <a:noFill/>
          </a:ln>
          <a:effectLst/>
        </p:spPr>
        <p:txBody>
          <a:bodyPr rtlCol="0" anchor="ctr"/>
          <a:lstStyle/>
          <a:p/>
        </p:txBody>
      </p:sp>
      <p:sp>
        <p:nvSpPr>
          <p:cNvPr id="137" name="Oval 136"/>
          <p:cNvSpPr/>
          <p:nvPr/>
        </p:nvSpPr>
        <p:spPr>
          <a:xfrm>
            <a:off x="5224427" y="4389120"/>
            <a:ext cx="274320" cy="274320"/>
          </a:xfrm>
          <a:prstGeom prst="ellipse">
            <a:avLst/>
          </a:prstGeom>
          <a:solidFill>
            <a:srgbClr val="6D28D9"/>
          </a:solidFill>
          <a:ln>
            <a:noFill/>
          </a:ln>
          <a:effectLst/>
        </p:spPr>
        <p:txBody>
          <a:bodyPr rtlCol="0" anchor="ctr"/>
          <a:lstStyle/>
          <a:p/>
        </p:txBody>
      </p:sp>
      <p:sp>
        <p:nvSpPr>
          <p:cNvPr id="138" name="TextBox 137"/>
          <p:cNvSpPr txBox="1"/>
          <p:nvPr/>
        </p:nvSpPr>
        <p:spPr>
          <a:xfrm>
            <a:off x="5224427" y="4389120"/>
            <a:ext cx="274320" cy="274320"/>
          </a:xfrm>
          <a:prstGeom prst="rect">
            <a:avLst/>
          </a:prstGeom>
          <a:noFill/>
        </p:spPr>
        <p:txBody>
          <a:bodyPr wrap="square" lIns="0" rIns="0" tIns="0" bIns="0" anchor="ctr">
            <a:spAutoFit/>
          </a:bodyPr>
          <a:lstStyle/>
          <a:p>
            <a:pPr algn="ctr"/>
            <a:r>
              <a:rPr sz="1200" b="1" i="0">
                <a:solidFill>
                  <a:srgbClr val="FFFFFF"/>
                </a:solidFill>
                <a:latin typeface="Arial"/>
              </a:rPr>
              <a:t>3</a:t>
            </a:r>
          </a:p>
        </p:txBody>
      </p:sp>
      <p:sp>
        <p:nvSpPr>
          <p:cNvPr id="139" name="TextBox 138"/>
          <p:cNvSpPr txBox="1"/>
          <p:nvPr/>
        </p:nvSpPr>
        <p:spPr>
          <a:xfrm>
            <a:off x="5571899" y="4389120"/>
            <a:ext cx="1889837" cy="274320"/>
          </a:xfrm>
          <a:prstGeom prst="rect">
            <a:avLst/>
          </a:prstGeom>
          <a:noFill/>
        </p:spPr>
        <p:txBody>
          <a:bodyPr wrap="square" lIns="0" rIns="0" tIns="0" bIns="0" anchor="ctr">
            <a:spAutoFit/>
          </a:bodyPr>
          <a:lstStyle/>
          <a:p>
            <a:pPr algn="l"/>
            <a:r>
              <a:rPr sz="1250" b="1" i="0">
                <a:solidFill>
                  <a:srgbClr val="14142B"/>
                </a:solidFill>
                <a:latin typeface="Arial"/>
              </a:rPr>
              <a:t>Replay by voice</a:t>
            </a:r>
          </a:p>
        </p:txBody>
      </p:sp>
      <p:sp>
        <p:nvSpPr>
          <p:cNvPr id="140" name="TextBox 139"/>
          <p:cNvSpPr txBox="1"/>
          <p:nvPr/>
        </p:nvSpPr>
        <p:spPr>
          <a:xfrm>
            <a:off x="5224427" y="4727448"/>
            <a:ext cx="2036141" cy="502920"/>
          </a:xfrm>
          <a:prstGeom prst="rect">
            <a:avLst/>
          </a:prstGeom>
          <a:noFill/>
        </p:spPr>
        <p:txBody>
          <a:bodyPr wrap="square" lIns="0" rIns="0" tIns="0" bIns="0" anchor="t">
            <a:spAutoFit/>
          </a:bodyPr>
          <a:lstStyle/>
          <a:p>
            <a:pPr algn="l"/>
            <a:r>
              <a:rPr sz="1050" b="0" i="0">
                <a:solidFill>
                  <a:srgbClr val="5B5F77"/>
                </a:solidFill>
                <a:latin typeface="Calibri"/>
              </a:rPr>
              <a:t>“Get me a margherita from dominos”: it runs the 11 steps and shows each one.</a:t>
            </a:r>
          </a:p>
        </p:txBody>
      </p:sp>
      <p:sp>
        <p:nvSpPr>
          <p:cNvPr id="141" name="Rounded Rectangle 140"/>
          <p:cNvSpPr/>
          <p:nvPr/>
        </p:nvSpPr>
        <p:spPr>
          <a:xfrm>
            <a:off x="7361152" y="1399032"/>
            <a:ext cx="1804105" cy="2871216"/>
          </a:xfrm>
          <a:prstGeom prst="roundRect">
            <a:avLst>
              <a:gd name="adj" fmla="val 11150"/>
            </a:avLst>
          </a:prstGeom>
          <a:solidFill>
            <a:srgbClr val="14142B"/>
          </a:solidFill>
          <a:ln>
            <a:noFill/>
          </a:ln>
          <a:effectLst/>
        </p:spPr>
        <p:txBody>
          <a:bodyPr rtlCol="0" anchor="ctr"/>
          <a:lstStyle/>
          <a:p/>
        </p:txBody>
      </p:sp>
      <p:pic>
        <p:nvPicPr>
          <p:cNvPr id="142" name="Picture 141" descr="w4_ask.png"/>
          <p:cNvPicPr>
            <a:picLocks noChangeAspect="1"/>
          </p:cNvPicPr>
          <p:nvPr/>
        </p:nvPicPr>
        <p:blipFill>
          <a:blip r:embed="rId6"/>
          <a:stretch>
            <a:fillRect/>
          </a:stretch>
        </p:blipFill>
        <p:spPr>
          <a:xfrm>
            <a:off x="7425160" y="1463040"/>
            <a:ext cx="1676089" cy="2743200"/>
          </a:xfrm>
          <a:prstGeom prst="rect">
            <a:avLst/>
          </a:prstGeom>
        </p:spPr>
      </p:pic>
      <p:sp>
        <p:nvSpPr>
          <p:cNvPr id="143" name="Chevron 142"/>
          <p:cNvSpPr/>
          <p:nvPr/>
        </p:nvSpPr>
        <p:spPr>
          <a:xfrm>
            <a:off x="9272132" y="2697480"/>
            <a:ext cx="146304" cy="274320"/>
          </a:xfrm>
          <a:prstGeom prst="chevron">
            <a:avLst/>
          </a:prstGeom>
          <a:solidFill>
            <a:srgbClr val="6D28D9"/>
          </a:solidFill>
          <a:ln>
            <a:noFill/>
          </a:ln>
          <a:effectLst/>
        </p:spPr>
        <p:txBody>
          <a:bodyPr rtlCol="0" anchor="ctr"/>
          <a:lstStyle/>
          <a:p/>
        </p:txBody>
      </p:sp>
      <p:sp>
        <p:nvSpPr>
          <p:cNvPr id="144" name="Oval 143"/>
          <p:cNvSpPr/>
          <p:nvPr/>
        </p:nvSpPr>
        <p:spPr>
          <a:xfrm>
            <a:off x="7388584" y="4389120"/>
            <a:ext cx="274320" cy="274320"/>
          </a:xfrm>
          <a:prstGeom prst="ellipse">
            <a:avLst/>
          </a:prstGeom>
          <a:solidFill>
            <a:srgbClr val="6D28D9"/>
          </a:solidFill>
          <a:ln>
            <a:noFill/>
          </a:ln>
          <a:effectLst/>
        </p:spPr>
        <p:txBody>
          <a:bodyPr rtlCol="0" anchor="ctr"/>
          <a:lstStyle/>
          <a:p/>
        </p:txBody>
      </p:sp>
      <p:sp>
        <p:nvSpPr>
          <p:cNvPr id="145" name="TextBox 144"/>
          <p:cNvSpPr txBox="1"/>
          <p:nvPr/>
        </p:nvSpPr>
        <p:spPr>
          <a:xfrm>
            <a:off x="7388584" y="4389120"/>
            <a:ext cx="274320" cy="274320"/>
          </a:xfrm>
          <a:prstGeom prst="rect">
            <a:avLst/>
          </a:prstGeom>
          <a:noFill/>
        </p:spPr>
        <p:txBody>
          <a:bodyPr wrap="square" lIns="0" rIns="0" tIns="0" bIns="0" anchor="ctr">
            <a:spAutoFit/>
          </a:bodyPr>
          <a:lstStyle/>
          <a:p>
            <a:pPr algn="ctr"/>
            <a:r>
              <a:rPr sz="1200" b="1" i="0">
                <a:solidFill>
                  <a:srgbClr val="FFFFFF"/>
                </a:solidFill>
                <a:latin typeface="Arial"/>
              </a:rPr>
              <a:t>4</a:t>
            </a:r>
          </a:p>
        </p:txBody>
      </p:sp>
      <p:sp>
        <p:nvSpPr>
          <p:cNvPr id="146" name="TextBox 145"/>
          <p:cNvSpPr txBox="1"/>
          <p:nvPr/>
        </p:nvSpPr>
        <p:spPr>
          <a:xfrm>
            <a:off x="7736056" y="4389120"/>
            <a:ext cx="1889837" cy="274320"/>
          </a:xfrm>
          <a:prstGeom prst="rect">
            <a:avLst/>
          </a:prstGeom>
          <a:noFill/>
        </p:spPr>
        <p:txBody>
          <a:bodyPr wrap="square" lIns="0" rIns="0" tIns="0" bIns="0" anchor="ctr">
            <a:spAutoFit/>
          </a:bodyPr>
          <a:lstStyle/>
          <a:p>
            <a:pPr algn="l"/>
            <a:r>
              <a:rPr sz="1250" b="1" i="0">
                <a:solidFill>
                  <a:srgbClr val="14142B"/>
                </a:solidFill>
                <a:latin typeface="Arial"/>
              </a:rPr>
              <a:t>Asks what’s missing</a:t>
            </a:r>
          </a:p>
        </p:txBody>
      </p:sp>
      <p:sp>
        <p:nvSpPr>
          <p:cNvPr id="147" name="TextBox 146"/>
          <p:cNvSpPr txBox="1"/>
          <p:nvPr/>
        </p:nvSpPr>
        <p:spPr>
          <a:xfrm>
            <a:off x="7388584" y="4727448"/>
            <a:ext cx="2036141" cy="502920"/>
          </a:xfrm>
          <a:prstGeom prst="rect">
            <a:avLst/>
          </a:prstGeom>
          <a:noFill/>
        </p:spPr>
        <p:txBody>
          <a:bodyPr wrap="square" lIns="0" rIns="0" tIns="0" bIns="0" anchor="t">
            <a:spAutoFit/>
          </a:bodyPr>
          <a:lstStyle/>
          <a:p>
            <a:pPr algn="l"/>
            <a:r>
              <a:rPr sz="1050" b="0" i="0">
                <a:solidFill>
                  <a:srgbClr val="5B5F77"/>
                </a:solidFill>
                <a:latin typeface="Calibri"/>
              </a:rPr>
              <a:t>No restaurant in the command? It asks at the step that needs one, then carries on.</a:t>
            </a:r>
          </a:p>
        </p:txBody>
      </p:sp>
      <p:sp>
        <p:nvSpPr>
          <p:cNvPr id="148" name="Rounded Rectangle 147"/>
          <p:cNvSpPr/>
          <p:nvPr/>
        </p:nvSpPr>
        <p:spPr>
          <a:xfrm>
            <a:off x="9525310" y="1399032"/>
            <a:ext cx="1804105" cy="2871216"/>
          </a:xfrm>
          <a:prstGeom prst="roundRect">
            <a:avLst>
              <a:gd name="adj" fmla="val 11150"/>
            </a:avLst>
          </a:prstGeom>
          <a:solidFill>
            <a:srgbClr val="14142B"/>
          </a:solidFill>
          <a:ln>
            <a:noFill/>
          </a:ln>
          <a:effectLst/>
        </p:spPr>
        <p:txBody>
          <a:bodyPr rtlCol="0" anchor="ctr"/>
          <a:lstStyle/>
          <a:p/>
        </p:txBody>
      </p:sp>
      <p:pic>
        <p:nvPicPr>
          <p:cNvPr id="149" name="Picture 148" descr="w5_done.png"/>
          <p:cNvPicPr>
            <a:picLocks noChangeAspect="1"/>
          </p:cNvPicPr>
          <p:nvPr/>
        </p:nvPicPr>
        <p:blipFill>
          <a:blip r:embed="rId7"/>
          <a:stretch>
            <a:fillRect/>
          </a:stretch>
        </p:blipFill>
        <p:spPr>
          <a:xfrm>
            <a:off x="9589318" y="1463040"/>
            <a:ext cx="1676089" cy="2743200"/>
          </a:xfrm>
          <a:prstGeom prst="rect">
            <a:avLst/>
          </a:prstGeom>
        </p:spPr>
      </p:pic>
      <p:sp>
        <p:nvSpPr>
          <p:cNvPr id="150" name="Oval 149"/>
          <p:cNvSpPr/>
          <p:nvPr/>
        </p:nvSpPr>
        <p:spPr>
          <a:xfrm>
            <a:off x="9552742" y="4389120"/>
            <a:ext cx="274320" cy="274320"/>
          </a:xfrm>
          <a:prstGeom prst="ellipse">
            <a:avLst/>
          </a:prstGeom>
          <a:solidFill>
            <a:srgbClr val="6D28D9"/>
          </a:solidFill>
          <a:ln>
            <a:noFill/>
          </a:ln>
          <a:effectLst/>
        </p:spPr>
        <p:txBody>
          <a:bodyPr rtlCol="0" anchor="ctr"/>
          <a:lstStyle/>
          <a:p/>
        </p:txBody>
      </p:sp>
      <p:sp>
        <p:nvSpPr>
          <p:cNvPr id="151" name="TextBox 150"/>
          <p:cNvSpPr txBox="1"/>
          <p:nvPr/>
        </p:nvSpPr>
        <p:spPr>
          <a:xfrm>
            <a:off x="9552742" y="4389120"/>
            <a:ext cx="274320" cy="274320"/>
          </a:xfrm>
          <a:prstGeom prst="rect">
            <a:avLst/>
          </a:prstGeom>
          <a:noFill/>
        </p:spPr>
        <p:txBody>
          <a:bodyPr wrap="square" lIns="0" rIns="0" tIns="0" bIns="0" anchor="ctr">
            <a:spAutoFit/>
          </a:bodyPr>
          <a:lstStyle/>
          <a:p>
            <a:pPr algn="ctr"/>
            <a:r>
              <a:rPr sz="1200" b="1" i="0">
                <a:solidFill>
                  <a:srgbClr val="FFFFFF"/>
                </a:solidFill>
                <a:latin typeface="Arial"/>
              </a:rPr>
              <a:t>5</a:t>
            </a:r>
          </a:p>
        </p:txBody>
      </p:sp>
      <p:sp>
        <p:nvSpPr>
          <p:cNvPr id="152" name="TextBox 151"/>
          <p:cNvSpPr txBox="1"/>
          <p:nvPr/>
        </p:nvSpPr>
        <p:spPr>
          <a:xfrm>
            <a:off x="9900214" y="4389120"/>
            <a:ext cx="1889837" cy="274320"/>
          </a:xfrm>
          <a:prstGeom prst="rect">
            <a:avLst/>
          </a:prstGeom>
          <a:noFill/>
        </p:spPr>
        <p:txBody>
          <a:bodyPr wrap="square" lIns="0" rIns="0" tIns="0" bIns="0" anchor="ctr">
            <a:spAutoFit/>
          </a:bodyPr>
          <a:lstStyle/>
          <a:p>
            <a:pPr algn="l"/>
            <a:r>
              <a:rPr sz="1250" b="1" i="0">
                <a:solidFill>
                  <a:srgbClr val="14142B"/>
                </a:solidFill>
                <a:latin typeface="Arial"/>
              </a:rPr>
              <a:t>Stops before paying</a:t>
            </a:r>
          </a:p>
        </p:txBody>
      </p:sp>
      <p:sp>
        <p:nvSpPr>
          <p:cNvPr id="153" name="TextBox 152"/>
          <p:cNvSpPr txBox="1"/>
          <p:nvPr/>
        </p:nvSpPr>
        <p:spPr>
          <a:xfrm>
            <a:off x="9552742" y="4727448"/>
            <a:ext cx="2036141" cy="502920"/>
          </a:xfrm>
          <a:prstGeom prst="rect">
            <a:avLst/>
          </a:prstGeom>
          <a:noFill/>
        </p:spPr>
        <p:txBody>
          <a:bodyPr wrap="square" lIns="0" rIns="0" tIns="0" bIns="0" anchor="t">
            <a:spAutoFit/>
          </a:bodyPr>
          <a:lstStyle/>
          <a:p>
            <a:pPr algn="l"/>
            <a:r>
              <a:rPr sz="1050" b="0" i="0">
                <a:solidFill>
                  <a:srgbClr val="5B5F77"/>
                </a:solidFill>
                <a:latin typeface="Calibri"/>
              </a:rPr>
              <a:t>At the payment page it hands back: “Your turn.” It never pays or signs in.</a:t>
            </a:r>
          </a:p>
        </p:txBody>
      </p:sp>
      <p:sp>
        <p:nvSpPr>
          <p:cNvPr id="154" name="TextBox 153"/>
          <p:cNvSpPr txBox="1"/>
          <p:nvPr/>
        </p:nvSpPr>
        <p:spPr>
          <a:xfrm>
            <a:off x="932688" y="5330952"/>
            <a:ext cx="10332720" cy="228600"/>
          </a:xfrm>
          <a:prstGeom prst="rect">
            <a:avLst/>
          </a:prstGeom>
          <a:noFill/>
        </p:spPr>
        <p:txBody>
          <a:bodyPr wrap="square" lIns="0" rIns="0" tIns="0" bIns="0" anchor="t">
            <a:spAutoFit/>
          </a:bodyPr>
          <a:lstStyle/>
          <a:p>
            <a:pPr algn="l"/>
            <a:r>
              <a:rPr sz="1000" b="1" i="0">
                <a:solidFill>
                  <a:srgbClr val="6D28D9"/>
                </a:solidFill>
                <a:latin typeface="Arial"/>
              </a:rPr>
              <a:t>SAME TASK, OTHER WORDS AND VALUES</a:t>
            </a:r>
            <a:r>
              <a:rPr sz="1000" b="0" i="0">
                <a:solidFill>
                  <a:srgbClr val="5B5F77"/>
                </a:solidFill>
                <a:latin typeface="Calibri"/>
              </a:rPr>
              <a:t>   each replayed on the phone to the checkout hand-back (eval, 30 Sep)</a:t>
            </a:r>
          </a:p>
        </p:txBody>
      </p:sp>
      <p:sp>
        <p:nvSpPr>
          <p:cNvPr id="155" name="Rounded Rectangle 154"/>
          <p:cNvSpPr/>
          <p:nvPr/>
        </p:nvSpPr>
        <p:spPr>
          <a:xfrm>
            <a:off x="932688" y="5577840"/>
            <a:ext cx="2397556" cy="365760"/>
          </a:xfrm>
          <a:prstGeom prst="roundRect">
            <a:avLst>
              <a:gd name="adj" fmla="val 50000"/>
            </a:avLst>
          </a:prstGeom>
          <a:solidFill>
            <a:srgbClr val="FFFFFF"/>
          </a:solidFill>
          <a:ln w="12700">
            <a:solidFill>
              <a:srgbClr val="D9D3F0"/>
            </a:solidFill>
          </a:ln>
          <a:effectLst/>
        </p:spPr>
        <p:txBody>
          <a:bodyPr rtlCol="0" anchor="ctr"/>
          <a:lstStyle/>
          <a:p/>
        </p:txBody>
      </p:sp>
      <p:sp>
        <p:nvSpPr>
          <p:cNvPr id="156" name="Oval 155"/>
          <p:cNvSpPr/>
          <p:nvPr/>
        </p:nvSpPr>
        <p:spPr>
          <a:xfrm>
            <a:off x="996696" y="5641848"/>
            <a:ext cx="237744" cy="237744"/>
          </a:xfrm>
          <a:prstGeom prst="ellipse">
            <a:avLst/>
          </a:prstGeom>
          <a:solidFill>
            <a:srgbClr val="6D28D9"/>
          </a:solidFill>
          <a:ln>
            <a:noFill/>
          </a:ln>
          <a:effectLst/>
        </p:spPr>
        <p:txBody>
          <a:bodyPr rtlCol="0" anchor="ctr"/>
          <a:lstStyle/>
          <a:p/>
        </p:txBody>
      </p:sp>
      <p:pic>
        <p:nvPicPr>
          <p:cNvPr id="157" name="Picture 156" descr="MdMic_FFFFFF.png"/>
          <p:cNvPicPr>
            <a:picLocks noChangeAspect="1"/>
          </p:cNvPicPr>
          <p:nvPr/>
        </p:nvPicPr>
        <p:blipFill>
          <a:blip r:embed="rId8"/>
          <a:stretch>
            <a:fillRect/>
          </a:stretch>
        </p:blipFill>
        <p:spPr>
          <a:xfrm>
            <a:off x="1044244" y="5689396"/>
            <a:ext cx="142646" cy="142646"/>
          </a:xfrm>
          <a:prstGeom prst="rect">
            <a:avLst/>
          </a:prstGeom>
        </p:spPr>
      </p:pic>
      <p:sp>
        <p:nvSpPr>
          <p:cNvPr id="158" name="TextBox 157"/>
          <p:cNvSpPr txBox="1"/>
          <p:nvPr/>
        </p:nvSpPr>
        <p:spPr>
          <a:xfrm>
            <a:off x="1371600" y="5577840"/>
            <a:ext cx="1867204" cy="365760"/>
          </a:xfrm>
          <a:prstGeom prst="rect">
            <a:avLst/>
          </a:prstGeom>
          <a:noFill/>
        </p:spPr>
        <p:txBody>
          <a:bodyPr wrap="square" lIns="0" rIns="0" tIns="0" bIns="0" anchor="ctr">
            <a:spAutoFit/>
          </a:bodyPr>
          <a:lstStyle/>
          <a:p>
            <a:pPr algn="l"/>
            <a:r>
              <a:rPr sz="1050" b="0" i="1">
                <a:solidFill>
                  <a:srgbClr val="1F2037"/>
                </a:solidFill>
                <a:latin typeface="Calibri"/>
              </a:rPr>
              <a:t>Order garlic bread from dominos</a:t>
            </a:r>
          </a:p>
        </p:txBody>
      </p:sp>
      <p:sp>
        <p:nvSpPr>
          <p:cNvPr id="159" name="Rounded Rectangle 158"/>
          <p:cNvSpPr/>
          <p:nvPr/>
        </p:nvSpPr>
        <p:spPr>
          <a:xfrm>
            <a:off x="4106570" y="5577840"/>
            <a:ext cx="2964484" cy="365760"/>
          </a:xfrm>
          <a:prstGeom prst="roundRect">
            <a:avLst>
              <a:gd name="adj" fmla="val 50000"/>
            </a:avLst>
          </a:prstGeom>
          <a:solidFill>
            <a:srgbClr val="FFFFFF"/>
          </a:solidFill>
          <a:ln w="12700">
            <a:solidFill>
              <a:srgbClr val="D9D3F0"/>
            </a:solidFill>
          </a:ln>
          <a:effectLst/>
        </p:spPr>
        <p:txBody>
          <a:bodyPr rtlCol="0" anchor="ctr"/>
          <a:lstStyle/>
          <a:p/>
        </p:txBody>
      </p:sp>
      <p:sp>
        <p:nvSpPr>
          <p:cNvPr id="160" name="Oval 159"/>
          <p:cNvSpPr/>
          <p:nvPr/>
        </p:nvSpPr>
        <p:spPr>
          <a:xfrm>
            <a:off x="4170578" y="5641848"/>
            <a:ext cx="237744" cy="237744"/>
          </a:xfrm>
          <a:prstGeom prst="ellipse">
            <a:avLst/>
          </a:prstGeom>
          <a:solidFill>
            <a:srgbClr val="6D28D9"/>
          </a:solidFill>
          <a:ln>
            <a:noFill/>
          </a:ln>
          <a:effectLst/>
        </p:spPr>
        <p:txBody>
          <a:bodyPr rtlCol="0" anchor="ctr"/>
          <a:lstStyle/>
          <a:p/>
        </p:txBody>
      </p:sp>
      <p:pic>
        <p:nvPicPr>
          <p:cNvPr id="161" name="Picture 160" descr="MdMic_FFFFFF.png"/>
          <p:cNvPicPr>
            <a:picLocks noChangeAspect="1"/>
          </p:cNvPicPr>
          <p:nvPr/>
        </p:nvPicPr>
        <p:blipFill>
          <a:blip r:embed="rId8"/>
          <a:stretch>
            <a:fillRect/>
          </a:stretch>
        </p:blipFill>
        <p:spPr>
          <a:xfrm>
            <a:off x="4218127" y="5689396"/>
            <a:ext cx="142646" cy="142646"/>
          </a:xfrm>
          <a:prstGeom prst="rect">
            <a:avLst/>
          </a:prstGeom>
        </p:spPr>
      </p:pic>
      <p:sp>
        <p:nvSpPr>
          <p:cNvPr id="162" name="TextBox 161"/>
          <p:cNvSpPr txBox="1"/>
          <p:nvPr/>
        </p:nvSpPr>
        <p:spPr>
          <a:xfrm>
            <a:off x="4545482" y="5577840"/>
            <a:ext cx="2434132" cy="365760"/>
          </a:xfrm>
          <a:prstGeom prst="rect">
            <a:avLst/>
          </a:prstGeom>
          <a:noFill/>
        </p:spPr>
        <p:txBody>
          <a:bodyPr wrap="square" lIns="0" rIns="0" tIns="0" bIns="0" anchor="ctr">
            <a:spAutoFit/>
          </a:bodyPr>
          <a:lstStyle/>
          <a:p>
            <a:pPr algn="l"/>
            <a:r>
              <a:rPr sz="1050" b="0" i="1">
                <a:solidFill>
                  <a:srgbClr val="1F2037"/>
                </a:solidFill>
                <a:latin typeface="Calibri"/>
              </a:rPr>
              <a:t>Order two Margherita pizzas from Domino’s</a:t>
            </a:r>
          </a:p>
        </p:txBody>
      </p:sp>
      <p:sp>
        <p:nvSpPr>
          <p:cNvPr id="163" name="Rounded Rectangle 162"/>
          <p:cNvSpPr/>
          <p:nvPr/>
        </p:nvSpPr>
        <p:spPr>
          <a:xfrm>
            <a:off x="7847380" y="5577840"/>
            <a:ext cx="3418027" cy="365760"/>
          </a:xfrm>
          <a:prstGeom prst="roundRect">
            <a:avLst>
              <a:gd name="adj" fmla="val 50000"/>
            </a:avLst>
          </a:prstGeom>
          <a:solidFill>
            <a:srgbClr val="FFFFFF"/>
          </a:solidFill>
          <a:ln w="12700">
            <a:solidFill>
              <a:srgbClr val="D9D3F0"/>
            </a:solidFill>
          </a:ln>
          <a:effectLst/>
        </p:spPr>
        <p:txBody>
          <a:bodyPr rtlCol="0" anchor="ctr"/>
          <a:lstStyle/>
          <a:p/>
        </p:txBody>
      </p:sp>
      <p:sp>
        <p:nvSpPr>
          <p:cNvPr id="164" name="Oval 163"/>
          <p:cNvSpPr/>
          <p:nvPr/>
        </p:nvSpPr>
        <p:spPr>
          <a:xfrm>
            <a:off x="7911388" y="5641848"/>
            <a:ext cx="237744" cy="237744"/>
          </a:xfrm>
          <a:prstGeom prst="ellipse">
            <a:avLst/>
          </a:prstGeom>
          <a:solidFill>
            <a:srgbClr val="6D28D9"/>
          </a:solidFill>
          <a:ln>
            <a:noFill/>
          </a:ln>
          <a:effectLst/>
        </p:spPr>
        <p:txBody>
          <a:bodyPr rtlCol="0" anchor="ctr"/>
          <a:lstStyle/>
          <a:p/>
        </p:txBody>
      </p:sp>
      <p:pic>
        <p:nvPicPr>
          <p:cNvPr id="165" name="Picture 164" descr="MdMic_FFFFFF.png"/>
          <p:cNvPicPr>
            <a:picLocks noChangeAspect="1"/>
          </p:cNvPicPr>
          <p:nvPr/>
        </p:nvPicPr>
        <p:blipFill>
          <a:blip r:embed="rId8"/>
          <a:stretch>
            <a:fillRect/>
          </a:stretch>
        </p:blipFill>
        <p:spPr>
          <a:xfrm>
            <a:off x="7958937" y="5689396"/>
            <a:ext cx="142646" cy="142646"/>
          </a:xfrm>
          <a:prstGeom prst="rect">
            <a:avLst/>
          </a:prstGeom>
        </p:spPr>
      </p:pic>
      <p:sp>
        <p:nvSpPr>
          <p:cNvPr id="166" name="TextBox 165"/>
          <p:cNvSpPr txBox="1"/>
          <p:nvPr/>
        </p:nvSpPr>
        <p:spPr>
          <a:xfrm>
            <a:off x="8286292" y="5577840"/>
            <a:ext cx="2887675" cy="365760"/>
          </a:xfrm>
          <a:prstGeom prst="rect">
            <a:avLst/>
          </a:prstGeom>
          <a:noFill/>
        </p:spPr>
        <p:txBody>
          <a:bodyPr wrap="square" lIns="0" rIns="0" tIns="0" bIns="0" anchor="ctr">
            <a:spAutoFit/>
          </a:bodyPr>
          <a:lstStyle/>
          <a:p>
            <a:pPr algn="l"/>
            <a:r>
              <a:rPr sz="1050" b="0" i="1">
                <a:solidFill>
                  <a:srgbClr val="1F2037"/>
                </a:solidFill>
                <a:latin typeface="Calibri"/>
              </a:rPr>
              <a:t>Order a margherita pizza from Pizza Hut on Zomato</a:t>
            </a:r>
          </a:p>
        </p:txBody>
      </p:sp>
      <p:sp>
        <p:nvSpPr>
          <p:cNvPr id="167" name="Rounded Rectangle 166"/>
          <p:cNvSpPr/>
          <p:nvPr/>
        </p:nvSpPr>
        <p:spPr>
          <a:xfrm>
            <a:off x="932688" y="6053328"/>
            <a:ext cx="10332720" cy="347472"/>
          </a:xfrm>
          <a:prstGeom prst="roundRect">
            <a:avLst>
              <a:gd name="adj" fmla="val 26315"/>
            </a:avLst>
          </a:prstGeom>
          <a:solidFill>
            <a:srgbClr val="F5F3FC"/>
          </a:solidFill>
          <a:ln>
            <a:noFill/>
          </a:ln>
          <a:effectLst/>
        </p:spPr>
        <p:txBody>
          <a:bodyPr rtlCol="0" anchor="ctr"/>
          <a:lstStyle/>
          <a:p/>
        </p:txBody>
      </p:sp>
      <p:sp>
        <p:nvSpPr>
          <p:cNvPr id="168" name="TextBox 167"/>
          <p:cNvSpPr txBox="1"/>
          <p:nvPr/>
        </p:nvSpPr>
        <p:spPr>
          <a:xfrm>
            <a:off x="1115568" y="6053328"/>
            <a:ext cx="9966960" cy="347472"/>
          </a:xfrm>
          <a:prstGeom prst="rect">
            <a:avLst/>
          </a:prstGeom>
          <a:noFill/>
        </p:spPr>
        <p:txBody>
          <a:bodyPr wrap="square" lIns="0" rIns="0" tIns="0" bIns="0" anchor="ctr">
            <a:spAutoFit/>
          </a:bodyPr>
          <a:lstStyle/>
          <a:p>
            <a:pPr algn="l"/>
            <a:r>
              <a:rPr sz="1100" b="1" i="0">
                <a:solidFill>
                  <a:srgbClr val="6D28D9"/>
                </a:solidFill>
                <a:latin typeface="Calibri"/>
              </a:rPr>
              <a:t>Demo video (≤ 5 min, one unedited take): </a:t>
            </a:r>
            <a:r>
              <a:rPr sz="1100" b="0" i="0">
                <a:solidFill>
                  <a:srgbClr val="1F2037"/>
                </a:solidFill>
                <a:latin typeface="Calibri"/>
              </a:rPr>
              <a:t>teach by voice + taps → exact replay → a paraphrase → a changed value → a question. Link in the README and the form.</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Tools and tech stack used</a:t>
            </a:r>
            <a:endParaRPr b="1">
              <a:solidFill>
                <a:srgbClr val="704EA6"/>
              </a:solidFill>
            </a:endParaRPr>
          </a:p>
        </p:txBody>
      </p:sp>
      <p:sp>
        <p:nvSpPr>
          <p:cNvPr id="126" name="Rounded Rectangle 125"/>
          <p:cNvSpPr/>
          <p:nvPr/>
        </p:nvSpPr>
        <p:spPr>
          <a:xfrm>
            <a:off x="932688" y="1600200"/>
            <a:ext cx="2432304" cy="3611880"/>
          </a:xfrm>
          <a:prstGeom prst="roundRect">
            <a:avLst>
              <a:gd name="adj" fmla="val 3007"/>
            </a:avLst>
          </a:prstGeom>
          <a:solidFill>
            <a:srgbClr val="FFFFFF"/>
          </a:solidFill>
          <a:ln w="12700">
            <a:solidFill>
              <a:srgbClr val="D9D3F0"/>
            </a:solidFill>
          </a:ln>
          <a:effectLst/>
        </p:spPr>
        <p:txBody>
          <a:bodyPr rtlCol="0" anchor="ctr"/>
          <a:lstStyle/>
          <a:p/>
        </p:txBody>
      </p:sp>
      <p:sp>
        <p:nvSpPr>
          <p:cNvPr id="127" name="Oval 126"/>
          <p:cNvSpPr/>
          <p:nvPr/>
        </p:nvSpPr>
        <p:spPr>
          <a:xfrm>
            <a:off x="1133856" y="1783080"/>
            <a:ext cx="548640" cy="548640"/>
          </a:xfrm>
          <a:prstGeom prst="ellipse">
            <a:avLst/>
          </a:prstGeom>
          <a:solidFill>
            <a:srgbClr val="14142B"/>
          </a:solidFill>
          <a:ln>
            <a:noFill/>
          </a:ln>
          <a:effectLst/>
        </p:spPr>
        <p:txBody>
          <a:bodyPr rtlCol="0" anchor="ctr"/>
          <a:lstStyle/>
          <a:p/>
        </p:txBody>
      </p:sp>
      <p:pic>
        <p:nvPicPr>
          <p:cNvPr id="128" name="Picture 127" descr="MdPhoneAndroid_FFFFFF.png"/>
          <p:cNvPicPr>
            <a:picLocks noChangeAspect="1"/>
          </p:cNvPicPr>
          <p:nvPr/>
        </p:nvPicPr>
        <p:blipFill>
          <a:blip r:embed="rId3"/>
          <a:stretch>
            <a:fillRect/>
          </a:stretch>
        </p:blipFill>
        <p:spPr>
          <a:xfrm>
            <a:off x="1254556" y="1903780"/>
            <a:ext cx="307238" cy="307238"/>
          </a:xfrm>
          <a:prstGeom prst="rect">
            <a:avLst/>
          </a:prstGeom>
        </p:spPr>
      </p:pic>
      <p:sp>
        <p:nvSpPr>
          <p:cNvPr id="129" name="TextBox 128"/>
          <p:cNvSpPr txBox="1"/>
          <p:nvPr/>
        </p:nvSpPr>
        <p:spPr>
          <a:xfrm>
            <a:off x="1801368" y="1783080"/>
            <a:ext cx="1472184" cy="548640"/>
          </a:xfrm>
          <a:prstGeom prst="rect">
            <a:avLst/>
          </a:prstGeom>
          <a:noFill/>
        </p:spPr>
        <p:txBody>
          <a:bodyPr wrap="square" lIns="0" rIns="0" tIns="0" bIns="0" anchor="ctr">
            <a:spAutoFit/>
          </a:bodyPr>
          <a:lstStyle/>
          <a:p>
            <a:pPr algn="l"/>
            <a:r>
              <a:rPr sz="1500" b="1" i="0">
                <a:solidFill>
                  <a:srgbClr val="14142B"/>
                </a:solidFill>
                <a:latin typeface="Arial"/>
              </a:rPr>
              <a:t>On the phone</a:t>
            </a:r>
          </a:p>
        </p:txBody>
      </p:sp>
      <p:sp>
        <p:nvSpPr>
          <p:cNvPr id="130" name="TextBox 129"/>
          <p:cNvSpPr txBox="1"/>
          <p:nvPr/>
        </p:nvSpPr>
        <p:spPr>
          <a:xfrm>
            <a:off x="1133856" y="2560320"/>
            <a:ext cx="2066544" cy="2560320"/>
          </a:xfrm>
          <a:prstGeom prst="rect">
            <a:avLst/>
          </a:prstGeom>
          <a:noFill/>
        </p:spPr>
        <p:txBody>
          <a:bodyPr wrap="square" lIns="0" rIns="0" tIns="0" bIns="0" anchor="t">
            <a:spAutoFit/>
          </a:bodyPr>
          <a:lstStyle/>
          <a:p>
            <a:pPr algn="l">
              <a:spcAft>
                <a:spcPts val="700"/>
              </a:spcAft>
            </a:pPr>
            <a:r>
              <a:rPr sz="1250" b="0" i="0">
                <a:solidFill>
                  <a:srgbClr val="1F2037"/>
                </a:solidFill>
                <a:latin typeface="Calibri"/>
              </a:rPr>
              <a:t>•  Kotlin</a:t>
            </a:r>
          </a:p>
          <a:p>
            <a:pPr algn="l">
              <a:spcAft>
                <a:spcPts val="700"/>
              </a:spcAft>
            </a:pPr>
            <a:r>
              <a:rPr sz="1250" b="0" i="0">
                <a:solidFill>
                  <a:srgbClr val="1F2037"/>
                </a:solidFill>
                <a:latin typeface="Calibri"/>
              </a:rPr>
              <a:t>•  AccessibilityService</a:t>
            </a:r>
          </a:p>
          <a:p>
            <a:pPr algn="l">
              <a:spcAft>
                <a:spcPts val="700"/>
              </a:spcAft>
            </a:pPr>
            <a:r>
              <a:rPr sz="1250" b="0" i="0">
                <a:solidFill>
                  <a:srgbClr val="1F2037"/>
                </a:solidFill>
                <a:latin typeface="Calibri"/>
              </a:rPr>
              <a:t>•  Accessibility overlay (tap capture)</a:t>
            </a:r>
          </a:p>
          <a:p>
            <a:pPr algn="l">
              <a:spcAft>
                <a:spcPts val="700"/>
              </a:spcAft>
            </a:pPr>
            <a:r>
              <a:rPr sz="1250" b="0" i="0">
                <a:solidFill>
                  <a:srgbClr val="1F2037"/>
                </a:solidFill>
                <a:latin typeface="Calibri"/>
              </a:rPr>
              <a:t>•  SpeechRecognizer · TextToSpeech</a:t>
            </a:r>
          </a:p>
          <a:p>
            <a:pPr algn="l">
              <a:spcAft>
                <a:spcPts val="700"/>
              </a:spcAft>
            </a:pPr>
            <a:r>
              <a:rPr sz="1250" b="0" i="0">
                <a:solidFill>
                  <a:srgbClr val="1F2037"/>
                </a:solidFill>
                <a:latin typeface="Calibri"/>
              </a:rPr>
              <a:t>•  JSON recipes and run log</a:t>
            </a:r>
          </a:p>
          <a:p>
            <a:pPr algn="l">
              <a:spcAft>
                <a:spcPts val="700"/>
              </a:spcAft>
            </a:pPr>
            <a:r>
              <a:rPr sz="1250" b="0" i="0">
                <a:solidFill>
                  <a:srgbClr val="1F2037"/>
                </a:solidFill>
                <a:latin typeface="Calibri"/>
              </a:rPr>
              <a:t>•  Android 9+ · target SDK 35</a:t>
            </a:r>
          </a:p>
        </p:txBody>
      </p:sp>
      <p:sp>
        <p:nvSpPr>
          <p:cNvPr id="131" name="Rounded Rectangle 130"/>
          <p:cNvSpPr/>
          <p:nvPr/>
        </p:nvSpPr>
        <p:spPr>
          <a:xfrm>
            <a:off x="3566160" y="1600200"/>
            <a:ext cx="2432304" cy="3611880"/>
          </a:xfrm>
          <a:prstGeom prst="roundRect">
            <a:avLst>
              <a:gd name="adj" fmla="val 3007"/>
            </a:avLst>
          </a:prstGeom>
          <a:solidFill>
            <a:srgbClr val="FFFFFF"/>
          </a:solidFill>
          <a:ln w="12700">
            <a:solidFill>
              <a:srgbClr val="D9D3F0"/>
            </a:solidFill>
          </a:ln>
          <a:effectLst/>
        </p:spPr>
        <p:txBody>
          <a:bodyPr rtlCol="0" anchor="ctr"/>
          <a:lstStyle/>
          <a:p/>
        </p:txBody>
      </p:sp>
      <p:sp>
        <p:nvSpPr>
          <p:cNvPr id="132" name="Oval 131"/>
          <p:cNvSpPr/>
          <p:nvPr/>
        </p:nvSpPr>
        <p:spPr>
          <a:xfrm>
            <a:off x="3767328" y="1783080"/>
            <a:ext cx="548640" cy="548640"/>
          </a:xfrm>
          <a:prstGeom prst="ellipse">
            <a:avLst/>
          </a:prstGeom>
          <a:solidFill>
            <a:srgbClr val="6D28D9"/>
          </a:solidFill>
          <a:ln>
            <a:noFill/>
          </a:ln>
          <a:effectLst/>
        </p:spPr>
        <p:txBody>
          <a:bodyPr rtlCol="0" anchor="ctr"/>
          <a:lstStyle/>
          <a:p/>
        </p:txBody>
      </p:sp>
      <p:pic>
        <p:nvPicPr>
          <p:cNvPr id="133" name="Picture 132" descr="MdCloudQueue_FFFFFF.png"/>
          <p:cNvPicPr>
            <a:picLocks noChangeAspect="1"/>
          </p:cNvPicPr>
          <p:nvPr/>
        </p:nvPicPr>
        <p:blipFill>
          <a:blip r:embed="rId4"/>
          <a:stretch>
            <a:fillRect/>
          </a:stretch>
        </p:blipFill>
        <p:spPr>
          <a:xfrm>
            <a:off x="3888028" y="1903780"/>
            <a:ext cx="307238" cy="307238"/>
          </a:xfrm>
          <a:prstGeom prst="rect">
            <a:avLst/>
          </a:prstGeom>
        </p:spPr>
      </p:pic>
      <p:sp>
        <p:nvSpPr>
          <p:cNvPr id="134" name="TextBox 133"/>
          <p:cNvSpPr txBox="1"/>
          <p:nvPr/>
        </p:nvSpPr>
        <p:spPr>
          <a:xfrm>
            <a:off x="4434840" y="1783080"/>
            <a:ext cx="1472184" cy="548640"/>
          </a:xfrm>
          <a:prstGeom prst="rect">
            <a:avLst/>
          </a:prstGeom>
          <a:noFill/>
        </p:spPr>
        <p:txBody>
          <a:bodyPr wrap="square" lIns="0" rIns="0" tIns="0" bIns="0" anchor="ctr">
            <a:spAutoFit/>
          </a:bodyPr>
          <a:lstStyle/>
          <a:p>
            <a:pPr algn="l"/>
            <a:r>
              <a:rPr sz="1500" b="1" i="0">
                <a:solidFill>
                  <a:srgbClr val="14142B"/>
                </a:solidFill>
                <a:latin typeface="Arial"/>
              </a:rPr>
              <a:t>AI model</a:t>
            </a:r>
          </a:p>
        </p:txBody>
      </p:sp>
      <p:sp>
        <p:nvSpPr>
          <p:cNvPr id="135" name="TextBox 134"/>
          <p:cNvSpPr txBox="1"/>
          <p:nvPr/>
        </p:nvSpPr>
        <p:spPr>
          <a:xfrm>
            <a:off x="3767328" y="2560320"/>
            <a:ext cx="2066544" cy="2560320"/>
          </a:xfrm>
          <a:prstGeom prst="rect">
            <a:avLst/>
          </a:prstGeom>
          <a:noFill/>
        </p:spPr>
        <p:txBody>
          <a:bodyPr wrap="square" lIns="0" rIns="0" tIns="0" bIns="0" anchor="t">
            <a:spAutoFit/>
          </a:bodyPr>
          <a:lstStyle/>
          <a:p>
            <a:pPr algn="l">
              <a:spcAft>
                <a:spcPts val="700"/>
              </a:spcAft>
            </a:pPr>
            <a:r>
              <a:rPr sz="1250" b="0" i="0">
                <a:solidFill>
                  <a:srgbClr val="1F2037"/>
                </a:solidFill>
                <a:latin typeface="Calibri"/>
              </a:rPr>
              <a:t>•  Fireworks AI</a:t>
            </a:r>
          </a:p>
          <a:p>
            <a:pPr algn="l">
              <a:spcAft>
                <a:spcPts val="700"/>
              </a:spcAft>
            </a:pPr>
            <a:r>
              <a:rPr sz="1250" b="0" i="0">
                <a:solidFill>
                  <a:srgbClr val="1F2037"/>
                </a:solidFill>
                <a:latin typeface="Calibri"/>
              </a:rPr>
              <a:t>•  gpt-oss-120b, low reasoning effort</a:t>
            </a:r>
          </a:p>
          <a:p>
            <a:pPr algn="l">
              <a:spcAft>
                <a:spcPts val="700"/>
              </a:spcAft>
            </a:pPr>
            <a:r>
              <a:rPr sz="1250" b="0" i="0">
                <a:solidFill>
                  <a:srgbClr val="1F2037"/>
                </a:solidFill>
                <a:latin typeface="Calibri"/>
              </a:rPr>
              <a:t>•  JSON-only prompts: match, act, refine</a:t>
            </a:r>
          </a:p>
          <a:p>
            <a:pPr algn="l">
              <a:spcAft>
                <a:spcPts val="700"/>
              </a:spcAft>
            </a:pPr>
            <a:r>
              <a:rPr sz="1250" b="0" i="0">
                <a:solidFill>
                  <a:srgbClr val="1F2037"/>
                </a:solidFill>
                <a:latin typeface="Calibri"/>
              </a:rPr>
              <a:t>•  Hard timeout per call</a:t>
            </a:r>
          </a:p>
          <a:p>
            <a:pPr algn="l">
              <a:spcAft>
                <a:spcPts val="700"/>
              </a:spcAft>
            </a:pPr>
            <a:r>
              <a:rPr sz="1250" b="0" i="0">
                <a:solidFill>
                  <a:srgbClr val="1F2037"/>
                </a:solidFill>
                <a:latin typeface="Calibri"/>
              </a:rPr>
              <a:t>•  Separate spend-limited key in the APK</a:t>
            </a:r>
          </a:p>
        </p:txBody>
      </p:sp>
      <p:sp>
        <p:nvSpPr>
          <p:cNvPr id="136" name="Rounded Rectangle 135"/>
          <p:cNvSpPr/>
          <p:nvPr/>
        </p:nvSpPr>
        <p:spPr>
          <a:xfrm>
            <a:off x="6199632" y="1600200"/>
            <a:ext cx="2432304" cy="3611880"/>
          </a:xfrm>
          <a:prstGeom prst="roundRect">
            <a:avLst>
              <a:gd name="adj" fmla="val 3007"/>
            </a:avLst>
          </a:prstGeom>
          <a:solidFill>
            <a:srgbClr val="FFFFFF"/>
          </a:solidFill>
          <a:ln w="12700">
            <a:solidFill>
              <a:srgbClr val="D9D3F0"/>
            </a:solidFill>
          </a:ln>
          <a:effectLst/>
        </p:spPr>
        <p:txBody>
          <a:bodyPr rtlCol="0" anchor="ctr"/>
          <a:lstStyle/>
          <a:p/>
        </p:txBody>
      </p:sp>
      <p:sp>
        <p:nvSpPr>
          <p:cNvPr id="137" name="Oval 136"/>
          <p:cNvSpPr/>
          <p:nvPr/>
        </p:nvSpPr>
        <p:spPr>
          <a:xfrm>
            <a:off x="6400800" y="1783080"/>
            <a:ext cx="548640" cy="548640"/>
          </a:xfrm>
          <a:prstGeom prst="ellipse">
            <a:avLst/>
          </a:prstGeom>
          <a:solidFill>
            <a:srgbClr val="14142B"/>
          </a:solidFill>
          <a:ln>
            <a:noFill/>
          </a:ln>
          <a:effectLst/>
        </p:spPr>
        <p:txBody>
          <a:bodyPr rtlCol="0" anchor="ctr"/>
          <a:lstStyle/>
          <a:p/>
        </p:txBody>
      </p:sp>
      <p:pic>
        <p:nvPicPr>
          <p:cNvPr id="138" name="Picture 137" descr="MdCode_FFFFFF.png"/>
          <p:cNvPicPr>
            <a:picLocks noChangeAspect="1"/>
          </p:cNvPicPr>
          <p:nvPr/>
        </p:nvPicPr>
        <p:blipFill>
          <a:blip r:embed="rId5"/>
          <a:stretch>
            <a:fillRect/>
          </a:stretch>
        </p:blipFill>
        <p:spPr>
          <a:xfrm>
            <a:off x="6521500" y="1903780"/>
            <a:ext cx="307238" cy="307238"/>
          </a:xfrm>
          <a:prstGeom prst="rect">
            <a:avLst/>
          </a:prstGeom>
        </p:spPr>
      </p:pic>
      <p:sp>
        <p:nvSpPr>
          <p:cNvPr id="139" name="TextBox 138"/>
          <p:cNvSpPr txBox="1"/>
          <p:nvPr/>
        </p:nvSpPr>
        <p:spPr>
          <a:xfrm>
            <a:off x="7068312" y="1783080"/>
            <a:ext cx="1472184" cy="548640"/>
          </a:xfrm>
          <a:prstGeom prst="rect">
            <a:avLst/>
          </a:prstGeom>
          <a:noFill/>
        </p:spPr>
        <p:txBody>
          <a:bodyPr wrap="square" lIns="0" rIns="0" tIns="0" bIns="0" anchor="ctr">
            <a:spAutoFit/>
          </a:bodyPr>
          <a:lstStyle/>
          <a:p>
            <a:pPr algn="l"/>
            <a:r>
              <a:rPr sz="1500" b="1" i="0">
                <a:solidFill>
                  <a:srgbClr val="14142B"/>
                </a:solidFill>
                <a:latin typeface="Arial"/>
              </a:rPr>
              <a:t>Build</a:t>
            </a:r>
          </a:p>
        </p:txBody>
      </p:sp>
      <p:sp>
        <p:nvSpPr>
          <p:cNvPr id="140" name="TextBox 139"/>
          <p:cNvSpPr txBox="1"/>
          <p:nvPr/>
        </p:nvSpPr>
        <p:spPr>
          <a:xfrm>
            <a:off x="6400800" y="2560320"/>
            <a:ext cx="2066544" cy="2560320"/>
          </a:xfrm>
          <a:prstGeom prst="rect">
            <a:avLst/>
          </a:prstGeom>
          <a:noFill/>
        </p:spPr>
        <p:txBody>
          <a:bodyPr wrap="square" lIns="0" rIns="0" tIns="0" bIns="0" anchor="t">
            <a:spAutoFit/>
          </a:bodyPr>
          <a:lstStyle/>
          <a:p>
            <a:pPr algn="l">
              <a:spcAft>
                <a:spcPts val="700"/>
              </a:spcAft>
            </a:pPr>
            <a:r>
              <a:rPr sz="1250" b="0" i="0">
                <a:solidFill>
                  <a:srgbClr val="1F2037"/>
                </a:solidFill>
                <a:latin typeface="Calibri"/>
              </a:rPr>
              <a:t>•  Gradle (Android SDK 35)</a:t>
            </a:r>
          </a:p>
          <a:p>
            <a:pPr algn="l">
              <a:spcAft>
                <a:spcPts val="700"/>
              </a:spcAft>
            </a:pPr>
            <a:r>
              <a:rPr sz="1250" b="0" i="0">
                <a:solidFill>
                  <a:srgbClr val="1F2037"/>
                </a:solidFill>
                <a:latin typeface="Calibri"/>
              </a:rPr>
              <a:t>•  Dockerfile builds the APK</a:t>
            </a:r>
          </a:p>
          <a:p>
            <a:pPr algn="l">
              <a:spcAft>
                <a:spcPts val="700"/>
              </a:spcAft>
            </a:pPr>
            <a:r>
              <a:rPr sz="1250" b="0" i="0">
                <a:solidFill>
                  <a:srgbClr val="1F2037"/>
                </a:solidFill>
                <a:latin typeface="Calibri"/>
              </a:rPr>
              <a:t>•  Keys kept out of git</a:t>
            </a:r>
          </a:p>
          <a:p>
            <a:pPr algn="l">
              <a:spcAft>
                <a:spcPts val="700"/>
              </a:spcAft>
            </a:pPr>
            <a:r>
              <a:rPr sz="1250" b="0" i="0">
                <a:solidFill>
                  <a:srgbClr val="1F2037"/>
                </a:solidFill>
                <a:latin typeface="Calibri"/>
              </a:rPr>
              <a:t>•  Release APK on GitHub</a:t>
            </a:r>
          </a:p>
        </p:txBody>
      </p:sp>
      <p:sp>
        <p:nvSpPr>
          <p:cNvPr id="141" name="Rounded Rectangle 140"/>
          <p:cNvSpPr/>
          <p:nvPr/>
        </p:nvSpPr>
        <p:spPr>
          <a:xfrm>
            <a:off x="8833104" y="1600200"/>
            <a:ext cx="2432304" cy="3611880"/>
          </a:xfrm>
          <a:prstGeom prst="roundRect">
            <a:avLst>
              <a:gd name="adj" fmla="val 3007"/>
            </a:avLst>
          </a:prstGeom>
          <a:solidFill>
            <a:srgbClr val="FFFFFF"/>
          </a:solidFill>
          <a:ln w="12700">
            <a:solidFill>
              <a:srgbClr val="D9D3F0"/>
            </a:solidFill>
          </a:ln>
          <a:effectLst/>
        </p:spPr>
        <p:txBody>
          <a:bodyPr rtlCol="0" anchor="ctr"/>
          <a:lstStyle/>
          <a:p/>
        </p:txBody>
      </p:sp>
      <p:sp>
        <p:nvSpPr>
          <p:cNvPr id="142" name="Oval 141"/>
          <p:cNvSpPr/>
          <p:nvPr/>
        </p:nvSpPr>
        <p:spPr>
          <a:xfrm>
            <a:off x="9034272" y="1783080"/>
            <a:ext cx="548640" cy="548640"/>
          </a:xfrm>
          <a:prstGeom prst="ellipse">
            <a:avLst/>
          </a:prstGeom>
          <a:solidFill>
            <a:srgbClr val="0E9F6E"/>
          </a:solidFill>
          <a:ln>
            <a:noFill/>
          </a:ln>
          <a:effectLst/>
        </p:spPr>
        <p:txBody>
          <a:bodyPr rtlCol="0" anchor="ctr"/>
          <a:lstStyle/>
          <a:p/>
        </p:txBody>
      </p:sp>
      <p:pic>
        <p:nvPicPr>
          <p:cNvPr id="143" name="Picture 142" descr="MdScience_FFFFFF.png"/>
          <p:cNvPicPr>
            <a:picLocks noChangeAspect="1"/>
          </p:cNvPicPr>
          <p:nvPr/>
        </p:nvPicPr>
        <p:blipFill>
          <a:blip r:embed="rId6"/>
          <a:stretch>
            <a:fillRect/>
          </a:stretch>
        </p:blipFill>
        <p:spPr>
          <a:xfrm>
            <a:off x="9154972" y="1903780"/>
            <a:ext cx="307238" cy="307238"/>
          </a:xfrm>
          <a:prstGeom prst="rect">
            <a:avLst/>
          </a:prstGeom>
        </p:spPr>
      </p:pic>
      <p:sp>
        <p:nvSpPr>
          <p:cNvPr id="144" name="TextBox 143"/>
          <p:cNvSpPr txBox="1"/>
          <p:nvPr/>
        </p:nvSpPr>
        <p:spPr>
          <a:xfrm>
            <a:off x="9701784" y="1783080"/>
            <a:ext cx="1472184" cy="548640"/>
          </a:xfrm>
          <a:prstGeom prst="rect">
            <a:avLst/>
          </a:prstGeom>
          <a:noFill/>
        </p:spPr>
        <p:txBody>
          <a:bodyPr wrap="square" lIns="0" rIns="0" tIns="0" bIns="0" anchor="ctr">
            <a:spAutoFit/>
          </a:bodyPr>
          <a:lstStyle/>
          <a:p>
            <a:pPr algn="l"/>
            <a:r>
              <a:rPr sz="1500" b="1" i="0">
                <a:solidFill>
                  <a:srgbClr val="14142B"/>
                </a:solidFill>
                <a:latin typeface="Arial"/>
              </a:rPr>
              <a:t>Testing</a:t>
            </a:r>
          </a:p>
        </p:txBody>
      </p:sp>
      <p:sp>
        <p:nvSpPr>
          <p:cNvPr id="145" name="TextBox 144"/>
          <p:cNvSpPr txBox="1"/>
          <p:nvPr/>
        </p:nvSpPr>
        <p:spPr>
          <a:xfrm>
            <a:off x="9034272" y="2560320"/>
            <a:ext cx="2066544" cy="2560320"/>
          </a:xfrm>
          <a:prstGeom prst="rect">
            <a:avLst/>
          </a:prstGeom>
          <a:noFill/>
        </p:spPr>
        <p:txBody>
          <a:bodyPr wrap="square" lIns="0" rIns="0" tIns="0" bIns="0" anchor="t">
            <a:spAutoFit/>
          </a:bodyPr>
          <a:lstStyle/>
          <a:p>
            <a:pPr algn="l">
              <a:spcAft>
                <a:spcPts val="700"/>
              </a:spcAft>
            </a:pPr>
            <a:r>
              <a:rPr sz="1250" b="0" i="0">
                <a:solidFill>
                  <a:srgbClr val="1F2037"/>
                </a:solidFill>
                <a:latin typeface="Calibri"/>
              </a:rPr>
              <a:t>•  adb benches: cold start, repeat runs</a:t>
            </a:r>
          </a:p>
          <a:p>
            <a:pPr algn="l">
              <a:spcAft>
                <a:spcPts val="700"/>
              </a:spcAft>
            </a:pPr>
            <a:r>
              <a:rPr sz="1250" b="0" i="0">
                <a:solidFill>
                  <a:srgbClr val="1F2037"/>
                </a:solidFill>
                <a:latin typeface="Calibri"/>
              </a:rPr>
              <a:t>•  Auto-answer for spoken questions</a:t>
            </a:r>
          </a:p>
          <a:p>
            <a:pPr algn="l">
              <a:spcAft>
                <a:spcPts val="700"/>
              </a:spcAft>
            </a:pPr>
            <a:r>
              <a:rPr sz="1250" b="0" i="0">
                <a:solidFill>
                  <a:srgbClr val="1F2037"/>
                </a:solidFill>
                <a:latin typeface="Calibri"/>
              </a:rPr>
              <a:t>•  Python eval of command matching</a:t>
            </a:r>
          </a:p>
          <a:p>
            <a:pPr algn="l">
              <a:spcAft>
                <a:spcPts val="700"/>
              </a:spcAft>
            </a:pPr>
            <a:r>
              <a:rPr sz="1250" b="0" i="0">
                <a:solidFill>
                  <a:srgbClr val="1F2037"/>
                </a:solidFill>
                <a:latin typeface="Calibri"/>
              </a:rPr>
              <a:t>•  Screen dumps on every failure</a:t>
            </a:r>
          </a:p>
        </p:txBody>
      </p:sp>
      <p:sp>
        <p:nvSpPr>
          <p:cNvPr id="146" name="TextBox 145"/>
          <p:cNvSpPr txBox="1"/>
          <p:nvPr/>
        </p:nvSpPr>
        <p:spPr>
          <a:xfrm>
            <a:off x="932688" y="5440680"/>
            <a:ext cx="2432304" cy="457200"/>
          </a:xfrm>
          <a:prstGeom prst="rect">
            <a:avLst/>
          </a:prstGeom>
          <a:noFill/>
        </p:spPr>
        <p:txBody>
          <a:bodyPr wrap="square" lIns="0" rIns="0" tIns="0" bIns="0" anchor="ctr">
            <a:spAutoFit/>
          </a:bodyPr>
          <a:lstStyle/>
          <a:p>
            <a:pPr algn="l"/>
            <a:r>
              <a:rPr sz="2200" b="1" i="0">
                <a:solidFill>
                  <a:srgbClr val="6D28D9"/>
                </a:solidFill>
                <a:latin typeface="Arial"/>
              </a:rPr>
              <a:t>~4,300  </a:t>
            </a:r>
            <a:r>
              <a:rPr sz="1250" b="0" i="0">
                <a:solidFill>
                  <a:srgbClr val="5B5F77"/>
                </a:solidFill>
                <a:latin typeface="Calibri"/>
              </a:rPr>
              <a:t>lines of Kotlin, 17 files</a:t>
            </a:r>
          </a:p>
        </p:txBody>
      </p:sp>
      <p:sp>
        <p:nvSpPr>
          <p:cNvPr id="147" name="TextBox 146"/>
          <p:cNvSpPr txBox="1"/>
          <p:nvPr/>
        </p:nvSpPr>
        <p:spPr>
          <a:xfrm>
            <a:off x="3566160" y="5440680"/>
            <a:ext cx="2432304" cy="457200"/>
          </a:xfrm>
          <a:prstGeom prst="rect">
            <a:avLst/>
          </a:prstGeom>
          <a:noFill/>
        </p:spPr>
        <p:txBody>
          <a:bodyPr wrap="square" lIns="0" rIns="0" tIns="0" bIns="0" anchor="ctr">
            <a:spAutoFit/>
          </a:bodyPr>
          <a:lstStyle/>
          <a:p>
            <a:pPr algn="l"/>
            <a:r>
              <a:rPr sz="2200" b="1" i="0">
                <a:solidFill>
                  <a:srgbClr val="6D28D9"/>
                </a:solidFill>
                <a:latin typeface="Arial"/>
              </a:rPr>
              <a:t>1  </a:t>
            </a:r>
            <a:r>
              <a:rPr sz="1250" b="0" i="0">
                <a:solidFill>
                  <a:srgbClr val="5B5F77"/>
                </a:solidFill>
                <a:latin typeface="Calibri"/>
              </a:rPr>
              <a:t>library: Kotlin coroutines</a:t>
            </a:r>
          </a:p>
        </p:txBody>
      </p:sp>
      <p:sp>
        <p:nvSpPr>
          <p:cNvPr id="148" name="TextBox 147"/>
          <p:cNvSpPr txBox="1"/>
          <p:nvPr/>
        </p:nvSpPr>
        <p:spPr>
          <a:xfrm>
            <a:off x="6199632" y="5440680"/>
            <a:ext cx="2432304" cy="457200"/>
          </a:xfrm>
          <a:prstGeom prst="rect">
            <a:avLst/>
          </a:prstGeom>
          <a:noFill/>
        </p:spPr>
        <p:txBody>
          <a:bodyPr wrap="square" lIns="0" rIns="0" tIns="0" bIns="0" anchor="ctr">
            <a:spAutoFit/>
          </a:bodyPr>
          <a:lstStyle/>
          <a:p>
            <a:pPr algn="l"/>
            <a:r>
              <a:rPr sz="2200" b="1" i="0">
                <a:solidFill>
                  <a:srgbClr val="6D28D9"/>
                </a:solidFill>
                <a:latin typeface="Arial"/>
              </a:rPr>
              <a:t>3.5 MB  </a:t>
            </a:r>
            <a:r>
              <a:rPr sz="1250" b="0" i="0">
                <a:solidFill>
                  <a:srgbClr val="5B5F77"/>
                </a:solidFill>
                <a:latin typeface="Calibri"/>
              </a:rPr>
              <a:t>release APK</a:t>
            </a:r>
          </a:p>
        </p:txBody>
      </p:sp>
      <p:sp>
        <p:nvSpPr>
          <p:cNvPr id="149" name="TextBox 148"/>
          <p:cNvSpPr txBox="1"/>
          <p:nvPr/>
        </p:nvSpPr>
        <p:spPr>
          <a:xfrm>
            <a:off x="8833104" y="5440680"/>
            <a:ext cx="2432304" cy="457200"/>
          </a:xfrm>
          <a:prstGeom prst="rect">
            <a:avLst/>
          </a:prstGeom>
          <a:noFill/>
        </p:spPr>
        <p:txBody>
          <a:bodyPr wrap="square" lIns="0" rIns="0" tIns="0" bIns="0" anchor="ctr">
            <a:spAutoFit/>
          </a:bodyPr>
          <a:lstStyle/>
          <a:p>
            <a:pPr algn="l"/>
            <a:r>
              <a:rPr sz="2200" b="1" i="0">
                <a:solidFill>
                  <a:srgbClr val="6D28D9"/>
                </a:solidFill>
                <a:latin typeface="Arial"/>
              </a:rPr>
              <a:t>0  </a:t>
            </a:r>
            <a:r>
              <a:rPr sz="1250" b="0" i="0">
                <a:solidFill>
                  <a:srgbClr val="5B5F77"/>
                </a:solidFill>
                <a:latin typeface="Calibri"/>
              </a:rPr>
              <a:t>app SDKs, deep links or root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32" name="Rounded Rectangle 131"/>
          <p:cNvSpPr/>
          <p:nvPr/>
        </p:nvSpPr>
        <p:spPr>
          <a:xfrm>
            <a:off x="932688" y="1600200"/>
            <a:ext cx="3566160" cy="4526280"/>
          </a:xfrm>
          <a:prstGeom prst="roundRect">
            <a:avLst>
              <a:gd name="adj" fmla="val 2051"/>
            </a:avLst>
          </a:prstGeom>
          <a:solidFill>
            <a:srgbClr val="14142B"/>
          </a:solidFill>
          <a:ln>
            <a:noFill/>
          </a:ln>
          <a:effectLst/>
        </p:spPr>
        <p:txBody>
          <a:bodyPr rtlCol="0" anchor="ctr"/>
          <a:lstStyle/>
          <a:p/>
        </p:txBody>
      </p:sp>
      <p:sp>
        <p:nvSpPr>
          <p:cNvPr id="133" name="TextBox 132"/>
          <p:cNvSpPr txBox="1"/>
          <p:nvPr/>
        </p:nvSpPr>
        <p:spPr>
          <a:xfrm>
            <a:off x="1207008" y="1810512"/>
            <a:ext cx="3108960" cy="274320"/>
          </a:xfrm>
          <a:prstGeom prst="rect">
            <a:avLst/>
          </a:prstGeom>
          <a:noFill/>
        </p:spPr>
        <p:txBody>
          <a:bodyPr wrap="square" lIns="0" rIns="0" tIns="0" bIns="0" anchor="t">
            <a:spAutoFit/>
          </a:bodyPr>
          <a:lstStyle/>
          <a:p>
            <a:pPr algn="l"/>
            <a:r>
              <a:rPr sz="1100" b="1" i="0">
                <a:solidFill>
                  <a:srgbClr val="C4B5FD"/>
                </a:solidFill>
                <a:latin typeface="Arial"/>
              </a:rPr>
              <a:t>ONE ZOMATO ORDER</a:t>
            </a:r>
          </a:p>
        </p:txBody>
      </p:sp>
      <p:sp>
        <p:nvSpPr>
          <p:cNvPr id="134" name="TextBox 133"/>
          <p:cNvSpPr txBox="1"/>
          <p:nvPr/>
        </p:nvSpPr>
        <p:spPr>
          <a:xfrm>
            <a:off x="1207008" y="2148840"/>
            <a:ext cx="3108960" cy="914400"/>
          </a:xfrm>
          <a:prstGeom prst="rect">
            <a:avLst/>
          </a:prstGeom>
          <a:noFill/>
        </p:spPr>
        <p:txBody>
          <a:bodyPr wrap="square" lIns="0" rIns="0" tIns="0" bIns="0" anchor="t">
            <a:spAutoFit/>
          </a:bodyPr>
          <a:lstStyle/>
          <a:p>
            <a:pPr algn="l"/>
            <a:r>
              <a:rPr sz="3800" b="1" i="0">
                <a:solidFill>
                  <a:srgbClr val="FFFFFF"/>
                </a:solidFill>
                <a:latin typeface="Arial"/>
              </a:rPr>
              <a:t>11 steps</a:t>
            </a:r>
          </a:p>
        </p:txBody>
      </p:sp>
      <p:sp>
        <p:nvSpPr>
          <p:cNvPr id="135" name="TextBox 134"/>
          <p:cNvSpPr txBox="1"/>
          <p:nvPr/>
        </p:nvSpPr>
        <p:spPr>
          <a:xfrm>
            <a:off x="1207008" y="2971800"/>
            <a:ext cx="3108960" cy="457200"/>
          </a:xfrm>
          <a:prstGeom prst="rect">
            <a:avLst/>
          </a:prstGeom>
          <a:noFill/>
        </p:spPr>
        <p:txBody>
          <a:bodyPr wrap="square" lIns="0" rIns="0" tIns="0" bIns="0" anchor="t">
            <a:spAutoFit/>
          </a:bodyPr>
          <a:lstStyle/>
          <a:p>
            <a:pPr algn="l"/>
            <a:r>
              <a:rPr sz="2200" b="1" i="0">
                <a:solidFill>
                  <a:srgbClr val="C4B5FD"/>
                </a:solidFill>
                <a:latin typeface="Arial"/>
              </a:rPr>
              <a:t>→ one sentence</a:t>
            </a:r>
          </a:p>
        </p:txBody>
      </p:sp>
      <p:sp>
        <p:nvSpPr>
          <p:cNvPr id="136" name="TextBox 135"/>
          <p:cNvSpPr txBox="1"/>
          <p:nvPr/>
        </p:nvSpPr>
        <p:spPr>
          <a:xfrm>
            <a:off x="1207008" y="3611880"/>
            <a:ext cx="3063240" cy="1463040"/>
          </a:xfrm>
          <a:prstGeom prst="rect">
            <a:avLst/>
          </a:prstGeom>
          <a:noFill/>
        </p:spPr>
        <p:txBody>
          <a:bodyPr wrap="square" lIns="0" rIns="0" tIns="0" bIns="0" anchor="t">
            <a:spAutoFit/>
          </a:bodyPr>
          <a:lstStyle/>
          <a:p>
            <a:pPr algn="l"/>
            <a:r>
              <a:rPr sz="1350" b="0" i="0">
                <a:solidFill>
                  <a:srgbClr val="D9D3F0"/>
                </a:solidFill>
                <a:latin typeface="Calibri"/>
              </a:rPr>
              <a:t>Taught once by doing it. Then 36–66 s hands-free with a new pizza, a quantity or a delivery address — stopping before payment every time.</a:t>
            </a:r>
          </a:p>
        </p:txBody>
      </p:sp>
      <p:sp>
        <p:nvSpPr>
          <p:cNvPr id="137" name="Rounded Rectangle 136"/>
          <p:cNvSpPr/>
          <p:nvPr/>
        </p:nvSpPr>
        <p:spPr>
          <a:xfrm>
            <a:off x="1161288" y="5349240"/>
            <a:ext cx="3108960" cy="457200"/>
          </a:xfrm>
          <a:prstGeom prst="roundRect">
            <a:avLst>
              <a:gd name="adj" fmla="val 50000"/>
            </a:avLst>
          </a:prstGeom>
          <a:solidFill>
            <a:srgbClr val="FFFFFF"/>
          </a:solidFill>
          <a:ln w="12700">
            <a:solidFill>
              <a:srgbClr val="D9D3F0"/>
            </a:solidFill>
          </a:ln>
          <a:effectLst/>
        </p:spPr>
        <p:txBody>
          <a:bodyPr rtlCol="0" anchor="ctr"/>
          <a:lstStyle/>
          <a:p/>
        </p:txBody>
      </p:sp>
      <p:sp>
        <p:nvSpPr>
          <p:cNvPr id="138" name="Oval 137"/>
          <p:cNvSpPr/>
          <p:nvPr/>
        </p:nvSpPr>
        <p:spPr>
          <a:xfrm>
            <a:off x="1225296" y="5413248"/>
            <a:ext cx="329184" cy="329184"/>
          </a:xfrm>
          <a:prstGeom prst="ellipse">
            <a:avLst/>
          </a:prstGeom>
          <a:solidFill>
            <a:srgbClr val="6D28D9"/>
          </a:solidFill>
          <a:ln>
            <a:noFill/>
          </a:ln>
          <a:effectLst/>
        </p:spPr>
        <p:txBody>
          <a:bodyPr rtlCol="0" anchor="ctr"/>
          <a:lstStyle/>
          <a:p/>
        </p:txBody>
      </p:sp>
      <p:pic>
        <p:nvPicPr>
          <p:cNvPr id="139" name="Picture 138" descr="MdMic_FFFFFF.png"/>
          <p:cNvPicPr>
            <a:picLocks noChangeAspect="1"/>
          </p:cNvPicPr>
          <p:nvPr/>
        </p:nvPicPr>
        <p:blipFill>
          <a:blip r:embed="rId3"/>
          <a:stretch>
            <a:fillRect/>
          </a:stretch>
        </p:blipFill>
        <p:spPr>
          <a:xfrm>
            <a:off x="1291132" y="5479084"/>
            <a:ext cx="197510" cy="197510"/>
          </a:xfrm>
          <a:prstGeom prst="rect">
            <a:avLst/>
          </a:prstGeom>
        </p:spPr>
      </p:pic>
      <p:sp>
        <p:nvSpPr>
          <p:cNvPr id="140" name="TextBox 139"/>
          <p:cNvSpPr txBox="1"/>
          <p:nvPr/>
        </p:nvSpPr>
        <p:spPr>
          <a:xfrm>
            <a:off x="1691639" y="5349240"/>
            <a:ext cx="2487168" cy="457200"/>
          </a:xfrm>
          <a:prstGeom prst="rect">
            <a:avLst/>
          </a:prstGeom>
          <a:noFill/>
        </p:spPr>
        <p:txBody>
          <a:bodyPr wrap="square" lIns="0" rIns="0" tIns="0" bIns="0" anchor="ctr">
            <a:spAutoFit/>
          </a:bodyPr>
          <a:lstStyle/>
          <a:p>
            <a:pPr algn="l"/>
            <a:r>
              <a:rPr sz="1150" b="0" i="1">
                <a:solidFill>
                  <a:srgbClr val="1F2037"/>
                </a:solidFill>
                <a:latin typeface="Calibri"/>
              </a:rPr>
              <a:t>“Order two Margherita pizzas from Domino’s.”</a:t>
            </a:r>
          </a:p>
        </p:txBody>
      </p:sp>
      <p:sp>
        <p:nvSpPr>
          <p:cNvPr id="141" name="Rounded Rectangle 140"/>
          <p:cNvSpPr/>
          <p:nvPr/>
        </p:nvSpPr>
        <p:spPr>
          <a:xfrm>
            <a:off x="4727448" y="1600200"/>
            <a:ext cx="3172968" cy="1645920"/>
          </a:xfrm>
          <a:prstGeom prst="roundRect">
            <a:avLst>
              <a:gd name="adj" fmla="val 4444"/>
            </a:avLst>
          </a:prstGeom>
          <a:solidFill>
            <a:srgbClr val="F5F3FC"/>
          </a:solidFill>
          <a:ln>
            <a:noFill/>
          </a:ln>
          <a:effectLst/>
        </p:spPr>
        <p:txBody>
          <a:bodyPr rtlCol="0" anchor="ctr"/>
          <a:lstStyle/>
          <a:p/>
        </p:txBody>
      </p:sp>
      <p:sp>
        <p:nvSpPr>
          <p:cNvPr id="142" name="Oval 141"/>
          <p:cNvSpPr/>
          <p:nvPr/>
        </p:nvSpPr>
        <p:spPr>
          <a:xfrm>
            <a:off x="4928616" y="1801368"/>
            <a:ext cx="502920" cy="502920"/>
          </a:xfrm>
          <a:prstGeom prst="ellipse">
            <a:avLst/>
          </a:prstGeom>
          <a:solidFill>
            <a:srgbClr val="6D28D9"/>
          </a:solidFill>
          <a:ln>
            <a:noFill/>
          </a:ln>
          <a:effectLst/>
        </p:spPr>
        <p:txBody>
          <a:bodyPr rtlCol="0" anchor="ctr"/>
          <a:lstStyle/>
          <a:p/>
        </p:txBody>
      </p:sp>
      <p:pic>
        <p:nvPicPr>
          <p:cNvPr id="143" name="Picture 142" descr="MdRepeat_FFFFFF.png"/>
          <p:cNvPicPr>
            <a:picLocks noChangeAspect="1"/>
          </p:cNvPicPr>
          <p:nvPr/>
        </p:nvPicPr>
        <p:blipFill>
          <a:blip r:embed="rId4"/>
          <a:stretch>
            <a:fillRect/>
          </a:stretch>
        </p:blipFill>
        <p:spPr>
          <a:xfrm>
            <a:off x="5039258" y="1912010"/>
            <a:ext cx="281635" cy="281635"/>
          </a:xfrm>
          <a:prstGeom prst="rect">
            <a:avLst/>
          </a:prstGeom>
        </p:spPr>
      </p:pic>
      <p:sp>
        <p:nvSpPr>
          <p:cNvPr id="144" name="TextBox 143"/>
          <p:cNvSpPr txBox="1"/>
          <p:nvPr/>
        </p:nvSpPr>
        <p:spPr>
          <a:xfrm>
            <a:off x="5550408" y="1801368"/>
            <a:ext cx="2240280" cy="502920"/>
          </a:xfrm>
          <a:prstGeom prst="rect">
            <a:avLst/>
          </a:prstGeom>
          <a:noFill/>
        </p:spPr>
        <p:txBody>
          <a:bodyPr wrap="square" lIns="0" rIns="0" tIns="0" bIns="0" anchor="ctr">
            <a:spAutoFit/>
          </a:bodyPr>
          <a:lstStyle/>
          <a:p>
            <a:pPr algn="l"/>
            <a:r>
              <a:rPr sz="1450" b="1" i="0">
                <a:solidFill>
                  <a:srgbClr val="14142B"/>
                </a:solidFill>
                <a:latin typeface="Arial"/>
              </a:rPr>
              <a:t>Everyday repeats</a:t>
            </a:r>
          </a:p>
        </p:txBody>
      </p:sp>
      <p:sp>
        <p:nvSpPr>
          <p:cNvPr id="145" name="TextBox 144"/>
          <p:cNvSpPr txBox="1"/>
          <p:nvPr/>
        </p:nvSpPr>
        <p:spPr>
          <a:xfrm>
            <a:off x="4928616" y="2404872"/>
            <a:ext cx="2816352" cy="822960"/>
          </a:xfrm>
          <a:prstGeom prst="rect">
            <a:avLst/>
          </a:prstGeom>
          <a:noFill/>
        </p:spPr>
        <p:txBody>
          <a:bodyPr wrap="square" lIns="0" rIns="0" tIns="0" bIns="0" anchor="t">
            <a:spAutoFit/>
          </a:bodyPr>
          <a:lstStyle/>
          <a:p>
            <a:pPr algn="l"/>
            <a:r>
              <a:rPr sz="1200" b="0" i="0">
                <a:solidFill>
                  <a:srgbClr val="5B5F77"/>
                </a:solidFill>
                <a:latin typeface="Calibri"/>
              </a:rPr>
              <a:t>Reorder from the same restaurant, restock the same item, check the same page: said with today’s values.</a:t>
            </a:r>
          </a:p>
        </p:txBody>
      </p:sp>
      <p:sp>
        <p:nvSpPr>
          <p:cNvPr id="146" name="Rounded Rectangle 145"/>
          <p:cNvSpPr/>
          <p:nvPr/>
        </p:nvSpPr>
        <p:spPr>
          <a:xfrm>
            <a:off x="8037575" y="1600200"/>
            <a:ext cx="3172968" cy="1645920"/>
          </a:xfrm>
          <a:prstGeom prst="roundRect">
            <a:avLst>
              <a:gd name="adj" fmla="val 4444"/>
            </a:avLst>
          </a:prstGeom>
          <a:solidFill>
            <a:srgbClr val="F5F3FC"/>
          </a:solidFill>
          <a:ln>
            <a:noFill/>
          </a:ln>
          <a:effectLst/>
        </p:spPr>
        <p:txBody>
          <a:bodyPr rtlCol="0" anchor="ctr"/>
          <a:lstStyle/>
          <a:p/>
        </p:txBody>
      </p:sp>
      <p:sp>
        <p:nvSpPr>
          <p:cNvPr id="147" name="Oval 146"/>
          <p:cNvSpPr/>
          <p:nvPr/>
        </p:nvSpPr>
        <p:spPr>
          <a:xfrm>
            <a:off x="8238744" y="1801368"/>
            <a:ext cx="502920" cy="502920"/>
          </a:xfrm>
          <a:prstGeom prst="ellipse">
            <a:avLst/>
          </a:prstGeom>
          <a:solidFill>
            <a:srgbClr val="14142B"/>
          </a:solidFill>
          <a:ln>
            <a:noFill/>
          </a:ln>
          <a:effectLst/>
        </p:spPr>
        <p:txBody>
          <a:bodyPr rtlCol="0" anchor="ctr"/>
          <a:lstStyle/>
          <a:p/>
        </p:txBody>
      </p:sp>
      <p:pic>
        <p:nvPicPr>
          <p:cNvPr id="148" name="Picture 147" descr="MdAccessibilityNew_FFFFFF.png"/>
          <p:cNvPicPr>
            <a:picLocks noChangeAspect="1"/>
          </p:cNvPicPr>
          <p:nvPr/>
        </p:nvPicPr>
        <p:blipFill>
          <a:blip r:embed="rId5"/>
          <a:stretch>
            <a:fillRect/>
          </a:stretch>
        </p:blipFill>
        <p:spPr>
          <a:xfrm>
            <a:off x="8349386" y="1912010"/>
            <a:ext cx="281635" cy="281635"/>
          </a:xfrm>
          <a:prstGeom prst="rect">
            <a:avLst/>
          </a:prstGeom>
        </p:spPr>
      </p:pic>
      <p:sp>
        <p:nvSpPr>
          <p:cNvPr id="149" name="TextBox 148"/>
          <p:cNvSpPr txBox="1"/>
          <p:nvPr/>
        </p:nvSpPr>
        <p:spPr>
          <a:xfrm>
            <a:off x="8860536" y="1801368"/>
            <a:ext cx="2240280" cy="502920"/>
          </a:xfrm>
          <a:prstGeom prst="rect">
            <a:avLst/>
          </a:prstGeom>
          <a:noFill/>
        </p:spPr>
        <p:txBody>
          <a:bodyPr wrap="square" lIns="0" rIns="0" tIns="0" bIns="0" anchor="ctr">
            <a:spAutoFit/>
          </a:bodyPr>
          <a:lstStyle/>
          <a:p>
            <a:pPr algn="l"/>
            <a:r>
              <a:rPr sz="1450" b="1" i="0">
                <a:solidFill>
                  <a:srgbClr val="14142B"/>
                </a:solidFill>
                <a:latin typeface="Arial"/>
              </a:rPr>
              <a:t>Accessibility</a:t>
            </a:r>
          </a:p>
        </p:txBody>
      </p:sp>
      <p:sp>
        <p:nvSpPr>
          <p:cNvPr id="150" name="TextBox 149"/>
          <p:cNvSpPr txBox="1"/>
          <p:nvPr/>
        </p:nvSpPr>
        <p:spPr>
          <a:xfrm>
            <a:off x="8238744" y="2404872"/>
            <a:ext cx="2816352" cy="822960"/>
          </a:xfrm>
          <a:prstGeom prst="rect">
            <a:avLst/>
          </a:prstGeom>
          <a:noFill/>
        </p:spPr>
        <p:txBody>
          <a:bodyPr wrap="square" lIns="0" rIns="0" tIns="0" bIns="0" anchor="t">
            <a:spAutoFit/>
          </a:bodyPr>
          <a:lstStyle/>
          <a:p>
            <a:pPr algn="l"/>
            <a:r>
              <a:rPr sz="1200" b="0" i="0">
                <a:solidFill>
                  <a:srgbClr val="5B5F77"/>
                </a:solidFill>
                <a:latin typeface="Calibri"/>
              </a:rPr>
              <a:t>For people who find many small taps hard, one sentence replaces a whole flow — and it asks rather than guesses.</a:t>
            </a:r>
          </a:p>
        </p:txBody>
      </p:sp>
      <p:sp>
        <p:nvSpPr>
          <p:cNvPr id="151" name="Rounded Rectangle 150"/>
          <p:cNvSpPr/>
          <p:nvPr/>
        </p:nvSpPr>
        <p:spPr>
          <a:xfrm>
            <a:off x="4727448" y="3383280"/>
            <a:ext cx="3172968" cy="1645920"/>
          </a:xfrm>
          <a:prstGeom prst="roundRect">
            <a:avLst>
              <a:gd name="adj" fmla="val 4444"/>
            </a:avLst>
          </a:prstGeom>
          <a:solidFill>
            <a:srgbClr val="F5F3FC"/>
          </a:solidFill>
          <a:ln>
            <a:noFill/>
          </a:ln>
          <a:effectLst/>
        </p:spPr>
        <p:txBody>
          <a:bodyPr rtlCol="0" anchor="ctr"/>
          <a:lstStyle/>
          <a:p/>
        </p:txBody>
      </p:sp>
      <p:sp>
        <p:nvSpPr>
          <p:cNvPr id="152" name="Oval 151"/>
          <p:cNvSpPr/>
          <p:nvPr/>
        </p:nvSpPr>
        <p:spPr>
          <a:xfrm>
            <a:off x="4928616" y="3584448"/>
            <a:ext cx="502920" cy="502920"/>
          </a:xfrm>
          <a:prstGeom prst="ellipse">
            <a:avLst/>
          </a:prstGeom>
          <a:solidFill>
            <a:srgbClr val="14142B"/>
          </a:solidFill>
          <a:ln>
            <a:noFill/>
          </a:ln>
          <a:effectLst/>
        </p:spPr>
        <p:txBody>
          <a:bodyPr rtlCol="0" anchor="ctr"/>
          <a:lstStyle/>
          <a:p/>
        </p:txBody>
      </p:sp>
      <p:pic>
        <p:nvPicPr>
          <p:cNvPr id="153" name="Picture 152" descr="MdFamilyRestroom_FFFFFF.png"/>
          <p:cNvPicPr>
            <a:picLocks noChangeAspect="1"/>
          </p:cNvPicPr>
          <p:nvPr/>
        </p:nvPicPr>
        <p:blipFill>
          <a:blip r:embed="rId6"/>
          <a:stretch>
            <a:fillRect/>
          </a:stretch>
        </p:blipFill>
        <p:spPr>
          <a:xfrm>
            <a:off x="5039258" y="3695090"/>
            <a:ext cx="281635" cy="281635"/>
          </a:xfrm>
          <a:prstGeom prst="rect">
            <a:avLst/>
          </a:prstGeom>
        </p:spPr>
      </p:pic>
      <p:sp>
        <p:nvSpPr>
          <p:cNvPr id="154" name="TextBox 153"/>
          <p:cNvSpPr txBox="1"/>
          <p:nvPr/>
        </p:nvSpPr>
        <p:spPr>
          <a:xfrm>
            <a:off x="5550408" y="3584448"/>
            <a:ext cx="2240280" cy="502920"/>
          </a:xfrm>
          <a:prstGeom prst="rect">
            <a:avLst/>
          </a:prstGeom>
          <a:noFill/>
        </p:spPr>
        <p:txBody>
          <a:bodyPr wrap="square" lIns="0" rIns="0" tIns="0" bIns="0" anchor="ctr">
            <a:spAutoFit/>
          </a:bodyPr>
          <a:lstStyle/>
          <a:p>
            <a:pPr algn="l"/>
            <a:r>
              <a:rPr sz="1450" b="1" i="0">
                <a:solidFill>
                  <a:srgbClr val="14142B"/>
                </a:solidFill>
                <a:latin typeface="Arial"/>
              </a:rPr>
              <a:t>Set up once for family</a:t>
            </a:r>
          </a:p>
        </p:txBody>
      </p:sp>
      <p:sp>
        <p:nvSpPr>
          <p:cNvPr id="155" name="TextBox 154"/>
          <p:cNvSpPr txBox="1"/>
          <p:nvPr/>
        </p:nvSpPr>
        <p:spPr>
          <a:xfrm>
            <a:off x="4928616" y="4187952"/>
            <a:ext cx="2816352" cy="822960"/>
          </a:xfrm>
          <a:prstGeom prst="rect">
            <a:avLst/>
          </a:prstGeom>
          <a:noFill/>
        </p:spPr>
        <p:txBody>
          <a:bodyPr wrap="square" lIns="0" rIns="0" tIns="0" bIns="0" anchor="t">
            <a:spAutoFit/>
          </a:bodyPr>
          <a:lstStyle/>
          <a:p>
            <a:pPr algn="l"/>
            <a:r>
              <a:rPr sz="1200" b="0" i="0">
                <a:solidFill>
                  <a:srgbClr val="5B5F77"/>
                </a:solidFill>
                <a:latin typeface="Calibri"/>
              </a:rPr>
              <a:t>Someone teaches a task once; a parent just says it. It never pays, logs in or picks a personal option alone.</a:t>
            </a:r>
          </a:p>
        </p:txBody>
      </p:sp>
      <p:sp>
        <p:nvSpPr>
          <p:cNvPr id="156" name="Rounded Rectangle 155"/>
          <p:cNvSpPr/>
          <p:nvPr/>
        </p:nvSpPr>
        <p:spPr>
          <a:xfrm>
            <a:off x="8037575" y="3383280"/>
            <a:ext cx="3172968" cy="1645920"/>
          </a:xfrm>
          <a:prstGeom prst="roundRect">
            <a:avLst>
              <a:gd name="adj" fmla="val 4444"/>
            </a:avLst>
          </a:prstGeom>
          <a:solidFill>
            <a:srgbClr val="F5F3FC"/>
          </a:solidFill>
          <a:ln>
            <a:noFill/>
          </a:ln>
          <a:effectLst/>
        </p:spPr>
        <p:txBody>
          <a:bodyPr rtlCol="0" anchor="ctr"/>
          <a:lstStyle/>
          <a:p/>
        </p:txBody>
      </p:sp>
      <p:sp>
        <p:nvSpPr>
          <p:cNvPr id="157" name="Oval 156"/>
          <p:cNvSpPr/>
          <p:nvPr/>
        </p:nvSpPr>
        <p:spPr>
          <a:xfrm>
            <a:off x="8238744" y="3584448"/>
            <a:ext cx="502920" cy="502920"/>
          </a:xfrm>
          <a:prstGeom prst="ellipse">
            <a:avLst/>
          </a:prstGeom>
          <a:solidFill>
            <a:srgbClr val="0E9F6E"/>
          </a:solidFill>
          <a:ln>
            <a:noFill/>
          </a:ln>
          <a:effectLst/>
        </p:spPr>
        <p:txBody>
          <a:bodyPr rtlCol="0" anchor="ctr"/>
          <a:lstStyle/>
          <a:p/>
        </p:txBody>
      </p:sp>
      <p:pic>
        <p:nvPicPr>
          <p:cNvPr id="158" name="Picture 157" descr="MdTranslate_FFFFFF.png"/>
          <p:cNvPicPr>
            <a:picLocks noChangeAspect="1"/>
          </p:cNvPicPr>
          <p:nvPr/>
        </p:nvPicPr>
        <p:blipFill>
          <a:blip r:embed="rId7"/>
          <a:stretch>
            <a:fillRect/>
          </a:stretch>
        </p:blipFill>
        <p:spPr>
          <a:xfrm>
            <a:off x="8349386" y="3695090"/>
            <a:ext cx="281635" cy="281635"/>
          </a:xfrm>
          <a:prstGeom prst="rect">
            <a:avLst/>
          </a:prstGeom>
        </p:spPr>
      </p:pic>
      <p:sp>
        <p:nvSpPr>
          <p:cNvPr id="159" name="TextBox 158"/>
          <p:cNvSpPr txBox="1"/>
          <p:nvPr/>
        </p:nvSpPr>
        <p:spPr>
          <a:xfrm>
            <a:off x="8860536" y="3584448"/>
            <a:ext cx="2240280" cy="502920"/>
          </a:xfrm>
          <a:prstGeom prst="rect">
            <a:avLst/>
          </a:prstGeom>
          <a:noFill/>
        </p:spPr>
        <p:txBody>
          <a:bodyPr wrap="square" lIns="0" rIns="0" tIns="0" bIns="0" anchor="ctr">
            <a:spAutoFit/>
          </a:bodyPr>
          <a:lstStyle/>
          <a:p>
            <a:pPr algn="l"/>
            <a:r>
              <a:rPr sz="1450" b="1" i="0">
                <a:solidFill>
                  <a:srgbClr val="14142B"/>
                </a:solidFill>
                <a:latin typeface="Arial"/>
              </a:rPr>
              <a:t>Built for India</a:t>
            </a:r>
          </a:p>
        </p:txBody>
      </p:sp>
      <p:sp>
        <p:nvSpPr>
          <p:cNvPr id="160" name="TextBox 159"/>
          <p:cNvSpPr txBox="1"/>
          <p:nvPr/>
        </p:nvSpPr>
        <p:spPr>
          <a:xfrm>
            <a:off x="8238744" y="4187952"/>
            <a:ext cx="2816352" cy="822960"/>
          </a:xfrm>
          <a:prstGeom prst="rect">
            <a:avLst/>
          </a:prstGeom>
          <a:noFill/>
        </p:spPr>
        <p:txBody>
          <a:bodyPr wrap="square" lIns="0" rIns="0" tIns="0" bIns="0" anchor="t">
            <a:spAutoFit/>
          </a:bodyPr>
          <a:lstStyle/>
          <a:p>
            <a:pPr algn="l"/>
            <a:r>
              <a:rPr sz="1200" b="0" i="0">
                <a:solidFill>
                  <a:srgbClr val="5B5F77"/>
                </a:solidFill>
                <a:latin typeface="Calibri"/>
              </a:rPr>
              <a:t>Hinglish commands work (“amazon pe pencil box search karke…”); the guard knows Hindi payment and login phrases.</a:t>
            </a:r>
          </a:p>
        </p:txBody>
      </p:sp>
      <p:sp>
        <p:nvSpPr>
          <p:cNvPr id="161" name="Rounded Rectangle 160"/>
          <p:cNvSpPr/>
          <p:nvPr/>
        </p:nvSpPr>
        <p:spPr>
          <a:xfrm>
            <a:off x="4727448" y="5212080"/>
            <a:ext cx="6483096" cy="914400"/>
          </a:xfrm>
          <a:prstGeom prst="roundRect">
            <a:avLst>
              <a:gd name="adj" fmla="val 8000"/>
            </a:avLst>
          </a:prstGeom>
          <a:solidFill>
            <a:srgbClr val="FFFFFF"/>
          </a:solidFill>
          <a:ln w="12700">
            <a:solidFill>
              <a:srgbClr val="D9D3F0"/>
            </a:solidFill>
          </a:ln>
          <a:effectLst/>
        </p:spPr>
        <p:txBody>
          <a:bodyPr rtlCol="0" anchor="ctr"/>
          <a:lstStyle/>
          <a:p/>
        </p:txBody>
      </p:sp>
      <p:sp>
        <p:nvSpPr>
          <p:cNvPr id="162" name="TextBox 161"/>
          <p:cNvSpPr txBox="1"/>
          <p:nvPr/>
        </p:nvSpPr>
        <p:spPr>
          <a:xfrm>
            <a:off x="4956048" y="5212080"/>
            <a:ext cx="6035040" cy="914400"/>
          </a:xfrm>
          <a:prstGeom prst="rect">
            <a:avLst/>
          </a:prstGeom>
          <a:noFill/>
        </p:spPr>
        <p:txBody>
          <a:bodyPr wrap="square" lIns="0" rIns="0" tIns="0" bIns="0" anchor="ctr">
            <a:spAutoFit/>
          </a:bodyPr>
          <a:lstStyle/>
          <a:p>
            <a:pPr algn="l"/>
            <a:r>
              <a:rPr sz="1250" b="1" i="0">
                <a:solidFill>
                  <a:srgbClr val="6D28D9"/>
                </a:solidFill>
                <a:latin typeface="Calibri"/>
              </a:rPr>
              <a:t>As a worklet: </a:t>
            </a:r>
            <a:r>
              <a:rPr sz="1250" b="0" i="0">
                <a:solidFill>
                  <a:srgbClr val="1F2037"/>
                </a:solidFill>
                <a:latin typeface="Calibri"/>
              </a:rPr>
              <a:t>a Galaxy assistant that learns in-app tasks from its own user, through the accessibility layer every app already has — no partner integration, and the user stays in charge of money and logins.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38" name="Rounded Rectangle 137"/>
          <p:cNvSpPr/>
          <p:nvPr/>
        </p:nvSpPr>
        <p:spPr>
          <a:xfrm>
            <a:off x="932688" y="1481328"/>
            <a:ext cx="3310128" cy="4663440"/>
          </a:xfrm>
          <a:prstGeom prst="roundRect">
            <a:avLst>
              <a:gd name="adj" fmla="val 2209"/>
            </a:avLst>
          </a:prstGeom>
          <a:solidFill>
            <a:srgbClr val="F5F3FC"/>
          </a:solidFill>
          <a:ln>
            <a:noFill/>
          </a:ln>
          <a:effectLst/>
        </p:spPr>
        <p:txBody>
          <a:bodyPr rtlCol="0" anchor="ctr"/>
          <a:lstStyle/>
          <a:p/>
        </p:txBody>
      </p:sp>
      <p:sp>
        <p:nvSpPr>
          <p:cNvPr id="139" name="TextBox 138"/>
          <p:cNvSpPr txBox="1"/>
          <p:nvPr/>
        </p:nvSpPr>
        <p:spPr>
          <a:xfrm>
            <a:off x="1133856" y="1618488"/>
            <a:ext cx="2944368" cy="320040"/>
          </a:xfrm>
          <a:prstGeom prst="rect">
            <a:avLst/>
          </a:prstGeom>
          <a:noFill/>
        </p:spPr>
        <p:txBody>
          <a:bodyPr wrap="square" lIns="0" rIns="0" tIns="0" bIns="0" anchor="t">
            <a:spAutoFit/>
          </a:bodyPr>
          <a:lstStyle/>
          <a:p>
            <a:pPr algn="l"/>
            <a:r>
              <a:rPr sz="1500" b="1" i="0">
                <a:solidFill>
                  <a:srgbClr val="6D28D9"/>
                </a:solidFill>
                <a:latin typeface="Arial"/>
              </a:rPr>
              <a:t>Innovation highlights</a:t>
            </a:r>
          </a:p>
        </p:txBody>
      </p:sp>
      <p:sp>
        <p:nvSpPr>
          <p:cNvPr id="140" name="Rounded Rectangle 139"/>
          <p:cNvSpPr/>
          <p:nvPr/>
        </p:nvSpPr>
        <p:spPr>
          <a:xfrm>
            <a:off x="4443984" y="1481328"/>
            <a:ext cx="3310128" cy="4663440"/>
          </a:xfrm>
          <a:prstGeom prst="roundRect">
            <a:avLst>
              <a:gd name="adj" fmla="val 2209"/>
            </a:avLst>
          </a:prstGeom>
          <a:solidFill>
            <a:srgbClr val="F5F3FC"/>
          </a:solidFill>
          <a:ln>
            <a:noFill/>
          </a:ln>
          <a:effectLst/>
        </p:spPr>
        <p:txBody>
          <a:bodyPr rtlCol="0" anchor="ctr"/>
          <a:lstStyle/>
          <a:p/>
        </p:txBody>
      </p:sp>
      <p:sp>
        <p:nvSpPr>
          <p:cNvPr id="141" name="TextBox 140"/>
          <p:cNvSpPr txBox="1"/>
          <p:nvPr/>
        </p:nvSpPr>
        <p:spPr>
          <a:xfrm>
            <a:off x="4645152" y="1618488"/>
            <a:ext cx="2944368" cy="320040"/>
          </a:xfrm>
          <a:prstGeom prst="rect">
            <a:avLst/>
          </a:prstGeom>
          <a:noFill/>
        </p:spPr>
        <p:txBody>
          <a:bodyPr wrap="square" lIns="0" rIns="0" tIns="0" bIns="0" anchor="t">
            <a:spAutoFit/>
          </a:bodyPr>
          <a:lstStyle/>
          <a:p>
            <a:pPr algn="l"/>
            <a:r>
              <a:rPr sz="1500" b="1" i="0">
                <a:solidFill>
                  <a:srgbClr val="0E9F6E"/>
                </a:solidFill>
                <a:latin typeface="Arial"/>
              </a:rPr>
              <a:t>Results on a real phone</a:t>
            </a:r>
          </a:p>
        </p:txBody>
      </p:sp>
      <p:sp>
        <p:nvSpPr>
          <p:cNvPr id="142" name="Rounded Rectangle 141"/>
          <p:cNvSpPr/>
          <p:nvPr/>
        </p:nvSpPr>
        <p:spPr>
          <a:xfrm>
            <a:off x="7955280" y="1481328"/>
            <a:ext cx="3310128" cy="4663440"/>
          </a:xfrm>
          <a:prstGeom prst="roundRect">
            <a:avLst>
              <a:gd name="adj" fmla="val 2209"/>
            </a:avLst>
          </a:prstGeom>
          <a:solidFill>
            <a:srgbClr val="F5F3FC"/>
          </a:solidFill>
          <a:ln>
            <a:noFill/>
          </a:ln>
          <a:effectLst/>
        </p:spPr>
        <p:txBody>
          <a:bodyPr rtlCol="0" anchor="ctr"/>
          <a:lstStyle/>
          <a:p/>
        </p:txBody>
      </p:sp>
      <p:sp>
        <p:nvSpPr>
          <p:cNvPr id="143" name="TextBox 142"/>
          <p:cNvSpPr txBox="1"/>
          <p:nvPr/>
        </p:nvSpPr>
        <p:spPr>
          <a:xfrm>
            <a:off x="8156448" y="1618488"/>
            <a:ext cx="2944368" cy="320040"/>
          </a:xfrm>
          <a:prstGeom prst="rect">
            <a:avLst/>
          </a:prstGeom>
          <a:noFill/>
        </p:spPr>
        <p:txBody>
          <a:bodyPr wrap="square" lIns="0" rIns="0" tIns="0" bIns="0" anchor="t">
            <a:spAutoFit/>
          </a:bodyPr>
          <a:lstStyle/>
          <a:p>
            <a:pPr algn="l"/>
            <a:r>
              <a:rPr sz="1500" b="1" i="0">
                <a:solidFill>
                  <a:srgbClr val="14142B"/>
                </a:solidFill>
                <a:latin typeface="Arial"/>
              </a:rPr>
              <a:t>Known limitations</a:t>
            </a:r>
          </a:p>
        </p:txBody>
      </p:sp>
      <p:sp>
        <p:nvSpPr>
          <p:cNvPr id="144" name="Oval 143"/>
          <p:cNvSpPr/>
          <p:nvPr/>
        </p:nvSpPr>
        <p:spPr>
          <a:xfrm>
            <a:off x="1133856" y="2084832"/>
            <a:ext cx="384048" cy="384048"/>
          </a:xfrm>
          <a:prstGeom prst="ellipse">
            <a:avLst/>
          </a:prstGeom>
          <a:solidFill>
            <a:srgbClr val="6D28D9"/>
          </a:solidFill>
          <a:ln>
            <a:noFill/>
          </a:ln>
          <a:effectLst/>
        </p:spPr>
        <p:txBody>
          <a:bodyPr rtlCol="0" anchor="ctr"/>
          <a:lstStyle/>
          <a:p/>
        </p:txBody>
      </p:sp>
      <p:pic>
        <p:nvPicPr>
          <p:cNvPr id="145" name="Picture 144" descr="MdTouchApp_FFFFFF.png"/>
          <p:cNvPicPr>
            <a:picLocks noChangeAspect="1"/>
          </p:cNvPicPr>
          <p:nvPr/>
        </p:nvPicPr>
        <p:blipFill>
          <a:blip r:embed="rId3"/>
          <a:stretch>
            <a:fillRect/>
          </a:stretch>
        </p:blipFill>
        <p:spPr>
          <a:xfrm>
            <a:off x="1218346" y="2169322"/>
            <a:ext cx="215066" cy="215066"/>
          </a:xfrm>
          <a:prstGeom prst="rect">
            <a:avLst/>
          </a:prstGeom>
        </p:spPr>
      </p:pic>
      <p:sp>
        <p:nvSpPr>
          <p:cNvPr id="146" name="TextBox 145"/>
          <p:cNvSpPr txBox="1"/>
          <p:nvPr/>
        </p:nvSpPr>
        <p:spPr>
          <a:xfrm>
            <a:off x="1645920" y="2048256"/>
            <a:ext cx="2441448" cy="640080"/>
          </a:xfrm>
          <a:prstGeom prst="rect">
            <a:avLst/>
          </a:prstGeom>
          <a:noFill/>
        </p:spPr>
        <p:txBody>
          <a:bodyPr wrap="square" lIns="0" rIns="0" tIns="0" bIns="0" anchor="t">
            <a:spAutoFit/>
          </a:bodyPr>
          <a:lstStyle/>
          <a:p>
            <a:pPr algn="l"/>
            <a:r>
              <a:rPr sz="1200" b="1" i="0">
                <a:solidFill>
                  <a:srgbClr val="14142B"/>
                </a:solidFill>
                <a:latin typeface="Calibri"/>
              </a:rPr>
              <a:t>Tap capture everywhere</a:t>
            </a:r>
          </a:p>
          <a:p>
            <a:pPr algn="l"/>
            <a:r>
              <a:rPr sz="1050" b="0" i="0">
                <a:solidFill>
                  <a:srgbClr val="5B5F77"/>
                </a:solidFill>
                <a:latin typeface="Calibri"/>
              </a:rPr>
              <a:t>our overlay hit-tests every touch, even where apps report none</a:t>
            </a:r>
          </a:p>
        </p:txBody>
      </p:sp>
      <p:sp>
        <p:nvSpPr>
          <p:cNvPr id="147" name="Oval 146"/>
          <p:cNvSpPr/>
          <p:nvPr/>
        </p:nvSpPr>
        <p:spPr>
          <a:xfrm>
            <a:off x="1133856" y="2752344"/>
            <a:ext cx="384048" cy="384048"/>
          </a:xfrm>
          <a:prstGeom prst="ellipse">
            <a:avLst/>
          </a:prstGeom>
          <a:solidFill>
            <a:srgbClr val="14142B"/>
          </a:solidFill>
          <a:ln>
            <a:noFill/>
          </a:ln>
          <a:effectLst/>
        </p:spPr>
        <p:txBody>
          <a:bodyPr rtlCol="0" anchor="ctr"/>
          <a:lstStyle/>
          <a:p/>
        </p:txBody>
      </p:sp>
      <p:pic>
        <p:nvPicPr>
          <p:cNvPr id="148" name="Picture 147" descr="MdBolt_FFFFFF.png"/>
          <p:cNvPicPr>
            <a:picLocks noChangeAspect="1"/>
          </p:cNvPicPr>
          <p:nvPr/>
        </p:nvPicPr>
        <p:blipFill>
          <a:blip r:embed="rId4"/>
          <a:stretch>
            <a:fillRect/>
          </a:stretch>
        </p:blipFill>
        <p:spPr>
          <a:xfrm>
            <a:off x="1218346" y="2836834"/>
            <a:ext cx="215066" cy="215066"/>
          </a:xfrm>
          <a:prstGeom prst="rect">
            <a:avLst/>
          </a:prstGeom>
        </p:spPr>
      </p:pic>
      <p:sp>
        <p:nvSpPr>
          <p:cNvPr id="149" name="TextBox 148"/>
          <p:cNvSpPr txBox="1"/>
          <p:nvPr/>
        </p:nvSpPr>
        <p:spPr>
          <a:xfrm>
            <a:off x="1645920" y="2715768"/>
            <a:ext cx="2441448" cy="640080"/>
          </a:xfrm>
          <a:prstGeom prst="rect">
            <a:avLst/>
          </a:prstGeom>
          <a:noFill/>
        </p:spPr>
        <p:txBody>
          <a:bodyPr wrap="square" lIns="0" rIns="0" tIns="0" bIns="0" anchor="t">
            <a:spAutoFit/>
          </a:bodyPr>
          <a:lstStyle/>
          <a:p>
            <a:pPr algn="l"/>
            <a:r>
              <a:rPr sz="1200" b="1" i="0">
                <a:solidFill>
                  <a:srgbClr val="14142B"/>
                </a:solidFill>
                <a:latin typeface="Calibri"/>
              </a:rPr>
              <a:t>The model only when needed</a:t>
            </a:r>
          </a:p>
          <a:p>
            <a:pPr algn="l"/>
            <a:r>
              <a:rPr sz="1050" b="0" i="0">
                <a:solidFill>
                  <a:srgbClr val="5B5F77"/>
                </a:solidFill>
                <a:latin typeface="Calibri"/>
              </a:rPr>
              <a:t>known screens replay with a scored matcher, no network</a:t>
            </a:r>
          </a:p>
        </p:txBody>
      </p:sp>
      <p:sp>
        <p:nvSpPr>
          <p:cNvPr id="150" name="Oval 149"/>
          <p:cNvSpPr/>
          <p:nvPr/>
        </p:nvSpPr>
        <p:spPr>
          <a:xfrm>
            <a:off x="1133856" y="3419856"/>
            <a:ext cx="384048" cy="384048"/>
          </a:xfrm>
          <a:prstGeom prst="ellipse">
            <a:avLst/>
          </a:prstGeom>
          <a:solidFill>
            <a:srgbClr val="6D28D9"/>
          </a:solidFill>
          <a:ln>
            <a:noFill/>
          </a:ln>
          <a:effectLst/>
        </p:spPr>
        <p:txBody>
          <a:bodyPr rtlCol="0" anchor="ctr"/>
          <a:lstStyle/>
          <a:p/>
        </p:txBody>
      </p:sp>
      <p:pic>
        <p:nvPicPr>
          <p:cNvPr id="151" name="Picture 150" descr="MdVerifiedUser_FFFFFF.png"/>
          <p:cNvPicPr>
            <a:picLocks noChangeAspect="1"/>
          </p:cNvPicPr>
          <p:nvPr/>
        </p:nvPicPr>
        <p:blipFill>
          <a:blip r:embed="rId5"/>
          <a:stretch>
            <a:fillRect/>
          </a:stretch>
        </p:blipFill>
        <p:spPr>
          <a:xfrm>
            <a:off x="1218346" y="3504346"/>
            <a:ext cx="215066" cy="215066"/>
          </a:xfrm>
          <a:prstGeom prst="rect">
            <a:avLst/>
          </a:prstGeom>
        </p:spPr>
      </p:pic>
      <p:sp>
        <p:nvSpPr>
          <p:cNvPr id="152" name="TextBox 151"/>
          <p:cNvSpPr txBox="1"/>
          <p:nvPr/>
        </p:nvSpPr>
        <p:spPr>
          <a:xfrm>
            <a:off x="1645920" y="3383280"/>
            <a:ext cx="2441448" cy="640080"/>
          </a:xfrm>
          <a:prstGeom prst="rect">
            <a:avLst/>
          </a:prstGeom>
          <a:noFill/>
        </p:spPr>
        <p:txBody>
          <a:bodyPr wrap="square" lIns="0" rIns="0" tIns="0" bIns="0" anchor="t">
            <a:spAutoFit/>
          </a:bodyPr>
          <a:lstStyle/>
          <a:p>
            <a:pPr algn="l"/>
            <a:r>
              <a:rPr sz="1200" b="1" i="0">
                <a:solidFill>
                  <a:srgbClr val="14142B"/>
                </a:solidFill>
                <a:latin typeface="Calibri"/>
              </a:rPr>
              <a:t>Proof-checked steps</a:t>
            </a:r>
          </a:p>
          <a:p>
            <a:pPr algn="l"/>
            <a:r>
              <a:rPr sz="1050" b="0" i="0">
                <a:solidFill>
                  <a:srgbClr val="5B5F77"/>
                </a:solidFill>
                <a:latin typeface="Calibri"/>
              </a:rPr>
              <a:t>cart count, − 1 +, the dish’s name before “done”</a:t>
            </a:r>
          </a:p>
        </p:txBody>
      </p:sp>
      <p:sp>
        <p:nvSpPr>
          <p:cNvPr id="153" name="Oval 152"/>
          <p:cNvSpPr/>
          <p:nvPr/>
        </p:nvSpPr>
        <p:spPr>
          <a:xfrm>
            <a:off x="1133856" y="4087368"/>
            <a:ext cx="384048" cy="384048"/>
          </a:xfrm>
          <a:prstGeom prst="ellipse">
            <a:avLst/>
          </a:prstGeom>
          <a:solidFill>
            <a:srgbClr val="14142B"/>
          </a:solidFill>
          <a:ln>
            <a:noFill/>
          </a:ln>
          <a:effectLst/>
        </p:spPr>
        <p:txBody>
          <a:bodyPr rtlCol="0" anchor="ctr"/>
          <a:lstStyle/>
          <a:p/>
        </p:txBody>
      </p:sp>
      <p:pic>
        <p:nvPicPr>
          <p:cNvPr id="154" name="Picture 153" descr="MdCleaningServices_FFFFFF.png"/>
          <p:cNvPicPr>
            <a:picLocks noChangeAspect="1"/>
          </p:cNvPicPr>
          <p:nvPr/>
        </p:nvPicPr>
        <p:blipFill>
          <a:blip r:embed="rId6"/>
          <a:stretch>
            <a:fillRect/>
          </a:stretch>
        </p:blipFill>
        <p:spPr>
          <a:xfrm>
            <a:off x="1218346" y="4171858"/>
            <a:ext cx="215066" cy="215066"/>
          </a:xfrm>
          <a:prstGeom prst="rect">
            <a:avLst/>
          </a:prstGeom>
        </p:spPr>
      </p:pic>
      <p:sp>
        <p:nvSpPr>
          <p:cNvPr id="155" name="TextBox 154"/>
          <p:cNvSpPr txBox="1"/>
          <p:nvPr/>
        </p:nvSpPr>
        <p:spPr>
          <a:xfrm>
            <a:off x="1645920" y="4050791"/>
            <a:ext cx="2441448" cy="640080"/>
          </a:xfrm>
          <a:prstGeom prst="rect">
            <a:avLst/>
          </a:prstGeom>
          <a:noFill/>
        </p:spPr>
        <p:txBody>
          <a:bodyPr wrap="square" lIns="0" rIns="0" tIns="0" bIns="0" anchor="t">
            <a:spAutoFit/>
          </a:bodyPr>
          <a:lstStyle/>
          <a:p>
            <a:pPr algn="l"/>
            <a:r>
              <a:rPr sz="1200" b="1" i="0">
                <a:solidFill>
                  <a:srgbClr val="14142B"/>
                </a:solidFill>
                <a:latin typeface="Calibri"/>
              </a:rPr>
              <a:t>Clean tasks from messy demos</a:t>
            </a:r>
          </a:p>
          <a:p>
            <a:pPr algn="l"/>
            <a:r>
              <a:rPr sz="1050" b="0" i="0">
                <a:solidFill>
                  <a:srgbClr val="5B5F77"/>
                </a:solidFill>
                <a:latin typeface="Calibri"/>
              </a:rPr>
              <a:t>mis-taps, a call, an unneeded filter are dropped</a:t>
            </a:r>
          </a:p>
        </p:txBody>
      </p:sp>
      <p:sp>
        <p:nvSpPr>
          <p:cNvPr id="156" name="Oval 155"/>
          <p:cNvSpPr/>
          <p:nvPr/>
        </p:nvSpPr>
        <p:spPr>
          <a:xfrm>
            <a:off x="1133856" y="4754880"/>
            <a:ext cx="384048" cy="384048"/>
          </a:xfrm>
          <a:prstGeom prst="ellipse">
            <a:avLst/>
          </a:prstGeom>
          <a:solidFill>
            <a:srgbClr val="6D28D9"/>
          </a:solidFill>
          <a:ln>
            <a:noFill/>
          </a:ln>
          <a:effectLst/>
        </p:spPr>
        <p:txBody>
          <a:bodyPr rtlCol="0" anchor="ctr"/>
          <a:lstStyle/>
          <a:p/>
        </p:txBody>
      </p:sp>
      <p:pic>
        <p:nvPicPr>
          <p:cNvPr id="157" name="Picture 156" descr="MdApps_FFFFFF.png"/>
          <p:cNvPicPr>
            <a:picLocks noChangeAspect="1"/>
          </p:cNvPicPr>
          <p:nvPr/>
        </p:nvPicPr>
        <p:blipFill>
          <a:blip r:embed="rId7"/>
          <a:stretch>
            <a:fillRect/>
          </a:stretch>
        </p:blipFill>
        <p:spPr>
          <a:xfrm>
            <a:off x="1218346" y="4839370"/>
            <a:ext cx="215066" cy="215066"/>
          </a:xfrm>
          <a:prstGeom prst="rect">
            <a:avLst/>
          </a:prstGeom>
        </p:spPr>
      </p:pic>
      <p:sp>
        <p:nvSpPr>
          <p:cNvPr id="158" name="TextBox 157"/>
          <p:cNvSpPr txBox="1"/>
          <p:nvPr/>
        </p:nvSpPr>
        <p:spPr>
          <a:xfrm>
            <a:off x="1645920" y="4718304"/>
            <a:ext cx="2441448" cy="640080"/>
          </a:xfrm>
          <a:prstGeom prst="rect">
            <a:avLst/>
          </a:prstGeom>
          <a:noFill/>
        </p:spPr>
        <p:txBody>
          <a:bodyPr wrap="square" lIns="0" rIns="0" tIns="0" bIns="0" anchor="t">
            <a:spAutoFit/>
          </a:bodyPr>
          <a:lstStyle/>
          <a:p>
            <a:pPr algn="l"/>
            <a:r>
              <a:rPr sz="1200" b="1" i="0">
                <a:solidFill>
                  <a:srgbClr val="14142B"/>
                </a:solidFill>
                <a:latin typeface="Calibri"/>
              </a:rPr>
              <a:t>One demo, similar apps</a:t>
            </a:r>
          </a:p>
          <a:p>
            <a:pPr algn="l"/>
            <a:r>
              <a:rPr sz="1050" b="0" i="0">
                <a:solidFill>
                  <a:srgbClr val="5B5F77"/>
                </a:solidFill>
                <a:latin typeface="Calibri"/>
              </a:rPr>
              <a:t>the Amazon task runs on Myntra, skips “AD” tiles</a:t>
            </a:r>
          </a:p>
        </p:txBody>
      </p:sp>
      <p:sp>
        <p:nvSpPr>
          <p:cNvPr id="159" name="Oval 158"/>
          <p:cNvSpPr/>
          <p:nvPr/>
        </p:nvSpPr>
        <p:spPr>
          <a:xfrm>
            <a:off x="1133856" y="5422392"/>
            <a:ext cx="384048" cy="384048"/>
          </a:xfrm>
          <a:prstGeom prst="ellipse">
            <a:avLst/>
          </a:prstGeom>
          <a:solidFill>
            <a:srgbClr val="14142B"/>
          </a:solidFill>
          <a:ln>
            <a:noFill/>
          </a:ln>
          <a:effectLst/>
        </p:spPr>
        <p:txBody>
          <a:bodyPr rtlCol="0" anchor="ctr"/>
          <a:lstStyle/>
          <a:p/>
        </p:txBody>
      </p:sp>
      <p:pic>
        <p:nvPicPr>
          <p:cNvPr id="160" name="Picture 159" descr="MdHelpOutline_FFFFFF.png"/>
          <p:cNvPicPr>
            <a:picLocks noChangeAspect="1"/>
          </p:cNvPicPr>
          <p:nvPr/>
        </p:nvPicPr>
        <p:blipFill>
          <a:blip r:embed="rId8"/>
          <a:stretch>
            <a:fillRect/>
          </a:stretch>
        </p:blipFill>
        <p:spPr>
          <a:xfrm>
            <a:off x="1218346" y="5506882"/>
            <a:ext cx="215066" cy="215066"/>
          </a:xfrm>
          <a:prstGeom prst="rect">
            <a:avLst/>
          </a:prstGeom>
        </p:spPr>
      </p:pic>
      <p:sp>
        <p:nvSpPr>
          <p:cNvPr id="161" name="TextBox 160"/>
          <p:cNvSpPr txBox="1"/>
          <p:nvPr/>
        </p:nvSpPr>
        <p:spPr>
          <a:xfrm>
            <a:off x="1645920" y="5385816"/>
            <a:ext cx="2441448" cy="640080"/>
          </a:xfrm>
          <a:prstGeom prst="rect">
            <a:avLst/>
          </a:prstGeom>
          <a:noFill/>
        </p:spPr>
        <p:txBody>
          <a:bodyPr wrap="square" lIns="0" rIns="0" tIns="0" bIns="0" anchor="t">
            <a:spAutoFit/>
          </a:bodyPr>
          <a:lstStyle/>
          <a:p>
            <a:pPr algn="l"/>
            <a:r>
              <a:rPr sz="1200" b="1" i="0">
                <a:solidFill>
                  <a:srgbClr val="14142B"/>
                </a:solidFill>
                <a:latin typeface="Calibri"/>
              </a:rPr>
              <a:t>Asks like a person</a:t>
            </a:r>
          </a:p>
          <a:p>
            <a:pPr algn="l"/>
            <a:r>
              <a:rPr sz="1050" b="0" i="0">
                <a:solidFill>
                  <a:srgbClr val="5B5F77"/>
                </a:solidFill>
                <a:latin typeface="Calibri"/>
              </a:rPr>
              <a:t>one question when a value is missing or personal</a:t>
            </a:r>
          </a:p>
        </p:txBody>
      </p:sp>
      <p:sp>
        <p:nvSpPr>
          <p:cNvPr id="162" name="Rounded Rectangle 161"/>
          <p:cNvSpPr/>
          <p:nvPr/>
        </p:nvSpPr>
        <p:spPr>
          <a:xfrm>
            <a:off x="4645152" y="2048256"/>
            <a:ext cx="1389888" cy="841248"/>
          </a:xfrm>
          <a:prstGeom prst="roundRect">
            <a:avLst>
              <a:gd name="adj" fmla="val 8695"/>
            </a:avLst>
          </a:prstGeom>
          <a:solidFill>
            <a:srgbClr val="FFFFFF"/>
          </a:solidFill>
          <a:ln w="12700">
            <a:solidFill>
              <a:srgbClr val="D9D3F0"/>
            </a:solidFill>
          </a:ln>
          <a:effectLst/>
        </p:spPr>
        <p:txBody>
          <a:bodyPr rtlCol="0" anchor="ctr"/>
          <a:lstStyle/>
          <a:p/>
        </p:txBody>
      </p:sp>
      <p:sp>
        <p:nvSpPr>
          <p:cNvPr id="163" name="TextBox 162"/>
          <p:cNvSpPr txBox="1"/>
          <p:nvPr/>
        </p:nvSpPr>
        <p:spPr>
          <a:xfrm>
            <a:off x="4754880" y="2103120"/>
            <a:ext cx="1188720" cy="411480"/>
          </a:xfrm>
          <a:prstGeom prst="rect">
            <a:avLst/>
          </a:prstGeom>
          <a:noFill/>
        </p:spPr>
        <p:txBody>
          <a:bodyPr wrap="square" lIns="0" rIns="0" tIns="0" bIns="0" anchor="t">
            <a:spAutoFit/>
          </a:bodyPr>
          <a:lstStyle/>
          <a:p>
            <a:pPr algn="l"/>
            <a:r>
              <a:rPr sz="2000" b="1" i="0">
                <a:solidFill>
                  <a:srgbClr val="0E9F6E"/>
                </a:solidFill>
                <a:latin typeface="Arial"/>
              </a:rPr>
              <a:t>8 / 8</a:t>
            </a:r>
          </a:p>
        </p:txBody>
      </p:sp>
      <p:sp>
        <p:nvSpPr>
          <p:cNvPr id="164" name="TextBox 163"/>
          <p:cNvSpPr txBox="1"/>
          <p:nvPr/>
        </p:nvSpPr>
        <p:spPr>
          <a:xfrm>
            <a:off x="4754880" y="2505456"/>
            <a:ext cx="1216152" cy="365760"/>
          </a:xfrm>
          <a:prstGeom prst="rect">
            <a:avLst/>
          </a:prstGeom>
          <a:noFill/>
        </p:spPr>
        <p:txBody>
          <a:bodyPr wrap="square" lIns="0" rIns="0" tIns="0" bIns="0" anchor="t">
            <a:spAutoFit/>
          </a:bodyPr>
          <a:lstStyle/>
          <a:p>
            <a:pPr algn="l"/>
            <a:r>
              <a:rPr sz="950" b="0" i="0">
                <a:solidFill>
                  <a:srgbClr val="5B5F77"/>
                </a:solidFill>
                <a:latin typeface="Calibri"/>
              </a:rPr>
              <a:t>judges’ sentence, 0 LLM calls</a:t>
            </a:r>
          </a:p>
        </p:txBody>
      </p:sp>
      <p:sp>
        <p:nvSpPr>
          <p:cNvPr id="165" name="Rounded Rectangle 164"/>
          <p:cNvSpPr/>
          <p:nvPr/>
        </p:nvSpPr>
        <p:spPr>
          <a:xfrm>
            <a:off x="6126480" y="2048256"/>
            <a:ext cx="1389888" cy="841248"/>
          </a:xfrm>
          <a:prstGeom prst="roundRect">
            <a:avLst>
              <a:gd name="adj" fmla="val 8695"/>
            </a:avLst>
          </a:prstGeom>
          <a:solidFill>
            <a:srgbClr val="FFFFFF"/>
          </a:solidFill>
          <a:ln w="12700">
            <a:solidFill>
              <a:srgbClr val="D9D3F0"/>
            </a:solidFill>
          </a:ln>
          <a:effectLst/>
        </p:spPr>
        <p:txBody>
          <a:bodyPr rtlCol="0" anchor="ctr"/>
          <a:lstStyle/>
          <a:p/>
        </p:txBody>
      </p:sp>
      <p:sp>
        <p:nvSpPr>
          <p:cNvPr id="166" name="TextBox 165"/>
          <p:cNvSpPr txBox="1"/>
          <p:nvPr/>
        </p:nvSpPr>
        <p:spPr>
          <a:xfrm>
            <a:off x="6236208" y="2103120"/>
            <a:ext cx="1188720" cy="411480"/>
          </a:xfrm>
          <a:prstGeom prst="rect">
            <a:avLst/>
          </a:prstGeom>
          <a:noFill/>
        </p:spPr>
        <p:txBody>
          <a:bodyPr wrap="square" lIns="0" rIns="0" tIns="0" bIns="0" anchor="t">
            <a:spAutoFit/>
          </a:bodyPr>
          <a:lstStyle/>
          <a:p>
            <a:pPr algn="l"/>
            <a:r>
              <a:rPr sz="2000" b="1" i="0">
                <a:solidFill>
                  <a:srgbClr val="0E9F6E"/>
                </a:solidFill>
                <a:latin typeface="Arial"/>
              </a:rPr>
              <a:t>14 / 14</a:t>
            </a:r>
          </a:p>
        </p:txBody>
      </p:sp>
      <p:sp>
        <p:nvSpPr>
          <p:cNvPr id="167" name="TextBox 166"/>
          <p:cNvSpPr txBox="1"/>
          <p:nvPr/>
        </p:nvSpPr>
        <p:spPr>
          <a:xfrm>
            <a:off x="6236208" y="2505456"/>
            <a:ext cx="1216152" cy="365760"/>
          </a:xfrm>
          <a:prstGeom prst="rect">
            <a:avLst/>
          </a:prstGeom>
          <a:noFill/>
        </p:spPr>
        <p:txBody>
          <a:bodyPr wrap="square" lIns="0" rIns="0" tIns="0" bIns="0" anchor="t">
            <a:spAutoFit/>
          </a:bodyPr>
          <a:lstStyle/>
          <a:p>
            <a:pPr algn="l"/>
            <a:r>
              <a:rPr sz="950" b="0" i="0">
                <a:solidFill>
                  <a:srgbClr val="5B5F77"/>
                </a:solidFill>
                <a:latin typeface="Calibri"/>
              </a:rPr>
              <a:t>Amazon, taught by hand</a:t>
            </a:r>
          </a:p>
        </p:txBody>
      </p:sp>
      <p:sp>
        <p:nvSpPr>
          <p:cNvPr id="168" name="Rounded Rectangle 167"/>
          <p:cNvSpPr/>
          <p:nvPr/>
        </p:nvSpPr>
        <p:spPr>
          <a:xfrm>
            <a:off x="4645152" y="2980944"/>
            <a:ext cx="1389888" cy="841248"/>
          </a:xfrm>
          <a:prstGeom prst="roundRect">
            <a:avLst>
              <a:gd name="adj" fmla="val 8695"/>
            </a:avLst>
          </a:prstGeom>
          <a:solidFill>
            <a:srgbClr val="FFFFFF"/>
          </a:solidFill>
          <a:ln w="12700">
            <a:solidFill>
              <a:srgbClr val="D9D3F0"/>
            </a:solidFill>
          </a:ln>
          <a:effectLst/>
        </p:spPr>
        <p:txBody>
          <a:bodyPr rtlCol="0" anchor="ctr"/>
          <a:lstStyle/>
          <a:p/>
        </p:txBody>
      </p:sp>
      <p:sp>
        <p:nvSpPr>
          <p:cNvPr id="169" name="TextBox 168"/>
          <p:cNvSpPr txBox="1"/>
          <p:nvPr/>
        </p:nvSpPr>
        <p:spPr>
          <a:xfrm>
            <a:off x="4754880" y="3035808"/>
            <a:ext cx="1188720" cy="411480"/>
          </a:xfrm>
          <a:prstGeom prst="rect">
            <a:avLst/>
          </a:prstGeom>
          <a:noFill/>
        </p:spPr>
        <p:txBody>
          <a:bodyPr wrap="square" lIns="0" rIns="0" tIns="0" bIns="0" anchor="t">
            <a:spAutoFit/>
          </a:bodyPr>
          <a:lstStyle/>
          <a:p>
            <a:pPr algn="l"/>
            <a:r>
              <a:rPr sz="2000" b="1" i="0">
                <a:solidFill>
                  <a:srgbClr val="0E9F6E"/>
                </a:solidFill>
                <a:latin typeface="Arial"/>
              </a:rPr>
              <a:t>7 / 7</a:t>
            </a:r>
          </a:p>
        </p:txBody>
      </p:sp>
      <p:sp>
        <p:nvSpPr>
          <p:cNvPr id="170" name="TextBox 169"/>
          <p:cNvSpPr txBox="1"/>
          <p:nvPr/>
        </p:nvSpPr>
        <p:spPr>
          <a:xfrm>
            <a:off x="4754880" y="3438144"/>
            <a:ext cx="1216152" cy="365760"/>
          </a:xfrm>
          <a:prstGeom prst="rect">
            <a:avLst/>
          </a:prstGeom>
          <a:noFill/>
        </p:spPr>
        <p:txBody>
          <a:bodyPr wrap="square" lIns="0" rIns="0" tIns="0" bIns="0" anchor="t">
            <a:spAutoFit/>
          </a:bodyPr>
          <a:lstStyle/>
          <a:p>
            <a:pPr algn="l"/>
            <a:r>
              <a:rPr sz="950" b="0" i="0">
                <a:solidFill>
                  <a:srgbClr val="5B5F77"/>
                </a:solidFill>
                <a:latin typeface="Calibri"/>
              </a:rPr>
              <a:t>Myntra (Amazon task)</a:t>
            </a:r>
          </a:p>
        </p:txBody>
      </p:sp>
      <p:sp>
        <p:nvSpPr>
          <p:cNvPr id="171" name="Rounded Rectangle 170"/>
          <p:cNvSpPr/>
          <p:nvPr/>
        </p:nvSpPr>
        <p:spPr>
          <a:xfrm>
            <a:off x="6126480" y="2980944"/>
            <a:ext cx="1389888" cy="841248"/>
          </a:xfrm>
          <a:prstGeom prst="roundRect">
            <a:avLst>
              <a:gd name="adj" fmla="val 8695"/>
            </a:avLst>
          </a:prstGeom>
          <a:solidFill>
            <a:srgbClr val="FFFFFF"/>
          </a:solidFill>
          <a:ln w="12700">
            <a:solidFill>
              <a:srgbClr val="D9D3F0"/>
            </a:solidFill>
          </a:ln>
          <a:effectLst/>
        </p:spPr>
        <p:txBody>
          <a:bodyPr rtlCol="0" anchor="ctr"/>
          <a:lstStyle/>
          <a:p/>
        </p:txBody>
      </p:sp>
      <p:sp>
        <p:nvSpPr>
          <p:cNvPr id="172" name="TextBox 171"/>
          <p:cNvSpPr txBox="1"/>
          <p:nvPr/>
        </p:nvSpPr>
        <p:spPr>
          <a:xfrm>
            <a:off x="6236208" y="3035808"/>
            <a:ext cx="1188720" cy="411480"/>
          </a:xfrm>
          <a:prstGeom prst="rect">
            <a:avLst/>
          </a:prstGeom>
          <a:noFill/>
        </p:spPr>
        <p:txBody>
          <a:bodyPr wrap="square" lIns="0" rIns="0" tIns="0" bIns="0" anchor="t">
            <a:spAutoFit/>
          </a:bodyPr>
          <a:lstStyle/>
          <a:p>
            <a:pPr algn="l"/>
            <a:r>
              <a:rPr sz="2000" b="1" i="0">
                <a:solidFill>
                  <a:srgbClr val="6D28D9"/>
                </a:solidFill>
                <a:latin typeface="Arial"/>
              </a:rPr>
              <a:t>14 / 14</a:t>
            </a:r>
          </a:p>
        </p:txBody>
      </p:sp>
      <p:sp>
        <p:nvSpPr>
          <p:cNvPr id="173" name="TextBox 172"/>
          <p:cNvSpPr txBox="1"/>
          <p:nvPr/>
        </p:nvSpPr>
        <p:spPr>
          <a:xfrm>
            <a:off x="6236208" y="3438144"/>
            <a:ext cx="1216152" cy="365760"/>
          </a:xfrm>
          <a:prstGeom prst="rect">
            <a:avLst/>
          </a:prstGeom>
          <a:noFill/>
        </p:spPr>
        <p:txBody>
          <a:bodyPr wrap="square" lIns="0" rIns="0" tIns="0" bIns="0" anchor="t">
            <a:spAutoFit/>
          </a:bodyPr>
          <a:lstStyle/>
          <a:p>
            <a:pPr algn="l"/>
            <a:r>
              <a:rPr sz="950" b="0" i="0">
                <a:solidFill>
                  <a:srgbClr val="5B5F77"/>
                </a:solidFill>
                <a:latin typeface="Calibri"/>
              </a:rPr>
              <a:t>theme test cases T1–T14</a:t>
            </a:r>
          </a:p>
        </p:txBody>
      </p:sp>
      <p:pic>
        <p:nvPicPr>
          <p:cNvPr id="174" name="Picture 173" descr="MdCheckCircle_0E9F6E.png"/>
          <p:cNvPicPr>
            <a:picLocks noChangeAspect="1"/>
          </p:cNvPicPr>
          <p:nvPr/>
        </p:nvPicPr>
        <p:blipFill>
          <a:blip r:embed="rId9"/>
          <a:stretch>
            <a:fillRect/>
          </a:stretch>
        </p:blipFill>
        <p:spPr>
          <a:xfrm>
            <a:off x="4645152" y="4032504"/>
            <a:ext cx="219456" cy="219456"/>
          </a:xfrm>
          <a:prstGeom prst="rect">
            <a:avLst/>
          </a:prstGeom>
        </p:spPr>
      </p:pic>
      <p:sp>
        <p:nvSpPr>
          <p:cNvPr id="175" name="TextBox 174"/>
          <p:cNvSpPr txBox="1"/>
          <p:nvPr/>
        </p:nvSpPr>
        <p:spPr>
          <a:xfrm>
            <a:off x="4956048" y="3995928"/>
            <a:ext cx="2651760" cy="475488"/>
          </a:xfrm>
          <a:prstGeom prst="rect">
            <a:avLst/>
          </a:prstGeom>
          <a:noFill/>
        </p:spPr>
        <p:txBody>
          <a:bodyPr wrap="square" lIns="0" rIns="0" tIns="0" bIns="0" anchor="t">
            <a:spAutoFit/>
          </a:bodyPr>
          <a:lstStyle/>
          <a:p>
            <a:pPr algn="l"/>
            <a:r>
              <a:rPr sz="1050" b="0" i="0">
                <a:solidFill>
                  <a:srgbClr val="1F2037"/>
                </a:solidFill>
                <a:latin typeface="Calibri"/>
              </a:rPr>
              <a:t>“Order garlic bread from dominos” → Classic Stuffed Garlic Bread</a:t>
            </a:r>
          </a:p>
        </p:txBody>
      </p:sp>
      <p:pic>
        <p:nvPicPr>
          <p:cNvPr id="176" name="Picture 175" descr="MdCheckCircle_0E9F6E.png"/>
          <p:cNvPicPr>
            <a:picLocks noChangeAspect="1"/>
          </p:cNvPicPr>
          <p:nvPr/>
        </p:nvPicPr>
        <p:blipFill>
          <a:blip r:embed="rId9"/>
          <a:stretch>
            <a:fillRect/>
          </a:stretch>
        </p:blipFill>
        <p:spPr>
          <a:xfrm>
            <a:off x="4645152" y="4544568"/>
            <a:ext cx="219456" cy="219456"/>
          </a:xfrm>
          <a:prstGeom prst="rect">
            <a:avLst/>
          </a:prstGeom>
        </p:spPr>
      </p:pic>
      <p:sp>
        <p:nvSpPr>
          <p:cNvPr id="177" name="TextBox 176"/>
          <p:cNvSpPr txBox="1"/>
          <p:nvPr/>
        </p:nvSpPr>
        <p:spPr>
          <a:xfrm>
            <a:off x="4956048" y="4507992"/>
            <a:ext cx="2651760" cy="475488"/>
          </a:xfrm>
          <a:prstGeom prst="rect">
            <a:avLst/>
          </a:prstGeom>
          <a:noFill/>
        </p:spPr>
        <p:txBody>
          <a:bodyPr wrap="square" lIns="0" rIns="0" tIns="0" bIns="0" anchor="t">
            <a:spAutoFit/>
          </a:bodyPr>
          <a:lstStyle/>
          <a:p>
            <a:pPr algn="l"/>
            <a:r>
              <a:rPr sz="1050" b="0" i="0">
                <a:solidFill>
                  <a:srgbClr val="1F2037"/>
                </a:solidFill>
                <a:latin typeface="Calibri"/>
              </a:rPr>
              <a:t>Taught on Domino’s, ran on Pizza Hut (63 s)</a:t>
            </a:r>
          </a:p>
        </p:txBody>
      </p:sp>
      <p:pic>
        <p:nvPicPr>
          <p:cNvPr id="178" name="Picture 177" descr="MdCheckCircle_0E9F6E.png"/>
          <p:cNvPicPr>
            <a:picLocks noChangeAspect="1"/>
          </p:cNvPicPr>
          <p:nvPr/>
        </p:nvPicPr>
        <p:blipFill>
          <a:blip r:embed="rId9"/>
          <a:stretch>
            <a:fillRect/>
          </a:stretch>
        </p:blipFill>
        <p:spPr>
          <a:xfrm>
            <a:off x="4645152" y="5056632"/>
            <a:ext cx="219456" cy="219456"/>
          </a:xfrm>
          <a:prstGeom prst="rect">
            <a:avLst/>
          </a:prstGeom>
        </p:spPr>
      </p:pic>
      <p:sp>
        <p:nvSpPr>
          <p:cNvPr id="179" name="TextBox 178"/>
          <p:cNvSpPr txBox="1"/>
          <p:nvPr/>
        </p:nvSpPr>
        <p:spPr>
          <a:xfrm>
            <a:off x="4956048" y="5020056"/>
            <a:ext cx="2651760" cy="475488"/>
          </a:xfrm>
          <a:prstGeom prst="rect">
            <a:avLst/>
          </a:prstGeom>
          <a:noFill/>
        </p:spPr>
        <p:txBody>
          <a:bodyPr wrap="square" lIns="0" rIns="0" tIns="0" bIns="0" anchor="t">
            <a:spAutoFit/>
          </a:bodyPr>
          <a:lstStyle/>
          <a:p>
            <a:pPr algn="l"/>
            <a:r>
              <a:rPr sz="1050" b="0" i="0">
                <a:solidFill>
                  <a:srgbClr val="1F2037"/>
                </a:solidFill>
                <a:latin typeface="Calibri"/>
              </a:rPr>
              <a:t>App switched to Hindi → says why in 5 s</a:t>
            </a:r>
          </a:p>
        </p:txBody>
      </p:sp>
      <p:pic>
        <p:nvPicPr>
          <p:cNvPr id="180" name="Picture 179" descr="MdCheckCircle_0E9F6E.png"/>
          <p:cNvPicPr>
            <a:picLocks noChangeAspect="1"/>
          </p:cNvPicPr>
          <p:nvPr/>
        </p:nvPicPr>
        <p:blipFill>
          <a:blip r:embed="rId9"/>
          <a:stretch>
            <a:fillRect/>
          </a:stretch>
        </p:blipFill>
        <p:spPr>
          <a:xfrm>
            <a:off x="4645152" y="5568696"/>
            <a:ext cx="219456" cy="219456"/>
          </a:xfrm>
          <a:prstGeom prst="rect">
            <a:avLst/>
          </a:prstGeom>
        </p:spPr>
      </p:pic>
      <p:sp>
        <p:nvSpPr>
          <p:cNvPr id="181" name="TextBox 180"/>
          <p:cNvSpPr txBox="1"/>
          <p:nvPr/>
        </p:nvSpPr>
        <p:spPr>
          <a:xfrm>
            <a:off x="4956048" y="5532120"/>
            <a:ext cx="2651760" cy="475488"/>
          </a:xfrm>
          <a:prstGeom prst="rect">
            <a:avLst/>
          </a:prstGeom>
          <a:noFill/>
        </p:spPr>
        <p:txBody>
          <a:bodyPr wrap="square" lIns="0" rIns="0" tIns="0" bIns="0" anchor="t">
            <a:spAutoFit/>
          </a:bodyPr>
          <a:lstStyle/>
          <a:p>
            <a:pPr algn="l"/>
            <a:r>
              <a:rPr sz="1050" b="0" i="0">
                <a:solidFill>
                  <a:srgbClr val="1F2037"/>
                </a:solidFill>
                <a:latin typeface="Calibri"/>
              </a:rPr>
              <a:t>Every judges’ sentence handled, verbatim</a:t>
            </a:r>
          </a:p>
        </p:txBody>
      </p:sp>
      <p:sp>
        <p:nvSpPr>
          <p:cNvPr id="182" name="Oval 181"/>
          <p:cNvSpPr/>
          <p:nvPr/>
        </p:nvSpPr>
        <p:spPr>
          <a:xfrm>
            <a:off x="8156448" y="2084832"/>
            <a:ext cx="384048" cy="384048"/>
          </a:xfrm>
          <a:prstGeom prst="ellipse">
            <a:avLst/>
          </a:prstGeom>
          <a:solidFill>
            <a:srgbClr val="2B2560"/>
          </a:solidFill>
          <a:ln>
            <a:noFill/>
          </a:ln>
          <a:effectLst/>
        </p:spPr>
        <p:txBody>
          <a:bodyPr rtlCol="0" anchor="ctr"/>
          <a:lstStyle/>
          <a:p/>
        </p:txBody>
      </p:sp>
      <p:pic>
        <p:nvPicPr>
          <p:cNvPr id="183" name="Picture 182" descr="MdWifiOff_FFFFFF.png"/>
          <p:cNvPicPr>
            <a:picLocks noChangeAspect="1"/>
          </p:cNvPicPr>
          <p:nvPr/>
        </p:nvPicPr>
        <p:blipFill>
          <a:blip r:embed="rId10"/>
          <a:stretch>
            <a:fillRect/>
          </a:stretch>
        </p:blipFill>
        <p:spPr>
          <a:xfrm>
            <a:off x="8240938" y="2169322"/>
            <a:ext cx="215066" cy="215066"/>
          </a:xfrm>
          <a:prstGeom prst="rect">
            <a:avLst/>
          </a:prstGeom>
        </p:spPr>
      </p:pic>
      <p:sp>
        <p:nvSpPr>
          <p:cNvPr id="184" name="TextBox 183"/>
          <p:cNvSpPr txBox="1"/>
          <p:nvPr/>
        </p:nvSpPr>
        <p:spPr>
          <a:xfrm>
            <a:off x="8668512" y="2048256"/>
            <a:ext cx="2441448" cy="640080"/>
          </a:xfrm>
          <a:prstGeom prst="rect">
            <a:avLst/>
          </a:prstGeom>
          <a:noFill/>
        </p:spPr>
        <p:txBody>
          <a:bodyPr wrap="square" lIns="0" rIns="0" tIns="0" bIns="0" anchor="t">
            <a:spAutoFit/>
          </a:bodyPr>
          <a:lstStyle/>
          <a:p>
            <a:pPr algn="l"/>
            <a:r>
              <a:rPr sz="1200" b="1" i="0">
                <a:solidFill>
                  <a:srgbClr val="14142B"/>
                </a:solidFill>
                <a:latin typeface="Calibri"/>
              </a:rPr>
              <a:t>Paraphrases need the model</a:t>
            </a:r>
          </a:p>
          <a:p>
            <a:pPr algn="l"/>
            <a:r>
              <a:rPr sz="1050" b="0" i="0">
                <a:solidFill>
                  <a:srgbClr val="5B5F77"/>
                </a:solidFill>
                <a:latin typeface="Calibri"/>
              </a:rPr>
              <a:t>exact commands work offline</a:t>
            </a:r>
          </a:p>
        </p:txBody>
      </p:sp>
      <p:sp>
        <p:nvSpPr>
          <p:cNvPr id="185" name="Oval 184"/>
          <p:cNvSpPr/>
          <p:nvPr/>
        </p:nvSpPr>
        <p:spPr>
          <a:xfrm>
            <a:off x="8156448" y="2752344"/>
            <a:ext cx="384048" cy="384048"/>
          </a:xfrm>
          <a:prstGeom prst="ellipse">
            <a:avLst/>
          </a:prstGeom>
          <a:solidFill>
            <a:srgbClr val="2B2560"/>
          </a:solidFill>
          <a:ln>
            <a:noFill/>
          </a:ln>
          <a:effectLst/>
        </p:spPr>
        <p:txBody>
          <a:bodyPr rtlCol="0" anchor="ctr"/>
          <a:lstStyle/>
          <a:p/>
        </p:txBody>
      </p:sp>
      <p:pic>
        <p:nvPicPr>
          <p:cNvPr id="186" name="Picture 185" descr="MdSpeed_FFFFFF.png"/>
          <p:cNvPicPr>
            <a:picLocks noChangeAspect="1"/>
          </p:cNvPicPr>
          <p:nvPr/>
        </p:nvPicPr>
        <p:blipFill>
          <a:blip r:embed="rId11"/>
          <a:stretch>
            <a:fillRect/>
          </a:stretch>
        </p:blipFill>
        <p:spPr>
          <a:xfrm>
            <a:off x="8240938" y="2836834"/>
            <a:ext cx="215066" cy="215066"/>
          </a:xfrm>
          <a:prstGeom prst="rect">
            <a:avLst/>
          </a:prstGeom>
        </p:spPr>
      </p:pic>
      <p:sp>
        <p:nvSpPr>
          <p:cNvPr id="187" name="TextBox 186"/>
          <p:cNvSpPr txBox="1"/>
          <p:nvPr/>
        </p:nvSpPr>
        <p:spPr>
          <a:xfrm>
            <a:off x="8668512" y="2715768"/>
            <a:ext cx="2441448" cy="640080"/>
          </a:xfrm>
          <a:prstGeom prst="rect">
            <a:avLst/>
          </a:prstGeom>
          <a:noFill/>
        </p:spPr>
        <p:txBody>
          <a:bodyPr wrap="square" lIns="0" rIns="0" tIns="0" bIns="0" anchor="t">
            <a:spAutoFit/>
          </a:bodyPr>
          <a:lstStyle/>
          <a:p>
            <a:pPr algn="l"/>
            <a:r>
              <a:rPr sz="1200" b="1" i="0">
                <a:solidFill>
                  <a:srgbClr val="14142B"/>
                </a:solidFill>
                <a:latin typeface="Calibri"/>
              </a:rPr>
              <a:t>Another app is slower</a:t>
            </a:r>
          </a:p>
          <a:p>
            <a:pPr algn="l"/>
            <a:r>
              <a:rPr sz="1050" b="0" i="0">
                <a:solidFill>
                  <a:srgbClr val="5B5F77"/>
                </a:solidFill>
                <a:latin typeface="Calibri"/>
              </a:rPr>
              <a:t>45–60 s on Myntra vs 35–50 s on Amazon</a:t>
            </a:r>
          </a:p>
        </p:txBody>
      </p:sp>
      <p:sp>
        <p:nvSpPr>
          <p:cNvPr id="188" name="Oval 187"/>
          <p:cNvSpPr/>
          <p:nvPr/>
        </p:nvSpPr>
        <p:spPr>
          <a:xfrm>
            <a:off x="8156448" y="3419856"/>
            <a:ext cx="384048" cy="384048"/>
          </a:xfrm>
          <a:prstGeom prst="ellipse">
            <a:avLst/>
          </a:prstGeom>
          <a:solidFill>
            <a:srgbClr val="2B2560"/>
          </a:solidFill>
          <a:ln>
            <a:noFill/>
          </a:ln>
          <a:effectLst/>
        </p:spPr>
        <p:txBody>
          <a:bodyPr rtlCol="0" anchor="ctr"/>
          <a:lstStyle/>
          <a:p/>
        </p:txBody>
      </p:sp>
      <p:pic>
        <p:nvPicPr>
          <p:cNvPr id="189" name="Picture 188" descr="MdScreenLockPortrait_FFFFFF.png"/>
          <p:cNvPicPr>
            <a:picLocks noChangeAspect="1"/>
          </p:cNvPicPr>
          <p:nvPr/>
        </p:nvPicPr>
        <p:blipFill>
          <a:blip r:embed="rId12"/>
          <a:stretch>
            <a:fillRect/>
          </a:stretch>
        </p:blipFill>
        <p:spPr>
          <a:xfrm>
            <a:off x="8240938" y="3504346"/>
            <a:ext cx="215066" cy="215066"/>
          </a:xfrm>
          <a:prstGeom prst="rect">
            <a:avLst/>
          </a:prstGeom>
        </p:spPr>
      </p:pic>
      <p:sp>
        <p:nvSpPr>
          <p:cNvPr id="190" name="TextBox 189"/>
          <p:cNvSpPr txBox="1"/>
          <p:nvPr/>
        </p:nvSpPr>
        <p:spPr>
          <a:xfrm>
            <a:off x="8668512" y="3383280"/>
            <a:ext cx="2441448" cy="640080"/>
          </a:xfrm>
          <a:prstGeom prst="rect">
            <a:avLst/>
          </a:prstGeom>
          <a:noFill/>
        </p:spPr>
        <p:txBody>
          <a:bodyPr wrap="square" lIns="0" rIns="0" tIns="0" bIns="0" anchor="t">
            <a:spAutoFit/>
          </a:bodyPr>
          <a:lstStyle/>
          <a:p>
            <a:pPr algn="l"/>
            <a:r>
              <a:rPr sz="1200" b="1" i="0">
                <a:solidFill>
                  <a:srgbClr val="14142B"/>
                </a:solidFill>
                <a:latin typeface="Calibri"/>
              </a:rPr>
              <a:t>Screen on, phone unlocked</a:t>
            </a:r>
          </a:p>
          <a:p>
            <a:pPr algn="l"/>
            <a:r>
              <a:rPr sz="1050" b="0" i="0">
                <a:solidFill>
                  <a:srgbClr val="5B5F77"/>
                </a:solidFill>
                <a:latin typeface="Calibri"/>
              </a:rPr>
              <a:t>services can’t act on a locked screen</a:t>
            </a:r>
          </a:p>
        </p:txBody>
      </p:sp>
      <p:sp>
        <p:nvSpPr>
          <p:cNvPr id="191" name="Oval 190"/>
          <p:cNvSpPr/>
          <p:nvPr/>
        </p:nvSpPr>
        <p:spPr>
          <a:xfrm>
            <a:off x="8156448" y="4087368"/>
            <a:ext cx="384048" cy="384048"/>
          </a:xfrm>
          <a:prstGeom prst="ellipse">
            <a:avLst/>
          </a:prstGeom>
          <a:solidFill>
            <a:srgbClr val="2B2560"/>
          </a:solidFill>
          <a:ln>
            <a:noFill/>
          </a:ln>
          <a:effectLst/>
        </p:spPr>
        <p:txBody>
          <a:bodyPr rtlCol="0" anchor="ctr"/>
          <a:lstStyle/>
          <a:p/>
        </p:txBody>
      </p:sp>
      <p:pic>
        <p:nvPicPr>
          <p:cNvPr id="192" name="Picture 191" descr="MdInstallMobile_FFFFFF.png"/>
          <p:cNvPicPr>
            <a:picLocks noChangeAspect="1"/>
          </p:cNvPicPr>
          <p:nvPr/>
        </p:nvPicPr>
        <p:blipFill>
          <a:blip r:embed="rId13"/>
          <a:stretch>
            <a:fillRect/>
          </a:stretch>
        </p:blipFill>
        <p:spPr>
          <a:xfrm>
            <a:off x="8240938" y="4171858"/>
            <a:ext cx="215066" cy="215066"/>
          </a:xfrm>
          <a:prstGeom prst="rect">
            <a:avLst/>
          </a:prstGeom>
        </p:spPr>
      </p:pic>
      <p:sp>
        <p:nvSpPr>
          <p:cNvPr id="193" name="TextBox 192"/>
          <p:cNvSpPr txBox="1"/>
          <p:nvPr/>
        </p:nvSpPr>
        <p:spPr>
          <a:xfrm>
            <a:off x="8668512" y="4050791"/>
            <a:ext cx="2441448" cy="640080"/>
          </a:xfrm>
          <a:prstGeom prst="rect">
            <a:avLst/>
          </a:prstGeom>
          <a:noFill/>
        </p:spPr>
        <p:txBody>
          <a:bodyPr wrap="square" lIns="0" rIns="0" tIns="0" bIns="0" anchor="t">
            <a:spAutoFit/>
          </a:bodyPr>
          <a:lstStyle/>
          <a:p>
            <a:pPr algn="l"/>
            <a:r>
              <a:rPr sz="1200" b="1" i="0">
                <a:solidFill>
                  <a:srgbClr val="14142B"/>
                </a:solidFill>
                <a:latin typeface="Calibri"/>
              </a:rPr>
              <a:t>Sideloading in India</a:t>
            </a:r>
          </a:p>
          <a:p>
            <a:pPr algn="l"/>
            <a:r>
              <a:rPr sz="1050" b="0" i="0">
                <a:solidFill>
                  <a:srgbClr val="5B5F77"/>
                </a:solidFill>
                <a:latin typeface="Calibri"/>
              </a:rPr>
              <a:t>Play Protect: install over USB or pause it</a:t>
            </a:r>
          </a:p>
        </p:txBody>
      </p:sp>
      <p:sp>
        <p:nvSpPr>
          <p:cNvPr id="194" name="Oval 193"/>
          <p:cNvSpPr/>
          <p:nvPr/>
        </p:nvSpPr>
        <p:spPr>
          <a:xfrm>
            <a:off x="8156448" y="4754880"/>
            <a:ext cx="384048" cy="384048"/>
          </a:xfrm>
          <a:prstGeom prst="ellipse">
            <a:avLst/>
          </a:prstGeom>
          <a:solidFill>
            <a:srgbClr val="2B2560"/>
          </a:solidFill>
          <a:ln>
            <a:noFill/>
          </a:ln>
          <a:effectLst/>
        </p:spPr>
        <p:txBody>
          <a:bodyPr rtlCol="0" anchor="ctr"/>
          <a:lstStyle/>
          <a:p/>
        </p:txBody>
      </p:sp>
      <p:pic>
        <p:nvPicPr>
          <p:cNvPr id="195" name="Picture 194" descr="MdLanguage_FFFFFF.png"/>
          <p:cNvPicPr>
            <a:picLocks noChangeAspect="1"/>
          </p:cNvPicPr>
          <p:nvPr/>
        </p:nvPicPr>
        <p:blipFill>
          <a:blip r:embed="rId14"/>
          <a:stretch>
            <a:fillRect/>
          </a:stretch>
        </p:blipFill>
        <p:spPr>
          <a:xfrm>
            <a:off x="8240938" y="4839370"/>
            <a:ext cx="215066" cy="215066"/>
          </a:xfrm>
          <a:prstGeom prst="rect">
            <a:avLst/>
          </a:prstGeom>
        </p:spPr>
      </p:pic>
      <p:sp>
        <p:nvSpPr>
          <p:cNvPr id="196" name="TextBox 195"/>
          <p:cNvSpPr txBox="1"/>
          <p:nvPr/>
        </p:nvSpPr>
        <p:spPr>
          <a:xfrm>
            <a:off x="8668512" y="4718304"/>
            <a:ext cx="2441448" cy="640080"/>
          </a:xfrm>
          <a:prstGeom prst="rect">
            <a:avLst/>
          </a:prstGeom>
          <a:noFill/>
        </p:spPr>
        <p:txBody>
          <a:bodyPr wrap="square" lIns="0" rIns="0" tIns="0" bIns="0" anchor="t">
            <a:spAutoFit/>
          </a:bodyPr>
          <a:lstStyle/>
          <a:p>
            <a:pPr algn="l"/>
            <a:r>
              <a:rPr sz="1200" b="1" i="0">
                <a:solidFill>
                  <a:srgbClr val="14142B"/>
                </a:solidFill>
                <a:latin typeface="Calibri"/>
              </a:rPr>
              <a:t>Taught in English, app in Hindi</a:t>
            </a:r>
          </a:p>
          <a:p>
            <a:pPr algn="l"/>
            <a:r>
              <a:rPr sz="1050" b="0" i="0">
                <a:solidFill>
                  <a:srgbClr val="5B5F77"/>
                </a:solidFill>
                <a:latin typeface="Calibri"/>
              </a:rPr>
              <a:t>stops and says so; re-teach in Hindi</a:t>
            </a:r>
          </a:p>
        </p:txBody>
      </p:sp>
      <p:sp>
        <p:nvSpPr>
          <p:cNvPr id="197" name="Oval 196"/>
          <p:cNvSpPr/>
          <p:nvPr/>
        </p:nvSpPr>
        <p:spPr>
          <a:xfrm>
            <a:off x="8156448" y="5422392"/>
            <a:ext cx="384048" cy="384048"/>
          </a:xfrm>
          <a:prstGeom prst="ellipse">
            <a:avLst/>
          </a:prstGeom>
          <a:solidFill>
            <a:srgbClr val="2B2560"/>
          </a:solidFill>
          <a:ln>
            <a:noFill/>
          </a:ln>
          <a:effectLst/>
        </p:spPr>
        <p:txBody>
          <a:bodyPr rtlCol="0" anchor="ctr"/>
          <a:lstStyle/>
          <a:p/>
        </p:txBody>
      </p:sp>
      <p:pic>
        <p:nvPicPr>
          <p:cNvPr id="198" name="Picture 197" descr="MdRestaurantMenu_FFFFFF.png"/>
          <p:cNvPicPr>
            <a:picLocks noChangeAspect="1"/>
          </p:cNvPicPr>
          <p:nvPr/>
        </p:nvPicPr>
        <p:blipFill>
          <a:blip r:embed="rId15"/>
          <a:stretch>
            <a:fillRect/>
          </a:stretch>
        </p:blipFill>
        <p:spPr>
          <a:xfrm>
            <a:off x="8240938" y="5506882"/>
            <a:ext cx="215066" cy="215066"/>
          </a:xfrm>
          <a:prstGeom prst="rect">
            <a:avLst/>
          </a:prstGeom>
        </p:spPr>
      </p:pic>
      <p:sp>
        <p:nvSpPr>
          <p:cNvPr id="199" name="TextBox 198"/>
          <p:cNvSpPr txBox="1"/>
          <p:nvPr/>
        </p:nvSpPr>
        <p:spPr>
          <a:xfrm>
            <a:off x="8668512" y="5385816"/>
            <a:ext cx="2441448" cy="640080"/>
          </a:xfrm>
          <a:prstGeom prst="rect">
            <a:avLst/>
          </a:prstGeom>
          <a:noFill/>
        </p:spPr>
        <p:txBody>
          <a:bodyPr wrap="square" lIns="0" rIns="0" tIns="0" bIns="0" anchor="t">
            <a:spAutoFit/>
          </a:bodyPr>
          <a:lstStyle/>
          <a:p>
            <a:pPr algn="l"/>
            <a:r>
              <a:rPr sz="1200" b="1" i="0">
                <a:solidFill>
                  <a:srgbClr val="14142B"/>
                </a:solidFill>
                <a:latin typeface="Calibri"/>
              </a:rPr>
              <a:t>Loose dish names</a:t>
            </a:r>
          </a:p>
          <a:p>
            <a:pPr algn="l"/>
            <a:r>
              <a:rPr sz="1050" b="0" i="0">
                <a:solidFill>
                  <a:srgbClr val="5B5F77"/>
                </a:solidFill>
                <a:latin typeface="Calibri"/>
              </a:rPr>
              <a:t>“garlic bread” → the closest name on screen</a:t>
            </a:r>
          </a:p>
        </p:txBody>
      </p:sp>
      <p:sp>
        <p:nvSpPr>
          <p:cNvPr id="200" name="TextBox 199"/>
          <p:cNvSpPr txBox="1"/>
          <p:nvPr/>
        </p:nvSpPr>
        <p:spPr>
          <a:xfrm>
            <a:off x="932688" y="6199632"/>
            <a:ext cx="10332720" cy="228600"/>
          </a:xfrm>
          <a:prstGeom prst="rect">
            <a:avLst/>
          </a:prstGeom>
          <a:noFill/>
        </p:spPr>
        <p:txBody>
          <a:bodyPr wrap="square" lIns="0" rIns="0" tIns="0" bIns="0" anchor="t">
            <a:spAutoFit/>
          </a:bodyPr>
          <a:lstStyle/>
          <a:p>
            <a:pPr algn="l"/>
            <a:r>
              <a:rPr sz="950" b="0" i="0">
                <a:solidFill>
                  <a:srgbClr val="5B5F77"/>
                </a:solidFill>
                <a:latin typeface="Calibri"/>
              </a:rPr>
              <a:t>Oppo Reno3, Android 12 · 28–30 Sep · app force-stopped before every run · full tables in docs/ of the repository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144" name="Oval 143"/>
          <p:cNvSpPr/>
          <p:nvPr/>
        </p:nvSpPr>
        <p:spPr>
          <a:xfrm>
            <a:off x="932688" y="1645920"/>
            <a:ext cx="603504" cy="603504"/>
          </a:xfrm>
          <a:prstGeom prst="ellipse">
            <a:avLst/>
          </a:prstGeom>
          <a:solidFill>
            <a:srgbClr val="6D28D9"/>
          </a:solidFill>
          <a:ln>
            <a:noFill/>
          </a:ln>
          <a:effectLst/>
        </p:spPr>
        <p:txBody>
          <a:bodyPr rtlCol="0" anchor="ctr"/>
          <a:lstStyle/>
          <a:p/>
        </p:txBody>
      </p:sp>
      <p:pic>
        <p:nvPicPr>
          <p:cNvPr id="145" name="Picture 144" descr="MdMemory_FFFFFF.png"/>
          <p:cNvPicPr>
            <a:picLocks noChangeAspect="1"/>
          </p:cNvPicPr>
          <p:nvPr/>
        </p:nvPicPr>
        <p:blipFill>
          <a:blip r:embed="rId3"/>
          <a:stretch>
            <a:fillRect/>
          </a:stretch>
        </p:blipFill>
        <p:spPr>
          <a:xfrm>
            <a:off x="1065458" y="1778690"/>
            <a:ext cx="337962" cy="337962"/>
          </a:xfrm>
          <a:prstGeom prst="rect">
            <a:avLst/>
          </a:prstGeom>
        </p:spPr>
      </p:pic>
      <p:sp>
        <p:nvSpPr>
          <p:cNvPr id="146" name="TextBox 145"/>
          <p:cNvSpPr txBox="1"/>
          <p:nvPr/>
        </p:nvSpPr>
        <p:spPr>
          <a:xfrm>
            <a:off x="1755648" y="1627632"/>
            <a:ext cx="5394960" cy="347472"/>
          </a:xfrm>
          <a:prstGeom prst="rect">
            <a:avLst/>
          </a:prstGeom>
          <a:noFill/>
        </p:spPr>
        <p:txBody>
          <a:bodyPr wrap="square" lIns="0" rIns="0" tIns="0" bIns="0" anchor="t">
            <a:spAutoFit/>
          </a:bodyPr>
          <a:lstStyle/>
          <a:p>
            <a:pPr algn="l"/>
            <a:r>
              <a:rPr sz="1600" b="1" i="0">
                <a:solidFill>
                  <a:srgbClr val="14142B"/>
                </a:solidFill>
                <a:latin typeface="Arial"/>
              </a:rPr>
              <a:t>On-device model</a:t>
            </a:r>
          </a:p>
        </p:txBody>
      </p:sp>
      <p:sp>
        <p:nvSpPr>
          <p:cNvPr id="147" name="TextBox 146"/>
          <p:cNvSpPr txBox="1"/>
          <p:nvPr/>
        </p:nvSpPr>
        <p:spPr>
          <a:xfrm>
            <a:off x="1755648" y="1993392"/>
            <a:ext cx="5394960" cy="548640"/>
          </a:xfrm>
          <a:prstGeom prst="rect">
            <a:avLst/>
          </a:prstGeom>
          <a:noFill/>
        </p:spPr>
        <p:txBody>
          <a:bodyPr wrap="square" lIns="0" rIns="0" tIns="0" bIns="0" anchor="t">
            <a:spAutoFit/>
          </a:bodyPr>
          <a:lstStyle/>
          <a:p>
            <a:pPr algn="l"/>
            <a:r>
              <a:rPr sz="1300" b="0" i="0">
                <a:solidFill>
                  <a:srgbClr val="5B5F77"/>
                </a:solidFill>
                <a:latin typeface="Calibri"/>
              </a:rPr>
              <a:t>Run matching and single actions on a small on-device model: private, offline, faster.</a:t>
            </a:r>
          </a:p>
        </p:txBody>
      </p:sp>
      <p:sp>
        <p:nvSpPr>
          <p:cNvPr id="148" name="Oval 147"/>
          <p:cNvSpPr/>
          <p:nvPr/>
        </p:nvSpPr>
        <p:spPr>
          <a:xfrm>
            <a:off x="932688" y="2724912"/>
            <a:ext cx="603504" cy="603504"/>
          </a:xfrm>
          <a:prstGeom prst="ellipse">
            <a:avLst/>
          </a:prstGeom>
          <a:solidFill>
            <a:srgbClr val="14142B"/>
          </a:solidFill>
          <a:ln>
            <a:noFill/>
          </a:ln>
          <a:effectLst/>
        </p:spPr>
        <p:txBody>
          <a:bodyPr rtlCol="0" anchor="ctr"/>
          <a:lstStyle/>
          <a:p/>
        </p:txBody>
      </p:sp>
      <p:pic>
        <p:nvPicPr>
          <p:cNvPr id="149" name="Picture 148" descr="MdShare_FFFFFF.png"/>
          <p:cNvPicPr>
            <a:picLocks noChangeAspect="1"/>
          </p:cNvPicPr>
          <p:nvPr/>
        </p:nvPicPr>
        <p:blipFill>
          <a:blip r:embed="rId4"/>
          <a:stretch>
            <a:fillRect/>
          </a:stretch>
        </p:blipFill>
        <p:spPr>
          <a:xfrm>
            <a:off x="1065458" y="2857682"/>
            <a:ext cx="337962" cy="337962"/>
          </a:xfrm>
          <a:prstGeom prst="rect">
            <a:avLst/>
          </a:prstGeom>
        </p:spPr>
      </p:pic>
      <p:sp>
        <p:nvSpPr>
          <p:cNvPr id="150" name="TextBox 149"/>
          <p:cNvSpPr txBox="1"/>
          <p:nvPr/>
        </p:nvSpPr>
        <p:spPr>
          <a:xfrm>
            <a:off x="1755648" y="2706624"/>
            <a:ext cx="5394960" cy="347472"/>
          </a:xfrm>
          <a:prstGeom prst="rect">
            <a:avLst/>
          </a:prstGeom>
          <a:noFill/>
        </p:spPr>
        <p:txBody>
          <a:bodyPr wrap="square" lIns="0" rIns="0" tIns="0" bIns="0" anchor="t">
            <a:spAutoFit/>
          </a:bodyPr>
          <a:lstStyle/>
          <a:p>
            <a:pPr algn="l"/>
            <a:r>
              <a:rPr sz="1600" b="1" i="0">
                <a:solidFill>
                  <a:srgbClr val="14142B"/>
                </a:solidFill>
                <a:latin typeface="Arial"/>
              </a:rPr>
              <a:t>Share what you taught</a:t>
            </a:r>
          </a:p>
        </p:txBody>
      </p:sp>
      <p:sp>
        <p:nvSpPr>
          <p:cNvPr id="151" name="TextBox 150"/>
          <p:cNvSpPr txBox="1"/>
          <p:nvPr/>
        </p:nvSpPr>
        <p:spPr>
          <a:xfrm>
            <a:off x="1755648" y="3072384"/>
            <a:ext cx="5394960" cy="548640"/>
          </a:xfrm>
          <a:prstGeom prst="rect">
            <a:avLst/>
          </a:prstGeom>
          <a:noFill/>
        </p:spPr>
        <p:txBody>
          <a:bodyPr wrap="square" lIns="0" rIns="0" tIns="0" bIns="0" anchor="t">
            <a:spAutoFit/>
          </a:bodyPr>
          <a:lstStyle/>
          <a:p>
            <a:pPr algn="l"/>
            <a:r>
              <a:rPr sz="1300" b="0" i="0">
                <a:solidFill>
                  <a:srgbClr val="5B5F77"/>
                </a:solidFill>
                <a:latin typeface="Calibri"/>
              </a:rPr>
              <a:t>Export a learned task so family or a team can run it without re-teaching.</a:t>
            </a:r>
          </a:p>
        </p:txBody>
      </p:sp>
      <p:sp>
        <p:nvSpPr>
          <p:cNvPr id="152" name="Oval 151"/>
          <p:cNvSpPr/>
          <p:nvPr/>
        </p:nvSpPr>
        <p:spPr>
          <a:xfrm>
            <a:off x="932688" y="3803904"/>
            <a:ext cx="603504" cy="603504"/>
          </a:xfrm>
          <a:prstGeom prst="ellipse">
            <a:avLst/>
          </a:prstGeom>
          <a:solidFill>
            <a:srgbClr val="14142B"/>
          </a:solidFill>
          <a:ln>
            <a:noFill/>
          </a:ln>
          <a:effectLst/>
        </p:spPr>
        <p:txBody>
          <a:bodyPr rtlCol="0" anchor="ctr"/>
          <a:lstStyle/>
          <a:p/>
        </p:txBody>
      </p:sp>
      <p:pic>
        <p:nvPicPr>
          <p:cNvPr id="153" name="Picture 152" descr="MdSchedule_FFFFFF.png"/>
          <p:cNvPicPr>
            <a:picLocks noChangeAspect="1"/>
          </p:cNvPicPr>
          <p:nvPr/>
        </p:nvPicPr>
        <p:blipFill>
          <a:blip r:embed="rId5"/>
          <a:stretch>
            <a:fillRect/>
          </a:stretch>
        </p:blipFill>
        <p:spPr>
          <a:xfrm>
            <a:off x="1065458" y="3936674"/>
            <a:ext cx="337962" cy="337962"/>
          </a:xfrm>
          <a:prstGeom prst="rect">
            <a:avLst/>
          </a:prstGeom>
        </p:spPr>
      </p:pic>
      <p:sp>
        <p:nvSpPr>
          <p:cNvPr id="154" name="TextBox 153"/>
          <p:cNvSpPr txBox="1"/>
          <p:nvPr/>
        </p:nvSpPr>
        <p:spPr>
          <a:xfrm>
            <a:off x="1755648" y="3785616"/>
            <a:ext cx="5394960" cy="347472"/>
          </a:xfrm>
          <a:prstGeom prst="rect">
            <a:avLst/>
          </a:prstGeom>
          <a:noFill/>
        </p:spPr>
        <p:txBody>
          <a:bodyPr wrap="square" lIns="0" rIns="0" tIns="0" bIns="0" anchor="t">
            <a:spAutoFit/>
          </a:bodyPr>
          <a:lstStyle/>
          <a:p>
            <a:pPr algn="l"/>
            <a:r>
              <a:rPr sz="1600" b="1" i="0">
                <a:solidFill>
                  <a:srgbClr val="14142B"/>
                </a:solidFill>
                <a:latin typeface="Arial"/>
              </a:rPr>
              <a:t>Routines</a:t>
            </a:r>
          </a:p>
        </p:txBody>
      </p:sp>
      <p:sp>
        <p:nvSpPr>
          <p:cNvPr id="155" name="TextBox 154"/>
          <p:cNvSpPr txBox="1"/>
          <p:nvPr/>
        </p:nvSpPr>
        <p:spPr>
          <a:xfrm>
            <a:off x="1755648" y="4151376"/>
            <a:ext cx="5394960" cy="548640"/>
          </a:xfrm>
          <a:prstGeom prst="rect">
            <a:avLst/>
          </a:prstGeom>
          <a:noFill/>
        </p:spPr>
        <p:txBody>
          <a:bodyPr wrap="square" lIns="0" rIns="0" tIns="0" bIns="0" anchor="t">
            <a:spAutoFit/>
          </a:bodyPr>
          <a:lstStyle/>
          <a:p>
            <a:pPr algn="l"/>
            <a:r>
              <a:rPr sz="1300" b="0" i="0">
                <a:solidFill>
                  <a:srgbClr val="5B5F77"/>
                </a:solidFill>
                <a:latin typeface="Calibri"/>
              </a:rPr>
              <a:t>Run a taught task on a schedule, or chain two of them: “every Friday, order…”.</a:t>
            </a:r>
          </a:p>
        </p:txBody>
      </p:sp>
      <p:sp>
        <p:nvSpPr>
          <p:cNvPr id="156" name="Oval 155"/>
          <p:cNvSpPr/>
          <p:nvPr/>
        </p:nvSpPr>
        <p:spPr>
          <a:xfrm>
            <a:off x="932688" y="4882896"/>
            <a:ext cx="603504" cy="603504"/>
          </a:xfrm>
          <a:prstGeom prst="ellipse">
            <a:avLst/>
          </a:prstGeom>
          <a:solidFill>
            <a:srgbClr val="14142B"/>
          </a:solidFill>
          <a:ln>
            <a:noFill/>
          </a:ln>
          <a:effectLst/>
        </p:spPr>
        <p:txBody>
          <a:bodyPr rtlCol="0" anchor="ctr"/>
          <a:lstStyle/>
          <a:p/>
        </p:txBody>
      </p:sp>
      <p:pic>
        <p:nvPicPr>
          <p:cNvPr id="157" name="Picture 156" descr="MdTranslate_FFFFFF.png"/>
          <p:cNvPicPr>
            <a:picLocks noChangeAspect="1"/>
          </p:cNvPicPr>
          <p:nvPr/>
        </p:nvPicPr>
        <p:blipFill>
          <a:blip r:embed="rId6"/>
          <a:stretch>
            <a:fillRect/>
          </a:stretch>
        </p:blipFill>
        <p:spPr>
          <a:xfrm>
            <a:off x="1065458" y="5015666"/>
            <a:ext cx="337962" cy="337962"/>
          </a:xfrm>
          <a:prstGeom prst="rect">
            <a:avLst/>
          </a:prstGeom>
        </p:spPr>
      </p:pic>
      <p:sp>
        <p:nvSpPr>
          <p:cNvPr id="158" name="TextBox 157"/>
          <p:cNvSpPr txBox="1"/>
          <p:nvPr/>
        </p:nvSpPr>
        <p:spPr>
          <a:xfrm>
            <a:off x="1755648" y="4864608"/>
            <a:ext cx="5394960" cy="347472"/>
          </a:xfrm>
          <a:prstGeom prst="rect">
            <a:avLst/>
          </a:prstGeom>
          <a:noFill/>
        </p:spPr>
        <p:txBody>
          <a:bodyPr wrap="square" lIns="0" rIns="0" tIns="0" bIns="0" anchor="t">
            <a:spAutoFit/>
          </a:bodyPr>
          <a:lstStyle/>
          <a:p>
            <a:pPr algn="l"/>
            <a:r>
              <a:rPr sz="1600" b="1" i="0">
                <a:solidFill>
                  <a:srgbClr val="14142B"/>
                </a:solidFill>
                <a:latin typeface="Arial"/>
              </a:rPr>
              <a:t>More languages</a:t>
            </a:r>
          </a:p>
        </p:txBody>
      </p:sp>
      <p:sp>
        <p:nvSpPr>
          <p:cNvPr id="159" name="TextBox 158"/>
          <p:cNvSpPr txBox="1"/>
          <p:nvPr/>
        </p:nvSpPr>
        <p:spPr>
          <a:xfrm>
            <a:off x="1755648" y="5230368"/>
            <a:ext cx="5394960" cy="548640"/>
          </a:xfrm>
          <a:prstGeom prst="rect">
            <a:avLst/>
          </a:prstGeom>
          <a:noFill/>
        </p:spPr>
        <p:txBody>
          <a:bodyPr wrap="square" lIns="0" rIns="0" tIns="0" bIns="0" anchor="t">
            <a:spAutoFit/>
          </a:bodyPr>
          <a:lstStyle/>
          <a:p>
            <a:pPr algn="l"/>
            <a:r>
              <a:rPr sz="1300" b="0" i="0">
                <a:solidFill>
                  <a:srgbClr val="5B5F77"/>
                </a:solidFill>
                <a:latin typeface="Calibri"/>
              </a:rPr>
              <a:t>Hindi and other Indian languages for commands and questions, not just Hinglish.</a:t>
            </a:r>
          </a:p>
        </p:txBody>
      </p:sp>
      <p:sp>
        <p:nvSpPr>
          <p:cNvPr id="160" name="Rounded Rectangle 159"/>
          <p:cNvSpPr/>
          <p:nvPr/>
        </p:nvSpPr>
        <p:spPr>
          <a:xfrm>
            <a:off x="7360920" y="1645920"/>
            <a:ext cx="3904487" cy="3657600"/>
          </a:xfrm>
          <a:prstGeom prst="roundRect">
            <a:avLst>
              <a:gd name="adj" fmla="val 2000"/>
            </a:avLst>
          </a:prstGeom>
          <a:solidFill>
            <a:srgbClr val="F5F3FC"/>
          </a:solidFill>
          <a:ln>
            <a:noFill/>
          </a:ln>
          <a:effectLst/>
        </p:spPr>
        <p:txBody>
          <a:bodyPr rtlCol="0" anchor="ctr"/>
          <a:lstStyle/>
          <a:p/>
        </p:txBody>
      </p:sp>
      <p:sp>
        <p:nvSpPr>
          <p:cNvPr id="161" name="TextBox 160"/>
          <p:cNvSpPr txBox="1"/>
          <p:nvPr/>
        </p:nvSpPr>
        <p:spPr>
          <a:xfrm>
            <a:off x="7635240" y="1828800"/>
            <a:ext cx="3383280" cy="320040"/>
          </a:xfrm>
          <a:prstGeom prst="rect">
            <a:avLst/>
          </a:prstGeom>
          <a:noFill/>
        </p:spPr>
        <p:txBody>
          <a:bodyPr wrap="square" lIns="0" rIns="0" tIns="0" bIns="0" anchor="t">
            <a:spAutoFit/>
          </a:bodyPr>
          <a:lstStyle/>
          <a:p>
            <a:pPr algn="l"/>
            <a:r>
              <a:rPr sz="1100" b="1" i="0">
                <a:solidFill>
                  <a:srgbClr val="6D28D9"/>
                </a:solidFill>
                <a:latin typeface="Arial"/>
              </a:rPr>
              <a:t>TOWARDS A WORKLET</a:t>
            </a:r>
          </a:p>
        </p:txBody>
      </p:sp>
      <p:sp>
        <p:nvSpPr>
          <p:cNvPr id="162" name="TextBox 161"/>
          <p:cNvSpPr txBox="1"/>
          <p:nvPr/>
        </p:nvSpPr>
        <p:spPr>
          <a:xfrm>
            <a:off x="7635240" y="2194560"/>
            <a:ext cx="3429000" cy="2103120"/>
          </a:xfrm>
          <a:prstGeom prst="rect">
            <a:avLst/>
          </a:prstGeom>
          <a:noFill/>
        </p:spPr>
        <p:txBody>
          <a:bodyPr wrap="square" lIns="0" rIns="0" tIns="0" bIns="0" anchor="t">
            <a:spAutoFit/>
          </a:bodyPr>
          <a:lstStyle/>
          <a:p>
            <a:pPr algn="l">
              <a:spcAft>
                <a:spcPts val="800"/>
              </a:spcAft>
            </a:pPr>
            <a:r>
              <a:rPr sz="1350" b="0" i="0">
                <a:solidFill>
                  <a:srgbClr val="1F2037"/>
                </a:solidFill>
                <a:latin typeface="Calibri"/>
              </a:rPr>
              <a:t>An assistant that learns in-app tasks from its own user, through the accessibility layer every app already has.</a:t>
            </a:r>
          </a:p>
          <a:p>
            <a:pPr algn="l">
              <a:spcAft>
                <a:spcPts val="800"/>
              </a:spcAft>
            </a:pPr>
            <a:r>
              <a:rPr sz="1350" b="0" i="0">
                <a:solidFill>
                  <a:srgbClr val="1F2037"/>
                </a:solidFill>
                <a:latin typeface="Calibri"/>
              </a:rPr>
              <a:t>The pieces that make it safe to ship are already there: proof-checked steps, a hand-off at payment and login, and a readable log of every run.</a:t>
            </a:r>
          </a:p>
        </p:txBody>
      </p:sp>
      <p:sp>
        <p:nvSpPr>
          <p:cNvPr id="163" name="Rounded Rectangle 162"/>
          <p:cNvSpPr/>
          <p:nvPr/>
        </p:nvSpPr>
        <p:spPr>
          <a:xfrm>
            <a:off x="7635240" y="4572000"/>
            <a:ext cx="3383280" cy="475488"/>
          </a:xfrm>
          <a:prstGeom prst="roundRect">
            <a:avLst>
              <a:gd name="adj" fmla="val 50000"/>
            </a:avLst>
          </a:prstGeom>
          <a:solidFill>
            <a:srgbClr val="FFFFFF"/>
          </a:solidFill>
          <a:ln w="12700">
            <a:solidFill>
              <a:srgbClr val="D9D3F0"/>
            </a:solidFill>
          </a:ln>
          <a:effectLst/>
        </p:spPr>
        <p:txBody>
          <a:bodyPr rtlCol="0" anchor="ctr"/>
          <a:lstStyle/>
          <a:p/>
        </p:txBody>
      </p:sp>
      <p:sp>
        <p:nvSpPr>
          <p:cNvPr id="164" name="Oval 163"/>
          <p:cNvSpPr/>
          <p:nvPr/>
        </p:nvSpPr>
        <p:spPr>
          <a:xfrm>
            <a:off x="7699248" y="4636008"/>
            <a:ext cx="347472" cy="347472"/>
          </a:xfrm>
          <a:prstGeom prst="ellipse">
            <a:avLst/>
          </a:prstGeom>
          <a:solidFill>
            <a:srgbClr val="6D28D9"/>
          </a:solidFill>
          <a:ln>
            <a:noFill/>
          </a:ln>
          <a:effectLst/>
        </p:spPr>
        <p:txBody>
          <a:bodyPr rtlCol="0" anchor="ctr"/>
          <a:lstStyle/>
          <a:p/>
        </p:txBody>
      </p:sp>
      <p:pic>
        <p:nvPicPr>
          <p:cNvPr id="165" name="Picture 164" descr="MdMic_FFFFFF.png"/>
          <p:cNvPicPr>
            <a:picLocks noChangeAspect="1"/>
          </p:cNvPicPr>
          <p:nvPr/>
        </p:nvPicPr>
        <p:blipFill>
          <a:blip r:embed="rId7"/>
          <a:stretch>
            <a:fillRect/>
          </a:stretch>
        </p:blipFill>
        <p:spPr>
          <a:xfrm>
            <a:off x="7768742" y="4705502"/>
            <a:ext cx="208483" cy="208483"/>
          </a:xfrm>
          <a:prstGeom prst="rect">
            <a:avLst/>
          </a:prstGeom>
        </p:spPr>
      </p:pic>
      <p:sp>
        <p:nvSpPr>
          <p:cNvPr id="166" name="TextBox 165"/>
          <p:cNvSpPr txBox="1"/>
          <p:nvPr/>
        </p:nvSpPr>
        <p:spPr>
          <a:xfrm>
            <a:off x="8183880" y="4572000"/>
            <a:ext cx="2743200" cy="475488"/>
          </a:xfrm>
          <a:prstGeom prst="rect">
            <a:avLst/>
          </a:prstGeom>
          <a:noFill/>
        </p:spPr>
        <p:txBody>
          <a:bodyPr wrap="square" lIns="0" rIns="0" tIns="0" bIns="0" anchor="ctr">
            <a:spAutoFit/>
          </a:bodyPr>
          <a:lstStyle/>
          <a:p>
            <a:pPr algn="l"/>
            <a:r>
              <a:rPr sz="1300" b="0" i="1">
                <a:solidFill>
                  <a:srgbClr val="1F2037"/>
                </a:solidFill>
                <a:latin typeface="Calibri"/>
              </a:rPr>
              <a:t>“Did the last run succeed?”</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Brownie points slide( differentiation)</a:t>
            </a:r>
            <a:endParaRPr b="1" sz="4400">
              <a:solidFill>
                <a:srgbClr val="704EA6"/>
              </a:solidFill>
            </a:endParaRPr>
          </a:p>
        </p:txBody>
      </p:sp>
      <p:sp>
        <p:nvSpPr>
          <p:cNvPr id="150" name="TextBox 149"/>
          <p:cNvSpPr txBox="1"/>
          <p:nvPr/>
        </p:nvSpPr>
        <p:spPr>
          <a:xfrm>
            <a:off x="932688" y="1481328"/>
            <a:ext cx="7315200" cy="274320"/>
          </a:xfrm>
          <a:prstGeom prst="rect">
            <a:avLst/>
          </a:prstGeom>
          <a:noFill/>
        </p:spPr>
        <p:txBody>
          <a:bodyPr wrap="square" lIns="0" rIns="0" tIns="0" bIns="0" anchor="t">
            <a:spAutoFit/>
          </a:bodyPr>
          <a:lstStyle/>
          <a:p>
            <a:pPr algn="l"/>
            <a:r>
              <a:rPr sz="1100" b="1" i="0">
                <a:solidFill>
                  <a:srgbClr val="6D28D9"/>
                </a:solidFill>
                <a:latin typeface="Arial"/>
              </a:rPr>
              <a:t>THE THREE BONUS CRITERIA — AND WHAT GOES BEYOND THEM</a:t>
            </a:r>
          </a:p>
        </p:txBody>
      </p:sp>
      <p:sp>
        <p:nvSpPr>
          <p:cNvPr id="151" name="Rounded Rectangle 150"/>
          <p:cNvSpPr/>
          <p:nvPr/>
        </p:nvSpPr>
        <p:spPr>
          <a:xfrm>
            <a:off x="932688" y="1828800"/>
            <a:ext cx="3310128" cy="1965960"/>
          </a:xfrm>
          <a:prstGeom prst="roundRect">
            <a:avLst>
              <a:gd name="adj" fmla="val 3720"/>
            </a:avLst>
          </a:prstGeom>
          <a:solidFill>
            <a:srgbClr val="F5F3FC"/>
          </a:solidFill>
          <a:ln>
            <a:noFill/>
          </a:ln>
          <a:effectLst/>
        </p:spPr>
        <p:txBody>
          <a:bodyPr rtlCol="0" anchor="ctr"/>
          <a:lstStyle/>
          <a:p/>
        </p:txBody>
      </p:sp>
      <p:sp>
        <p:nvSpPr>
          <p:cNvPr id="152" name="Rounded Rectangle 151"/>
          <p:cNvSpPr/>
          <p:nvPr/>
        </p:nvSpPr>
        <p:spPr>
          <a:xfrm>
            <a:off x="1161288" y="2029968"/>
            <a:ext cx="566928" cy="329184"/>
          </a:xfrm>
          <a:prstGeom prst="roundRect">
            <a:avLst>
              <a:gd name="adj" fmla="val 50000"/>
            </a:avLst>
          </a:prstGeom>
          <a:solidFill>
            <a:srgbClr val="6D28D9"/>
          </a:solidFill>
          <a:ln>
            <a:noFill/>
          </a:ln>
          <a:effectLst/>
        </p:spPr>
        <p:txBody>
          <a:bodyPr rtlCol="0" anchor="ctr"/>
          <a:lstStyle/>
          <a:p/>
        </p:txBody>
      </p:sp>
      <p:sp>
        <p:nvSpPr>
          <p:cNvPr id="153" name="TextBox 152"/>
          <p:cNvSpPr txBox="1"/>
          <p:nvPr/>
        </p:nvSpPr>
        <p:spPr>
          <a:xfrm>
            <a:off x="1161288" y="2029968"/>
            <a:ext cx="566928" cy="329184"/>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154" name="TextBox 153"/>
          <p:cNvSpPr txBox="1"/>
          <p:nvPr/>
        </p:nvSpPr>
        <p:spPr>
          <a:xfrm>
            <a:off x="1847088" y="2011680"/>
            <a:ext cx="2258568" cy="384048"/>
          </a:xfrm>
          <a:prstGeom prst="rect">
            <a:avLst/>
          </a:prstGeom>
          <a:noFill/>
        </p:spPr>
        <p:txBody>
          <a:bodyPr wrap="square" lIns="0" rIns="0" tIns="0" bIns="0" anchor="ctr">
            <a:spAutoFit/>
          </a:bodyPr>
          <a:lstStyle/>
          <a:p>
            <a:pPr algn="l"/>
            <a:r>
              <a:rPr sz="1350" b="1" i="0">
                <a:solidFill>
                  <a:srgbClr val="14142B"/>
                </a:solidFill>
                <a:latin typeface="Arial"/>
              </a:rPr>
              <a:t>Touches the task didn’t need</a:t>
            </a:r>
          </a:p>
        </p:txBody>
      </p:sp>
      <p:sp>
        <p:nvSpPr>
          <p:cNvPr id="155" name="TextBox 154"/>
          <p:cNvSpPr txBox="1"/>
          <p:nvPr/>
        </p:nvSpPr>
        <p:spPr>
          <a:xfrm>
            <a:off x="1161288" y="2514600"/>
            <a:ext cx="2898648" cy="1234440"/>
          </a:xfrm>
          <a:prstGeom prst="rect">
            <a:avLst/>
          </a:prstGeom>
          <a:noFill/>
        </p:spPr>
        <p:txBody>
          <a:bodyPr wrap="square" lIns="0" rIns="0" tIns="0" bIns="0" anchor="t">
            <a:spAutoFit/>
          </a:bodyPr>
          <a:lstStyle/>
          <a:p>
            <a:pPr algn="l"/>
            <a:r>
              <a:rPr sz="1200" b="0" i="0">
                <a:solidFill>
                  <a:srgbClr val="5B5F77"/>
                </a:solidFill>
                <a:latin typeface="Calibri"/>
              </a:rPr>
              <a:t>A mis-tap that was undone, an answered call, a Veg filter and a pop-up in our demos were dropped on their own — shown as “ignored: not needed”.</a:t>
            </a:r>
          </a:p>
        </p:txBody>
      </p:sp>
      <p:sp>
        <p:nvSpPr>
          <p:cNvPr id="156" name="Rounded Rectangle 155"/>
          <p:cNvSpPr/>
          <p:nvPr/>
        </p:nvSpPr>
        <p:spPr>
          <a:xfrm>
            <a:off x="4443984" y="1828800"/>
            <a:ext cx="3310128" cy="1965960"/>
          </a:xfrm>
          <a:prstGeom prst="roundRect">
            <a:avLst>
              <a:gd name="adj" fmla="val 3720"/>
            </a:avLst>
          </a:prstGeom>
          <a:solidFill>
            <a:srgbClr val="F5F3FC"/>
          </a:solidFill>
          <a:ln>
            <a:noFill/>
          </a:ln>
          <a:effectLst/>
        </p:spPr>
        <p:txBody>
          <a:bodyPr rtlCol="0" anchor="ctr"/>
          <a:lstStyle/>
          <a:p/>
        </p:txBody>
      </p:sp>
      <p:sp>
        <p:nvSpPr>
          <p:cNvPr id="157" name="Rounded Rectangle 156"/>
          <p:cNvSpPr/>
          <p:nvPr/>
        </p:nvSpPr>
        <p:spPr>
          <a:xfrm>
            <a:off x="4672584" y="2029968"/>
            <a:ext cx="566928" cy="329184"/>
          </a:xfrm>
          <a:prstGeom prst="roundRect">
            <a:avLst>
              <a:gd name="adj" fmla="val 50000"/>
            </a:avLst>
          </a:prstGeom>
          <a:solidFill>
            <a:srgbClr val="6D28D9"/>
          </a:solidFill>
          <a:ln>
            <a:noFill/>
          </a:ln>
          <a:effectLst/>
        </p:spPr>
        <p:txBody>
          <a:bodyPr rtlCol="0" anchor="ctr"/>
          <a:lstStyle/>
          <a:p/>
        </p:txBody>
      </p:sp>
      <p:sp>
        <p:nvSpPr>
          <p:cNvPr id="158" name="TextBox 157"/>
          <p:cNvSpPr txBox="1"/>
          <p:nvPr/>
        </p:nvSpPr>
        <p:spPr>
          <a:xfrm>
            <a:off x="4672584" y="2029968"/>
            <a:ext cx="566928" cy="329184"/>
          </a:xfrm>
          <a:prstGeom prst="rect">
            <a:avLst/>
          </a:prstGeom>
          <a:noFill/>
        </p:spPr>
        <p:txBody>
          <a:bodyPr wrap="square" lIns="0" rIns="0" tIns="0" bIns="0" anchor="ctr">
            <a:spAutoFit/>
          </a:bodyPr>
          <a:lstStyle/>
          <a:p>
            <a:pPr algn="ctr"/>
            <a:r>
              <a:rPr sz="1300" b="1" i="0">
                <a:solidFill>
                  <a:srgbClr val="FFFFFF"/>
                </a:solidFill>
                <a:latin typeface="Arial"/>
              </a:rPr>
              <a:t>+4</a:t>
            </a:r>
          </a:p>
        </p:txBody>
      </p:sp>
      <p:sp>
        <p:nvSpPr>
          <p:cNvPr id="159" name="TextBox 158"/>
          <p:cNvSpPr txBox="1"/>
          <p:nvPr/>
        </p:nvSpPr>
        <p:spPr>
          <a:xfrm>
            <a:off x="5358384" y="2011680"/>
            <a:ext cx="2258568" cy="384048"/>
          </a:xfrm>
          <a:prstGeom prst="rect">
            <a:avLst/>
          </a:prstGeom>
          <a:noFill/>
        </p:spPr>
        <p:txBody>
          <a:bodyPr wrap="square" lIns="0" rIns="0" tIns="0" bIns="0" anchor="ctr">
            <a:spAutoFit/>
          </a:bodyPr>
          <a:lstStyle/>
          <a:p>
            <a:pPr algn="l"/>
            <a:r>
              <a:rPr sz="1350" b="1" i="0">
                <a:solidFill>
                  <a:srgbClr val="14142B"/>
                </a:solidFill>
                <a:latin typeface="Arial"/>
              </a:rPr>
              <a:t>The same task in a similar app</a:t>
            </a:r>
          </a:p>
        </p:txBody>
      </p:sp>
      <p:sp>
        <p:nvSpPr>
          <p:cNvPr id="160" name="TextBox 159"/>
          <p:cNvSpPr txBox="1"/>
          <p:nvPr/>
        </p:nvSpPr>
        <p:spPr>
          <a:xfrm>
            <a:off x="4672584" y="2514600"/>
            <a:ext cx="2898648" cy="1234440"/>
          </a:xfrm>
          <a:prstGeom prst="rect">
            <a:avLst/>
          </a:prstGeom>
          <a:noFill/>
        </p:spPr>
        <p:txBody>
          <a:bodyPr wrap="square" lIns="0" rIns="0" tIns="0" bIns="0" anchor="t">
            <a:spAutoFit/>
          </a:bodyPr>
          <a:lstStyle/>
          <a:p>
            <a:pPr algn="l"/>
            <a:r>
              <a:rPr sz="1200" b="0" i="0">
                <a:solidFill>
                  <a:srgbClr val="5B5F77"/>
                </a:solidFill>
                <a:latin typeface="Calibri"/>
              </a:rPr>
              <a:t>Taught on Amazon, run on Myntra 7/7: it found “Add to Bag”, skipped the “AD” tiles and asked for the size.</a:t>
            </a:r>
          </a:p>
        </p:txBody>
      </p:sp>
      <p:sp>
        <p:nvSpPr>
          <p:cNvPr id="161" name="Rounded Rectangle 160"/>
          <p:cNvSpPr/>
          <p:nvPr/>
        </p:nvSpPr>
        <p:spPr>
          <a:xfrm>
            <a:off x="7955280" y="1828800"/>
            <a:ext cx="3310128" cy="1965960"/>
          </a:xfrm>
          <a:prstGeom prst="roundRect">
            <a:avLst>
              <a:gd name="adj" fmla="val 3720"/>
            </a:avLst>
          </a:prstGeom>
          <a:solidFill>
            <a:srgbClr val="F5F3FC"/>
          </a:solidFill>
          <a:ln>
            <a:noFill/>
          </a:ln>
          <a:effectLst/>
        </p:spPr>
        <p:txBody>
          <a:bodyPr rtlCol="0" anchor="ctr"/>
          <a:lstStyle/>
          <a:p/>
        </p:txBody>
      </p:sp>
      <p:sp>
        <p:nvSpPr>
          <p:cNvPr id="162" name="Rounded Rectangle 161"/>
          <p:cNvSpPr/>
          <p:nvPr/>
        </p:nvSpPr>
        <p:spPr>
          <a:xfrm>
            <a:off x="8183880" y="2029968"/>
            <a:ext cx="566928" cy="329184"/>
          </a:xfrm>
          <a:prstGeom prst="roundRect">
            <a:avLst>
              <a:gd name="adj" fmla="val 50000"/>
            </a:avLst>
          </a:prstGeom>
          <a:solidFill>
            <a:srgbClr val="6D28D9"/>
          </a:solidFill>
          <a:ln>
            <a:noFill/>
          </a:ln>
          <a:effectLst/>
        </p:spPr>
        <p:txBody>
          <a:bodyPr rtlCol="0" anchor="ctr"/>
          <a:lstStyle/>
          <a:p/>
        </p:txBody>
      </p:sp>
      <p:sp>
        <p:nvSpPr>
          <p:cNvPr id="163" name="TextBox 162"/>
          <p:cNvSpPr txBox="1"/>
          <p:nvPr/>
        </p:nvSpPr>
        <p:spPr>
          <a:xfrm>
            <a:off x="8183880" y="2029968"/>
            <a:ext cx="566928" cy="329184"/>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164" name="TextBox 163"/>
          <p:cNvSpPr txBox="1"/>
          <p:nvPr/>
        </p:nvSpPr>
        <p:spPr>
          <a:xfrm>
            <a:off x="8869680" y="2011680"/>
            <a:ext cx="2258568" cy="384048"/>
          </a:xfrm>
          <a:prstGeom prst="rect">
            <a:avLst/>
          </a:prstGeom>
          <a:noFill/>
        </p:spPr>
        <p:txBody>
          <a:bodyPr wrap="square" lIns="0" rIns="0" tIns="0" bIns="0" anchor="ctr">
            <a:spAutoFit/>
          </a:bodyPr>
          <a:lstStyle/>
          <a:p>
            <a:pPr algn="l"/>
            <a:r>
              <a:rPr sz="1350" b="1" i="0">
                <a:solidFill>
                  <a:srgbClr val="14142B"/>
                </a:solidFill>
                <a:latin typeface="Arial"/>
              </a:rPr>
              <a:t>A missing value, asked mid-flow</a:t>
            </a:r>
          </a:p>
        </p:txBody>
      </p:sp>
      <p:sp>
        <p:nvSpPr>
          <p:cNvPr id="165" name="TextBox 164"/>
          <p:cNvSpPr txBox="1"/>
          <p:nvPr/>
        </p:nvSpPr>
        <p:spPr>
          <a:xfrm>
            <a:off x="8183880" y="2514600"/>
            <a:ext cx="2898648" cy="1234440"/>
          </a:xfrm>
          <a:prstGeom prst="rect">
            <a:avLst/>
          </a:prstGeom>
          <a:noFill/>
        </p:spPr>
        <p:txBody>
          <a:bodyPr wrap="square" lIns="0" rIns="0" tIns="0" bIns="0" anchor="t">
            <a:spAutoFit/>
          </a:bodyPr>
          <a:lstStyle/>
          <a:p>
            <a:pPr algn="l"/>
            <a:r>
              <a:rPr sz="1200" b="0" i="0">
                <a:solidFill>
                  <a:srgbClr val="5B5F77"/>
                </a:solidFill>
                <a:latin typeface="Calibri"/>
              </a:rPr>
              <a:t>“Order pizza.” → “Which restaurant should I order from?”, then “Which pizza?” — and it carries on with the answers.</a:t>
            </a:r>
          </a:p>
        </p:txBody>
      </p:sp>
      <p:sp>
        <p:nvSpPr>
          <p:cNvPr id="166" name="Rounded Rectangle 165"/>
          <p:cNvSpPr/>
          <p:nvPr/>
        </p:nvSpPr>
        <p:spPr>
          <a:xfrm>
            <a:off x="932688" y="4023360"/>
            <a:ext cx="6035040" cy="2103120"/>
          </a:xfrm>
          <a:prstGeom prst="roundRect">
            <a:avLst>
              <a:gd name="adj" fmla="val 3478"/>
            </a:avLst>
          </a:prstGeom>
          <a:solidFill>
            <a:srgbClr val="14142B"/>
          </a:solidFill>
          <a:ln>
            <a:noFill/>
          </a:ln>
          <a:effectLst/>
        </p:spPr>
        <p:txBody>
          <a:bodyPr rtlCol="0" anchor="ctr"/>
          <a:lstStyle/>
          <a:p/>
        </p:txBody>
      </p:sp>
      <p:sp>
        <p:nvSpPr>
          <p:cNvPr id="167" name="TextBox 166"/>
          <p:cNvSpPr txBox="1"/>
          <p:nvPr/>
        </p:nvSpPr>
        <p:spPr>
          <a:xfrm>
            <a:off x="1161288" y="4160520"/>
            <a:ext cx="5577840" cy="320040"/>
          </a:xfrm>
          <a:prstGeom prst="rect">
            <a:avLst/>
          </a:prstGeom>
          <a:noFill/>
        </p:spPr>
        <p:txBody>
          <a:bodyPr wrap="square" lIns="0" rIns="0" tIns="0" bIns="0" anchor="t">
            <a:spAutoFit/>
          </a:bodyPr>
          <a:lstStyle/>
          <a:p>
            <a:pPr algn="l"/>
            <a:r>
              <a:rPr sz="1400" b="1" i="0">
                <a:solidFill>
                  <a:srgbClr val="FFFFFF"/>
                </a:solidFill>
                <a:latin typeface="Arial"/>
              </a:rPr>
              <a:t>Taught on an app it had never seen: GitHub</a:t>
            </a:r>
          </a:p>
        </p:txBody>
      </p:sp>
      <p:sp>
        <p:nvSpPr>
          <p:cNvPr id="168" name="TextBox 167"/>
          <p:cNvSpPr txBox="1"/>
          <p:nvPr/>
        </p:nvSpPr>
        <p:spPr>
          <a:xfrm>
            <a:off x="1161288" y="4498848"/>
            <a:ext cx="5669280" cy="274320"/>
          </a:xfrm>
          <a:prstGeom prst="rect">
            <a:avLst/>
          </a:prstGeom>
          <a:noFill/>
        </p:spPr>
        <p:txBody>
          <a:bodyPr wrap="square" lIns="0" rIns="0" tIns="0" bIns="0" anchor="t">
            <a:spAutoFit/>
          </a:bodyPr>
          <a:lstStyle/>
          <a:p>
            <a:pPr algn="l"/>
            <a:r>
              <a:rPr sz="1150" b="0" i="0">
                <a:solidFill>
                  <a:srgbClr val="D9D3F0"/>
                </a:solidFill>
                <a:latin typeface="Calibri"/>
              </a:rPr>
              <a:t>One demo with pytorch → learned “Open {repository} repository on GitHub”</a:t>
            </a:r>
          </a:p>
        </p:txBody>
      </p:sp>
      <p:pic>
        <p:nvPicPr>
          <p:cNvPr id="169" name="Picture 168" descr="MdCheckCircle_0E9F6E.png"/>
          <p:cNvPicPr>
            <a:picLocks noChangeAspect="1"/>
          </p:cNvPicPr>
          <p:nvPr/>
        </p:nvPicPr>
        <p:blipFill>
          <a:blip r:embed="rId3"/>
          <a:stretch>
            <a:fillRect/>
          </a:stretch>
        </p:blipFill>
        <p:spPr>
          <a:xfrm>
            <a:off x="1161288" y="4919472"/>
            <a:ext cx="237744" cy="237744"/>
          </a:xfrm>
          <a:prstGeom prst="rect">
            <a:avLst/>
          </a:prstGeom>
        </p:spPr>
      </p:pic>
      <p:sp>
        <p:nvSpPr>
          <p:cNvPr id="170" name="TextBox 169"/>
          <p:cNvSpPr txBox="1"/>
          <p:nvPr/>
        </p:nvSpPr>
        <p:spPr>
          <a:xfrm>
            <a:off x="1527048" y="4873752"/>
            <a:ext cx="5394960" cy="347472"/>
          </a:xfrm>
          <a:prstGeom prst="rect">
            <a:avLst/>
          </a:prstGeom>
          <a:noFill/>
        </p:spPr>
        <p:txBody>
          <a:bodyPr wrap="square" lIns="0" rIns="0" tIns="0" bIns="0" anchor="ctr">
            <a:spAutoFit/>
          </a:bodyPr>
          <a:lstStyle/>
          <a:p>
            <a:pPr algn="l"/>
            <a:r>
              <a:rPr sz="1200" b="0" i="1">
                <a:solidFill>
                  <a:srgbClr val="FFFFFF"/>
                </a:solidFill>
                <a:latin typeface="Calibri"/>
              </a:rPr>
              <a:t>“Open the tensorflow repository on GitHub”  </a:t>
            </a:r>
            <a:r>
              <a:rPr sz="1200" b="0" i="0">
                <a:solidFill>
                  <a:srgbClr val="A7F3D0"/>
                </a:solidFill>
                <a:latin typeface="Calibri"/>
              </a:rPr>
              <a:t>opened · 18 s · no LLM calls</a:t>
            </a:r>
          </a:p>
        </p:txBody>
      </p:sp>
      <p:pic>
        <p:nvPicPr>
          <p:cNvPr id="171" name="Picture 170" descr="MdCheckCircle_0E9F6E.png"/>
          <p:cNvPicPr>
            <a:picLocks noChangeAspect="1"/>
          </p:cNvPicPr>
          <p:nvPr/>
        </p:nvPicPr>
        <p:blipFill>
          <a:blip r:embed="rId3"/>
          <a:stretch>
            <a:fillRect/>
          </a:stretch>
        </p:blipFill>
        <p:spPr>
          <a:xfrm>
            <a:off x="1161288" y="5312664"/>
            <a:ext cx="237744" cy="237744"/>
          </a:xfrm>
          <a:prstGeom prst="rect">
            <a:avLst/>
          </a:prstGeom>
        </p:spPr>
      </p:pic>
      <p:sp>
        <p:nvSpPr>
          <p:cNvPr id="172" name="TextBox 171"/>
          <p:cNvSpPr txBox="1"/>
          <p:nvPr/>
        </p:nvSpPr>
        <p:spPr>
          <a:xfrm>
            <a:off x="1527048" y="5266944"/>
            <a:ext cx="5394960" cy="347472"/>
          </a:xfrm>
          <a:prstGeom prst="rect">
            <a:avLst/>
          </a:prstGeom>
          <a:noFill/>
        </p:spPr>
        <p:txBody>
          <a:bodyPr wrap="square" lIns="0" rIns="0" tIns="0" bIns="0" anchor="ctr">
            <a:spAutoFit/>
          </a:bodyPr>
          <a:lstStyle/>
          <a:p>
            <a:pPr algn="l"/>
            <a:r>
              <a:rPr sz="1200" b="0" i="1">
                <a:solidFill>
                  <a:srgbClr val="FFFFFF"/>
                </a:solidFill>
                <a:latin typeface="Calibri"/>
              </a:rPr>
              <a:t>“open the linux repository on github”  </a:t>
            </a:r>
            <a:r>
              <a:rPr sz="1200" b="0" i="0">
                <a:solidFill>
                  <a:srgbClr val="A7F3D0"/>
                </a:solidFill>
                <a:latin typeface="Calibri"/>
              </a:rPr>
              <a:t>torvalds/linux · 17 s · no LLM calls</a:t>
            </a:r>
          </a:p>
        </p:txBody>
      </p:sp>
      <p:pic>
        <p:nvPicPr>
          <p:cNvPr id="173" name="Picture 172" descr="MdCheckCircle_0E9F6E.png"/>
          <p:cNvPicPr>
            <a:picLocks noChangeAspect="1"/>
          </p:cNvPicPr>
          <p:nvPr/>
        </p:nvPicPr>
        <p:blipFill>
          <a:blip r:embed="rId3"/>
          <a:stretch>
            <a:fillRect/>
          </a:stretch>
        </p:blipFill>
        <p:spPr>
          <a:xfrm>
            <a:off x="1161288" y="5705856"/>
            <a:ext cx="237744" cy="237744"/>
          </a:xfrm>
          <a:prstGeom prst="rect">
            <a:avLst/>
          </a:prstGeom>
        </p:spPr>
      </p:pic>
      <p:sp>
        <p:nvSpPr>
          <p:cNvPr id="174" name="TextBox 173"/>
          <p:cNvSpPr txBox="1"/>
          <p:nvPr/>
        </p:nvSpPr>
        <p:spPr>
          <a:xfrm>
            <a:off x="1527048" y="5660136"/>
            <a:ext cx="5394960" cy="347472"/>
          </a:xfrm>
          <a:prstGeom prst="rect">
            <a:avLst/>
          </a:prstGeom>
          <a:noFill/>
        </p:spPr>
        <p:txBody>
          <a:bodyPr wrap="square" lIns="0" rIns="0" tIns="0" bIns="0" anchor="ctr">
            <a:spAutoFit/>
          </a:bodyPr>
          <a:lstStyle/>
          <a:p>
            <a:pPr algn="l"/>
            <a:r>
              <a:rPr sz="1200" b="0" i="1">
                <a:solidFill>
                  <a:srgbClr val="FFFFFF"/>
                </a:solidFill>
                <a:latin typeface="Calibri"/>
              </a:rPr>
              <a:t>“show me the react repo on github”  </a:t>
            </a:r>
            <a:r>
              <a:rPr sz="1200" b="0" i="0">
                <a:solidFill>
                  <a:srgbClr val="A7F3D0"/>
                </a:solidFill>
                <a:latin typeface="Calibri"/>
              </a:rPr>
              <a:t>paraphrase understood · opened</a:t>
            </a:r>
          </a:p>
        </p:txBody>
      </p:sp>
      <p:sp>
        <p:nvSpPr>
          <p:cNvPr id="175" name="Rounded Rectangle 174"/>
          <p:cNvSpPr/>
          <p:nvPr/>
        </p:nvSpPr>
        <p:spPr>
          <a:xfrm>
            <a:off x="7150608" y="4023360"/>
            <a:ext cx="4114800" cy="2103120"/>
          </a:xfrm>
          <a:prstGeom prst="roundRect">
            <a:avLst>
              <a:gd name="adj" fmla="val 3478"/>
            </a:avLst>
          </a:prstGeom>
          <a:solidFill>
            <a:srgbClr val="FFFFFF"/>
          </a:solidFill>
          <a:ln w="12700">
            <a:solidFill>
              <a:srgbClr val="D9D3F0"/>
            </a:solidFill>
          </a:ln>
          <a:effectLst/>
        </p:spPr>
        <p:txBody>
          <a:bodyPr rtlCol="0" anchor="ctr"/>
          <a:lstStyle/>
          <a:p/>
        </p:txBody>
      </p:sp>
      <p:sp>
        <p:nvSpPr>
          <p:cNvPr id="176" name="TextBox 175"/>
          <p:cNvSpPr txBox="1"/>
          <p:nvPr/>
        </p:nvSpPr>
        <p:spPr>
          <a:xfrm>
            <a:off x="7379208" y="4160520"/>
            <a:ext cx="3749039" cy="320040"/>
          </a:xfrm>
          <a:prstGeom prst="rect">
            <a:avLst/>
          </a:prstGeom>
          <a:noFill/>
        </p:spPr>
        <p:txBody>
          <a:bodyPr wrap="square" lIns="0" rIns="0" tIns="0" bIns="0" anchor="t">
            <a:spAutoFit/>
          </a:bodyPr>
          <a:lstStyle/>
          <a:p>
            <a:pPr algn="l"/>
            <a:r>
              <a:rPr sz="1400" b="1" i="0">
                <a:solidFill>
                  <a:srgbClr val="6D28D9"/>
                </a:solidFill>
                <a:latin typeface="Arial"/>
              </a:rPr>
              <a:t>Also</a:t>
            </a:r>
          </a:p>
        </p:txBody>
      </p:sp>
      <p:pic>
        <p:nvPicPr>
          <p:cNvPr id="177" name="Picture 176" descr="MdCheckCircle_6D28D9.png"/>
          <p:cNvPicPr>
            <a:picLocks noChangeAspect="1"/>
          </p:cNvPicPr>
          <p:nvPr/>
        </p:nvPicPr>
        <p:blipFill>
          <a:blip r:embed="rId4"/>
          <a:stretch>
            <a:fillRect/>
          </a:stretch>
        </p:blipFill>
        <p:spPr>
          <a:xfrm>
            <a:off x="7379208" y="4599432"/>
            <a:ext cx="228600" cy="228600"/>
          </a:xfrm>
          <a:prstGeom prst="rect">
            <a:avLst/>
          </a:prstGeom>
        </p:spPr>
      </p:pic>
      <p:sp>
        <p:nvSpPr>
          <p:cNvPr id="178" name="TextBox 177"/>
          <p:cNvSpPr txBox="1"/>
          <p:nvPr/>
        </p:nvSpPr>
        <p:spPr>
          <a:xfrm>
            <a:off x="7717536" y="4553712"/>
            <a:ext cx="3520440" cy="329184"/>
          </a:xfrm>
          <a:prstGeom prst="rect">
            <a:avLst/>
          </a:prstGeom>
          <a:noFill/>
        </p:spPr>
        <p:txBody>
          <a:bodyPr wrap="square" lIns="0" rIns="0" tIns="0" bIns="0" anchor="ctr">
            <a:spAutoFit/>
          </a:bodyPr>
          <a:lstStyle/>
          <a:p>
            <a:pPr algn="l"/>
            <a:r>
              <a:rPr sz="1200" b="0" i="0">
                <a:solidFill>
                  <a:srgbClr val="1F2037"/>
                </a:solidFill>
                <a:latin typeface="Calibri"/>
              </a:rPr>
              <a:t>No per-app code path — not even for our target apps</a:t>
            </a:r>
          </a:p>
        </p:txBody>
      </p:sp>
      <p:pic>
        <p:nvPicPr>
          <p:cNvPr id="179" name="Picture 178" descr="MdCheckCircle_6D28D9.png"/>
          <p:cNvPicPr>
            <a:picLocks noChangeAspect="1"/>
          </p:cNvPicPr>
          <p:nvPr/>
        </p:nvPicPr>
        <p:blipFill>
          <a:blip r:embed="rId4"/>
          <a:stretch>
            <a:fillRect/>
          </a:stretch>
        </p:blipFill>
        <p:spPr>
          <a:xfrm>
            <a:off x="7379208" y="4983480"/>
            <a:ext cx="228600" cy="228600"/>
          </a:xfrm>
          <a:prstGeom prst="rect">
            <a:avLst/>
          </a:prstGeom>
        </p:spPr>
      </p:pic>
      <p:sp>
        <p:nvSpPr>
          <p:cNvPr id="180" name="TextBox 179"/>
          <p:cNvSpPr txBox="1"/>
          <p:nvPr/>
        </p:nvSpPr>
        <p:spPr>
          <a:xfrm>
            <a:off x="7717536" y="4937760"/>
            <a:ext cx="3520440" cy="329184"/>
          </a:xfrm>
          <a:prstGeom prst="rect">
            <a:avLst/>
          </a:prstGeom>
          <a:noFill/>
        </p:spPr>
        <p:txBody>
          <a:bodyPr wrap="square" lIns="0" rIns="0" tIns="0" bIns="0" anchor="ctr">
            <a:spAutoFit/>
          </a:bodyPr>
          <a:lstStyle/>
          <a:p>
            <a:pPr algn="l"/>
            <a:r>
              <a:rPr sz="1200" b="0" i="0">
                <a:solidFill>
                  <a:srgbClr val="1F2037"/>
                </a:solidFill>
                <a:latin typeface="Calibri"/>
              </a:rPr>
              <a:t>App switched to Hindi → says why in 5 s</a:t>
            </a:r>
          </a:p>
        </p:txBody>
      </p:sp>
      <p:pic>
        <p:nvPicPr>
          <p:cNvPr id="181" name="Picture 180" descr="MdCheckCircle_6D28D9.png"/>
          <p:cNvPicPr>
            <a:picLocks noChangeAspect="1"/>
          </p:cNvPicPr>
          <p:nvPr/>
        </p:nvPicPr>
        <p:blipFill>
          <a:blip r:embed="rId4"/>
          <a:stretch>
            <a:fillRect/>
          </a:stretch>
        </p:blipFill>
        <p:spPr>
          <a:xfrm>
            <a:off x="7379208" y="5367528"/>
            <a:ext cx="228600" cy="228600"/>
          </a:xfrm>
          <a:prstGeom prst="rect">
            <a:avLst/>
          </a:prstGeom>
        </p:spPr>
      </p:pic>
      <p:sp>
        <p:nvSpPr>
          <p:cNvPr id="182" name="TextBox 181"/>
          <p:cNvSpPr txBox="1"/>
          <p:nvPr/>
        </p:nvSpPr>
        <p:spPr>
          <a:xfrm>
            <a:off x="7717536" y="5321808"/>
            <a:ext cx="3520440" cy="329184"/>
          </a:xfrm>
          <a:prstGeom prst="rect">
            <a:avLst/>
          </a:prstGeom>
          <a:noFill/>
        </p:spPr>
        <p:txBody>
          <a:bodyPr wrap="square" lIns="0" rIns="0" tIns="0" bIns="0" anchor="ctr">
            <a:spAutoFit/>
          </a:bodyPr>
          <a:lstStyle/>
          <a:p>
            <a:pPr algn="l"/>
            <a:r>
              <a:rPr sz="1200" b="0" i="0">
                <a:solidFill>
                  <a:srgbClr val="1F2037"/>
                </a:solidFill>
                <a:latin typeface="Calibri"/>
              </a:rPr>
              <a:t>Payment and login guard knows Hindi phrases</a:t>
            </a:r>
          </a:p>
        </p:txBody>
      </p:sp>
      <p:pic>
        <p:nvPicPr>
          <p:cNvPr id="183" name="Picture 182" descr="MdCheckCircle_6D28D9.png"/>
          <p:cNvPicPr>
            <a:picLocks noChangeAspect="1"/>
          </p:cNvPicPr>
          <p:nvPr/>
        </p:nvPicPr>
        <p:blipFill>
          <a:blip r:embed="rId4"/>
          <a:stretch>
            <a:fillRect/>
          </a:stretch>
        </p:blipFill>
        <p:spPr>
          <a:xfrm>
            <a:off x="7379208" y="5751576"/>
            <a:ext cx="228600" cy="228600"/>
          </a:xfrm>
          <a:prstGeom prst="rect">
            <a:avLst/>
          </a:prstGeom>
        </p:spPr>
      </p:pic>
      <p:sp>
        <p:nvSpPr>
          <p:cNvPr id="184" name="TextBox 183"/>
          <p:cNvSpPr txBox="1"/>
          <p:nvPr/>
        </p:nvSpPr>
        <p:spPr>
          <a:xfrm>
            <a:off x="7717536" y="5705856"/>
            <a:ext cx="3520440" cy="329184"/>
          </a:xfrm>
          <a:prstGeom prst="rect">
            <a:avLst/>
          </a:prstGeom>
          <a:noFill/>
        </p:spPr>
        <p:txBody>
          <a:bodyPr wrap="square" lIns="0" rIns="0" tIns="0" bIns="0" anchor="ctr">
            <a:spAutoFit/>
          </a:bodyPr>
          <a:lstStyle/>
          <a:p>
            <a:pPr algn="l"/>
            <a:r>
              <a:rPr sz="1200" b="0" i="0">
                <a:solidFill>
                  <a:srgbClr val="1F2037"/>
                </a:solidFill>
                <a:latin typeface="Calibri"/>
              </a:rPr>
              <a:t>Learns from a typed prefix + a tapped suggestion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156" name="Rounded Rectangle 155"/>
          <p:cNvSpPr/>
          <p:nvPr/>
        </p:nvSpPr>
        <p:spPr>
          <a:xfrm>
            <a:off x="932688" y="1691640"/>
            <a:ext cx="10332720" cy="731520"/>
          </a:xfrm>
          <a:prstGeom prst="roundRect">
            <a:avLst>
              <a:gd name="adj" fmla="val 10000"/>
            </a:avLst>
          </a:prstGeom>
          <a:solidFill>
            <a:srgbClr val="F5F3FC"/>
          </a:solidFill>
          <a:ln>
            <a:noFill/>
          </a:ln>
          <a:effectLst/>
        </p:spPr>
        <p:txBody>
          <a:bodyPr rtlCol="0" anchor="ctr"/>
          <a:lstStyle/>
          <a:p/>
        </p:txBody>
      </p:sp>
      <p:sp>
        <p:nvSpPr>
          <p:cNvPr id="157" name="Oval 156"/>
          <p:cNvSpPr/>
          <p:nvPr/>
        </p:nvSpPr>
        <p:spPr>
          <a:xfrm>
            <a:off x="1115568" y="1837944"/>
            <a:ext cx="438912" cy="438912"/>
          </a:xfrm>
          <a:prstGeom prst="ellipse">
            <a:avLst/>
          </a:prstGeom>
          <a:solidFill>
            <a:srgbClr val="0E9F6E"/>
          </a:solidFill>
          <a:ln>
            <a:noFill/>
          </a:ln>
          <a:effectLst/>
        </p:spPr>
        <p:txBody>
          <a:bodyPr rtlCol="0" anchor="ctr"/>
          <a:lstStyle/>
          <a:p/>
        </p:txBody>
      </p:sp>
      <p:sp>
        <p:nvSpPr>
          <p:cNvPr id="158" name="TextBox 157"/>
          <p:cNvSpPr txBox="1"/>
          <p:nvPr/>
        </p:nvSpPr>
        <p:spPr>
          <a:xfrm>
            <a:off x="1115568" y="1837944"/>
            <a:ext cx="438912" cy="438912"/>
          </a:xfrm>
          <a:prstGeom prst="rect">
            <a:avLst/>
          </a:prstGeom>
          <a:noFill/>
        </p:spPr>
        <p:txBody>
          <a:bodyPr wrap="square" lIns="0" rIns="0" tIns="0" bIns="0" anchor="ctr">
            <a:spAutoFit/>
          </a:bodyPr>
          <a:lstStyle/>
          <a:p>
            <a:pPr algn="ctr"/>
            <a:r>
              <a:rPr sz="1600" b="1" i="0">
                <a:solidFill>
                  <a:srgbClr val="FFFFFF"/>
                </a:solidFill>
                <a:latin typeface="Arial"/>
              </a:rPr>
              <a:t>Y</a:t>
            </a:r>
          </a:p>
        </p:txBody>
      </p:sp>
      <p:sp>
        <p:nvSpPr>
          <p:cNvPr id="159" name="TextBox 158"/>
          <p:cNvSpPr txBox="1"/>
          <p:nvPr/>
        </p:nvSpPr>
        <p:spPr>
          <a:xfrm>
            <a:off x="1755648" y="1755648"/>
            <a:ext cx="9326880" cy="621792"/>
          </a:xfrm>
          <a:prstGeom prst="rect">
            <a:avLst/>
          </a:prstGeom>
          <a:noFill/>
        </p:spPr>
        <p:txBody>
          <a:bodyPr wrap="square" lIns="0" rIns="0" tIns="0" bIns="0" anchor="ctr">
            <a:spAutoFit/>
          </a:bodyPr>
          <a:lstStyle/>
          <a:p>
            <a:pPr algn="l"/>
            <a:r>
              <a:rPr sz="1400" b="1" i="0">
                <a:solidFill>
                  <a:srgbClr val="14142B"/>
                </a:solidFill>
                <a:latin typeface="Calibri"/>
              </a:rPr>
              <a:t>Working prototype code — public or shared GitHub repo</a:t>
            </a:r>
          </a:p>
          <a:p>
            <a:pPr algn="l"/>
            <a:r>
              <a:rPr sz="1200" b="0" i="0">
                <a:solidFill>
                  <a:srgbClr val="5B5F77"/>
                </a:solidFill>
                <a:latin typeface="Calibri"/>
              </a:rPr>
              <a:t>github.com/sgoel2be24-cyber/prism-teachable-voice  ·  release tag PRISM_GENAI_HACKATHON_Y2026</a:t>
            </a:r>
          </a:p>
        </p:txBody>
      </p:sp>
      <p:sp>
        <p:nvSpPr>
          <p:cNvPr id="160" name="Rounded Rectangle 159"/>
          <p:cNvSpPr/>
          <p:nvPr/>
        </p:nvSpPr>
        <p:spPr>
          <a:xfrm>
            <a:off x="932688" y="2560320"/>
            <a:ext cx="10332720" cy="731520"/>
          </a:xfrm>
          <a:prstGeom prst="roundRect">
            <a:avLst>
              <a:gd name="adj" fmla="val 10000"/>
            </a:avLst>
          </a:prstGeom>
          <a:solidFill>
            <a:srgbClr val="F5F3FC"/>
          </a:solidFill>
          <a:ln>
            <a:noFill/>
          </a:ln>
          <a:effectLst/>
        </p:spPr>
        <p:txBody>
          <a:bodyPr rtlCol="0" anchor="ctr"/>
          <a:lstStyle/>
          <a:p/>
        </p:txBody>
      </p:sp>
      <p:sp>
        <p:nvSpPr>
          <p:cNvPr id="161" name="Oval 160"/>
          <p:cNvSpPr/>
          <p:nvPr/>
        </p:nvSpPr>
        <p:spPr>
          <a:xfrm>
            <a:off x="1115568" y="2706624"/>
            <a:ext cx="438912" cy="438912"/>
          </a:xfrm>
          <a:prstGeom prst="ellipse">
            <a:avLst/>
          </a:prstGeom>
          <a:solidFill>
            <a:srgbClr val="0E9F6E"/>
          </a:solidFill>
          <a:ln>
            <a:noFill/>
          </a:ln>
          <a:effectLst/>
        </p:spPr>
        <p:txBody>
          <a:bodyPr rtlCol="0" anchor="ctr"/>
          <a:lstStyle/>
          <a:p/>
        </p:txBody>
      </p:sp>
      <p:sp>
        <p:nvSpPr>
          <p:cNvPr id="162" name="TextBox 161"/>
          <p:cNvSpPr txBox="1"/>
          <p:nvPr/>
        </p:nvSpPr>
        <p:spPr>
          <a:xfrm>
            <a:off x="1115568" y="2706624"/>
            <a:ext cx="438912" cy="438912"/>
          </a:xfrm>
          <a:prstGeom prst="rect">
            <a:avLst/>
          </a:prstGeom>
          <a:noFill/>
        </p:spPr>
        <p:txBody>
          <a:bodyPr wrap="square" lIns="0" rIns="0" tIns="0" bIns="0" anchor="ctr">
            <a:spAutoFit/>
          </a:bodyPr>
          <a:lstStyle/>
          <a:p>
            <a:pPr algn="ctr"/>
            <a:r>
              <a:rPr sz="1600" b="1" i="0">
                <a:solidFill>
                  <a:srgbClr val="FFFFFF"/>
                </a:solidFill>
                <a:latin typeface="Arial"/>
              </a:rPr>
              <a:t>Y</a:t>
            </a:r>
          </a:p>
        </p:txBody>
      </p:sp>
      <p:sp>
        <p:nvSpPr>
          <p:cNvPr id="163" name="TextBox 162"/>
          <p:cNvSpPr txBox="1"/>
          <p:nvPr/>
        </p:nvSpPr>
        <p:spPr>
          <a:xfrm>
            <a:off x="1755648" y="2624327"/>
            <a:ext cx="9326880" cy="621792"/>
          </a:xfrm>
          <a:prstGeom prst="rect">
            <a:avLst/>
          </a:prstGeom>
          <a:noFill/>
        </p:spPr>
        <p:txBody>
          <a:bodyPr wrap="square" lIns="0" rIns="0" tIns="0" bIns="0" anchor="ctr">
            <a:spAutoFit/>
          </a:bodyPr>
          <a:lstStyle/>
          <a:p>
            <a:pPr algn="l"/>
            <a:r>
              <a:rPr sz="1400" b="1" i="0">
                <a:solidFill>
                  <a:srgbClr val="14142B"/>
                </a:solidFill>
                <a:latin typeface="Calibri"/>
              </a:rPr>
              <a:t>README with reproducible setup instructions</a:t>
            </a:r>
          </a:p>
          <a:p>
            <a:pPr algn="l"/>
            <a:r>
              <a:rPr sz="1200" b="0" i="0">
                <a:solidFill>
                  <a:srgbClr val="5B5F77"/>
                </a:solidFill>
                <a:latin typeface="Calibri"/>
              </a:rPr>
              <a:t>README with setup steps, a Dockerfile that builds the APK, and the installable APK in the GitHub release</a:t>
            </a:r>
          </a:p>
        </p:txBody>
      </p:sp>
      <p:sp>
        <p:nvSpPr>
          <p:cNvPr id="164" name="Rounded Rectangle 163"/>
          <p:cNvSpPr/>
          <p:nvPr/>
        </p:nvSpPr>
        <p:spPr>
          <a:xfrm>
            <a:off x="932688" y="3429000"/>
            <a:ext cx="10332720" cy="731520"/>
          </a:xfrm>
          <a:prstGeom prst="roundRect">
            <a:avLst>
              <a:gd name="adj" fmla="val 10000"/>
            </a:avLst>
          </a:prstGeom>
          <a:solidFill>
            <a:srgbClr val="F5F3FC"/>
          </a:solidFill>
          <a:ln>
            <a:noFill/>
          </a:ln>
          <a:effectLst/>
        </p:spPr>
        <p:txBody>
          <a:bodyPr rtlCol="0" anchor="ctr"/>
          <a:lstStyle/>
          <a:p/>
        </p:txBody>
      </p:sp>
      <p:sp>
        <p:nvSpPr>
          <p:cNvPr id="165" name="Oval 164"/>
          <p:cNvSpPr/>
          <p:nvPr/>
        </p:nvSpPr>
        <p:spPr>
          <a:xfrm>
            <a:off x="1115568" y="3575304"/>
            <a:ext cx="438912" cy="438912"/>
          </a:xfrm>
          <a:prstGeom prst="ellipse">
            <a:avLst/>
          </a:prstGeom>
          <a:solidFill>
            <a:srgbClr val="0E9F6E"/>
          </a:solidFill>
          <a:ln>
            <a:noFill/>
          </a:ln>
          <a:effectLst/>
        </p:spPr>
        <p:txBody>
          <a:bodyPr rtlCol="0" anchor="ctr"/>
          <a:lstStyle/>
          <a:p/>
        </p:txBody>
      </p:sp>
      <p:sp>
        <p:nvSpPr>
          <p:cNvPr id="166" name="TextBox 165"/>
          <p:cNvSpPr txBox="1"/>
          <p:nvPr/>
        </p:nvSpPr>
        <p:spPr>
          <a:xfrm>
            <a:off x="1115568" y="3575304"/>
            <a:ext cx="438912" cy="438912"/>
          </a:xfrm>
          <a:prstGeom prst="rect">
            <a:avLst/>
          </a:prstGeom>
          <a:noFill/>
        </p:spPr>
        <p:txBody>
          <a:bodyPr wrap="square" lIns="0" rIns="0" tIns="0" bIns="0" anchor="ctr">
            <a:spAutoFit/>
          </a:bodyPr>
          <a:lstStyle/>
          <a:p>
            <a:pPr algn="ctr"/>
            <a:r>
              <a:rPr sz="1600" b="1" i="0">
                <a:solidFill>
                  <a:srgbClr val="FFFFFF"/>
                </a:solidFill>
                <a:latin typeface="Arial"/>
              </a:rPr>
              <a:t>Y</a:t>
            </a:r>
          </a:p>
        </p:txBody>
      </p:sp>
      <p:sp>
        <p:nvSpPr>
          <p:cNvPr id="167" name="TextBox 166"/>
          <p:cNvSpPr txBox="1"/>
          <p:nvPr/>
        </p:nvSpPr>
        <p:spPr>
          <a:xfrm>
            <a:off x="1755648" y="3493008"/>
            <a:ext cx="9326880" cy="621792"/>
          </a:xfrm>
          <a:prstGeom prst="rect">
            <a:avLst/>
          </a:prstGeom>
          <a:noFill/>
        </p:spPr>
        <p:txBody>
          <a:bodyPr wrap="square" lIns="0" rIns="0" tIns="0" bIns="0" anchor="ctr">
            <a:spAutoFit/>
          </a:bodyPr>
          <a:lstStyle/>
          <a:p>
            <a:pPr algn="l"/>
            <a:r>
              <a:rPr sz="1400" b="1" i="0">
                <a:solidFill>
                  <a:srgbClr val="14142B"/>
                </a:solidFill>
                <a:latin typeface="Calibri"/>
              </a:rPr>
              <a:t>Demo video, max 5 minutes (YouTube or Drive link)</a:t>
            </a:r>
          </a:p>
          <a:p>
            <a:pPr algn="l"/>
            <a:r>
              <a:rPr sz="1200" b="0" i="0">
                <a:solidFill>
                  <a:srgbClr val="5B5F77"/>
                </a:solidFill>
                <a:latin typeface="Calibri"/>
              </a:rPr>
              <a:t>One unedited take in the order the theme asks for; the link is in the README and the form</a:t>
            </a:r>
          </a:p>
        </p:txBody>
      </p:sp>
      <p:sp>
        <p:nvSpPr>
          <p:cNvPr id="168" name="Rounded Rectangle 167"/>
          <p:cNvSpPr/>
          <p:nvPr/>
        </p:nvSpPr>
        <p:spPr>
          <a:xfrm>
            <a:off x="932688" y="4297679"/>
            <a:ext cx="10332720" cy="731520"/>
          </a:xfrm>
          <a:prstGeom prst="roundRect">
            <a:avLst>
              <a:gd name="adj" fmla="val 10000"/>
            </a:avLst>
          </a:prstGeom>
          <a:solidFill>
            <a:srgbClr val="F5F3FC"/>
          </a:solidFill>
          <a:ln>
            <a:noFill/>
          </a:ln>
          <a:effectLst/>
        </p:spPr>
        <p:txBody>
          <a:bodyPr rtlCol="0" anchor="ctr"/>
          <a:lstStyle/>
          <a:p/>
        </p:txBody>
      </p:sp>
      <p:sp>
        <p:nvSpPr>
          <p:cNvPr id="169" name="Oval 168"/>
          <p:cNvSpPr/>
          <p:nvPr/>
        </p:nvSpPr>
        <p:spPr>
          <a:xfrm>
            <a:off x="1115568" y="4443983"/>
            <a:ext cx="438912" cy="438912"/>
          </a:xfrm>
          <a:prstGeom prst="ellipse">
            <a:avLst/>
          </a:prstGeom>
          <a:solidFill>
            <a:srgbClr val="0E9F6E"/>
          </a:solidFill>
          <a:ln>
            <a:noFill/>
          </a:ln>
          <a:effectLst/>
        </p:spPr>
        <p:txBody>
          <a:bodyPr rtlCol="0" anchor="ctr"/>
          <a:lstStyle/>
          <a:p/>
        </p:txBody>
      </p:sp>
      <p:sp>
        <p:nvSpPr>
          <p:cNvPr id="170" name="TextBox 169"/>
          <p:cNvSpPr txBox="1"/>
          <p:nvPr/>
        </p:nvSpPr>
        <p:spPr>
          <a:xfrm>
            <a:off x="1115568" y="4443983"/>
            <a:ext cx="438912" cy="438912"/>
          </a:xfrm>
          <a:prstGeom prst="rect">
            <a:avLst/>
          </a:prstGeom>
          <a:noFill/>
        </p:spPr>
        <p:txBody>
          <a:bodyPr wrap="square" lIns="0" rIns="0" tIns="0" bIns="0" anchor="ctr">
            <a:spAutoFit/>
          </a:bodyPr>
          <a:lstStyle/>
          <a:p>
            <a:pPr algn="ctr"/>
            <a:r>
              <a:rPr sz="1600" b="1" i="0">
                <a:solidFill>
                  <a:srgbClr val="FFFFFF"/>
                </a:solidFill>
                <a:latin typeface="Arial"/>
              </a:rPr>
              <a:t>Y</a:t>
            </a:r>
          </a:p>
        </p:txBody>
      </p:sp>
      <p:sp>
        <p:nvSpPr>
          <p:cNvPr id="171" name="TextBox 170"/>
          <p:cNvSpPr txBox="1"/>
          <p:nvPr/>
        </p:nvSpPr>
        <p:spPr>
          <a:xfrm>
            <a:off x="1755648" y="4361688"/>
            <a:ext cx="9326880" cy="621792"/>
          </a:xfrm>
          <a:prstGeom prst="rect">
            <a:avLst/>
          </a:prstGeom>
          <a:noFill/>
        </p:spPr>
        <p:txBody>
          <a:bodyPr wrap="square" lIns="0" rIns="0" tIns="0" bIns="0" anchor="ctr">
            <a:spAutoFit/>
          </a:bodyPr>
          <a:lstStyle/>
          <a:p>
            <a:pPr algn="l"/>
            <a:r>
              <a:rPr sz="1400" b="1" i="0">
                <a:solidFill>
                  <a:srgbClr val="14142B"/>
                </a:solidFill>
                <a:latin typeface="Calibri"/>
              </a:rPr>
              <a:t>Presentation file (PPT or PDF)</a:t>
            </a:r>
          </a:p>
          <a:p>
            <a:pPr algn="l"/>
            <a:r>
              <a:rPr sz="1200" b="0" i="0">
                <a:solidFill>
                  <a:srgbClr val="5B5F77"/>
                </a:solidFill>
                <a:latin typeface="Calibri"/>
              </a:rPr>
              <a:t>TIET_Update_Submission_ppt.pptx, in the repository</a:t>
            </a:r>
          </a:p>
        </p:txBody>
      </p:sp>
      <p:sp>
        <p:nvSpPr>
          <p:cNvPr id="172" name="Rounded Rectangle 171"/>
          <p:cNvSpPr/>
          <p:nvPr/>
        </p:nvSpPr>
        <p:spPr>
          <a:xfrm>
            <a:off x="932688" y="5166360"/>
            <a:ext cx="10332720" cy="731520"/>
          </a:xfrm>
          <a:prstGeom prst="roundRect">
            <a:avLst>
              <a:gd name="adj" fmla="val 10000"/>
            </a:avLst>
          </a:prstGeom>
          <a:solidFill>
            <a:srgbClr val="F5F3FC"/>
          </a:solidFill>
          <a:ln>
            <a:noFill/>
          </a:ln>
          <a:effectLst/>
        </p:spPr>
        <p:txBody>
          <a:bodyPr rtlCol="0" anchor="ctr"/>
          <a:lstStyle/>
          <a:p/>
        </p:txBody>
      </p:sp>
      <p:sp>
        <p:nvSpPr>
          <p:cNvPr id="173" name="Oval 172"/>
          <p:cNvSpPr/>
          <p:nvPr/>
        </p:nvSpPr>
        <p:spPr>
          <a:xfrm>
            <a:off x="1115568" y="5312664"/>
            <a:ext cx="438912" cy="438912"/>
          </a:xfrm>
          <a:prstGeom prst="ellipse">
            <a:avLst/>
          </a:prstGeom>
          <a:solidFill>
            <a:srgbClr val="0E9F6E"/>
          </a:solidFill>
          <a:ln>
            <a:noFill/>
          </a:ln>
          <a:effectLst/>
        </p:spPr>
        <p:txBody>
          <a:bodyPr rtlCol="0" anchor="ctr"/>
          <a:lstStyle/>
          <a:p/>
        </p:txBody>
      </p:sp>
      <p:sp>
        <p:nvSpPr>
          <p:cNvPr id="174" name="TextBox 173"/>
          <p:cNvSpPr txBox="1"/>
          <p:nvPr/>
        </p:nvSpPr>
        <p:spPr>
          <a:xfrm>
            <a:off x="1115568" y="5312664"/>
            <a:ext cx="438912" cy="438912"/>
          </a:xfrm>
          <a:prstGeom prst="rect">
            <a:avLst/>
          </a:prstGeom>
          <a:noFill/>
        </p:spPr>
        <p:txBody>
          <a:bodyPr wrap="square" lIns="0" rIns="0" tIns="0" bIns="0" anchor="ctr">
            <a:spAutoFit/>
          </a:bodyPr>
          <a:lstStyle/>
          <a:p>
            <a:pPr algn="ctr"/>
            <a:r>
              <a:rPr sz="1600" b="1" i="0">
                <a:solidFill>
                  <a:srgbClr val="FFFFFF"/>
                </a:solidFill>
                <a:latin typeface="Arial"/>
              </a:rPr>
              <a:t>Y</a:t>
            </a:r>
          </a:p>
        </p:txBody>
      </p:sp>
      <p:sp>
        <p:nvSpPr>
          <p:cNvPr id="175" name="TextBox 174"/>
          <p:cNvSpPr txBox="1"/>
          <p:nvPr/>
        </p:nvSpPr>
        <p:spPr>
          <a:xfrm>
            <a:off x="1755648" y="5230368"/>
            <a:ext cx="9326880" cy="621792"/>
          </a:xfrm>
          <a:prstGeom prst="rect">
            <a:avLst/>
          </a:prstGeom>
          <a:noFill/>
        </p:spPr>
        <p:txBody>
          <a:bodyPr wrap="square" lIns="0" rIns="0" tIns="0" bIns="0" anchor="ctr">
            <a:spAutoFit/>
          </a:bodyPr>
          <a:lstStyle/>
          <a:p>
            <a:pPr algn="l"/>
            <a:r>
              <a:rPr sz="1400" b="1" i="0">
                <a:solidFill>
                  <a:srgbClr val="14142B"/>
                </a:solidFill>
                <a:latin typeface="Calibri"/>
              </a:rPr>
              <a:t>Architecture, target apps and known limitations (Theme 3)</a:t>
            </a:r>
          </a:p>
          <a:p>
            <a:pPr algn="l"/>
            <a:r>
              <a:rPr sz="1200" b="0" i="0">
                <a:solidFill>
                  <a:srgbClr val="5B5F77"/>
                </a:solidFill>
                <a:latin typeface="Calibri"/>
              </a:rPr>
              <a:t>docs/architecture.md with diagrams; target apps and limitations in the README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
        <p:nvSpPr>
          <p:cNvPr id="164" name="TextBox 163"/>
          <p:cNvSpPr txBox="1"/>
          <p:nvPr/>
        </p:nvSpPr>
        <p:spPr>
          <a:xfrm>
            <a:off x="1042415" y="4617720"/>
            <a:ext cx="8686800" cy="822960"/>
          </a:xfrm>
          <a:prstGeom prst="rect">
            <a:avLst/>
          </a:prstGeom>
          <a:noFill/>
        </p:spPr>
        <p:txBody>
          <a:bodyPr wrap="square" lIns="0" rIns="0" tIns="0" bIns="0" anchor="t">
            <a:spAutoFit/>
          </a:bodyPr>
          <a:lstStyle/>
          <a:p>
            <a:pPr algn="l">
              <a:spcAft>
                <a:spcPts val="400"/>
              </a:spcAft>
            </a:pPr>
            <a:r>
              <a:rPr sz="1500" b="1" i="0">
                <a:solidFill>
                  <a:srgbClr val="14142B"/>
                </a:solidFill>
                <a:latin typeface="Calibri"/>
              </a:rPr>
              <a:t>Team Update · TIET — </a:t>
            </a:r>
            <a:r>
              <a:rPr sz="1500" b="0" i="0">
                <a:solidFill>
                  <a:srgbClr val="14142B"/>
                </a:solidFill>
                <a:latin typeface="Calibri"/>
              </a:rPr>
              <a:t>Shikhar Goel, Ishpreet Singh</a:t>
            </a:r>
          </a:p>
          <a:p>
            <a:pPr algn="l">
              <a:spcAft>
                <a:spcPts val="400"/>
              </a:spcAft>
            </a:pPr>
            <a:r>
              <a:rPr sz="1300" b="0" i="0">
                <a:solidFill>
                  <a:srgbClr val="6D28D9"/>
                </a:solidFill>
                <a:latin typeface="Calibri"/>
              </a:rPr>
              <a:t>github.com/sgoel2be24-cyber/prism-teachable-voice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