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8" r:id="rId18"/>
    <p:sldId id="269" r:id="rId19"/>
    <p:sldId id="270" r:id="rId20"/>
    <p:sldId id="260" r:id="rId9"/>
    <p:sldId id="261" r:id="rId10"/>
    <p:sldId id="262" r:id="rId11"/>
    <p:sldId id="263" r:id="rId12"/>
    <p:sldId id="271" r:id="rId21"/>
    <p:sldId id="272" r:id="rId22"/>
    <p:sldId id="273" r:id="rId23"/>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customschemas.google.com/relationships/presentationmetadata" Target="metadata"/><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Theme 03, Teachable Voice Automation. Team Update from TIET: Shikhar Goel and Ishpreet Singh, third-year Computer Engineering. One sentence: you teach the phone a task by doing it once while it listens and watches; after that you just say it, with different values or wording, and it does it through the accessibility service, stopping before payment.</a:t>
            </a:r>
          </a:p>
        </p:txBody>
      </p:sp>
      <p:sp>
        <p:nvSpPr>
          <p:cNvPr id="88" name="Google Shape;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Theme 03 in our words: assistants only reach what apps expose, so in-app tasks take many taps. The theme asks us to learn a task from one demonstration by voice and taps, generalise it into slots, match paraphrases and new values, cope with changed screens, and never touch credentials. Our target apps are Zomato, Amazon, and Myntra for the cross-app bonus.</a:t>
            </a: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Existing options: assistants reach only exposed app actions; macro apps are hand-built and brittle; LLM screen agents call a model for every step, which is slow, costly and not repeatable; programming by demonstration, like SUGILITE, had the right idea but no way to recover when a screen changes. We combine demonstration with a deterministic replay engine and use the model only as a fallback, with a hard hand-off at payment and login.</a:t>
            </a: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Four stages. Teach: the user speaks the command and performs it once; our overlay captures every tap even on screens that report nothing. Generalise: command words that show up in the demo become slots. Replay: paraphrases, new values, Hinglish, even another app. Ask or hand back: one specific question when something is missing, and a hard stop before payment or login. The three commands at the bottom are real runs.</a:t>
            </a: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Four moments from real runs: the teaching border with Done and Cancel; the learned Zomato task, in words, with its slots and the Veg filter marked not needed; a missing value asked mid-run; and on Myntra, a size question listing the sizes on offer. The demo video follows the order the theme asks for.</a:t>
            </a: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Plain native Android in Kotlin; no root, no app SDKs. One hosted model through Fireworks' OpenAI-compatible API. Everything is reproducible with the Dockerfile, and the test benches drive the phone over adb.</a:t>
            </a: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Impact: the Zomato order we taught is eleven steps; after one demonstration it's one sentence and under a minute hands-free. Use cases: everyday repeats, accessibility for people who find many small taps hard, a family member setting up tasks once for a parent, and Hinglish commands. As a worklet, it extends an assistant into any app through accessibility, without partner integrations.</a:t>
            </a:r>
          </a:p>
        </p:txBody>
      </p:sp>
      <p:sp>
        <p:nvSpPr>
          <p:cNvPr id="129" name="Google Shape;12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If the jury remembers one thing: the language model is a fallback, not the engine. Replays on known screens are deterministic and verified, which is what makes a single demonstration dependable.</a:t>
            </a:r>
          </a:p>
        </p:txBody>
      </p:sp>
      <p:sp>
        <p:nvSpPr>
          <p:cNvPr id="135" name="Google Shape;13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Where it goes next: an on-device model for privacy and speed, sharing taught tasks, routines, and more Indian languages. As a worklet, the safety pieces are already in place.</a:t>
            </a:r>
          </a:p>
        </p:txBody>
      </p:sp>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All three bonus criteria are met with evidence from real runs. Beyond them: to check nothing is tuned to our target apps, we taught a task on GitHub, which the assistant had never seen, and new repository names replayed in 17 to 18 seconds with no model calls.</a:t>
            </a:r>
          </a:p>
        </p:txBody>
      </p:sp>
      <p:sp>
        <p:nvSpPr>
          <p:cNvPr id="147" name="Google Shape;1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Everything the submission asks for is in the public repository under the release tag: code, README with setup and a Dockerfile, the APK, the demo video link, this presentation, and the architecture and limitations the theme asks for.</a:t>
            </a:r>
          </a:p>
        </p:txBody>
      </p:sp>
      <p:sp>
        <p:nvSpPr>
          <p:cNvPr id="153" name="Google Shape;15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The repository has the code, README, Dockerfile, APK and every evaluation table.</a:t>
            </a:r>
          </a:p>
        </p:txBody>
      </p:sp>
      <p:sp>
        <p:nvSpPr>
          <p:cNvPr id="160" name="Google Shape;16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Two pipelines on the phone. Teach: voice command, the recorder with our tap-capture overlay and a UI-tree snapshot per tap, the generaliser that finds slots, one LLM call to refine, a review screen, and a JSON recipe. Run: the matcher, offline first; the executor that escalates from a scored fast path to scrolling, page search and only then an LLM action or a question; checks that demand proof; and the guard. The violet tags mark where the LLM is used; it's the only network call.</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five things the theme asks us to explain. The key idea in capture is that we don't trust accessibility click events, which many modern screens never send; we intercept the touch ourselves and hit-test it against the UI tree. Slots follow the SUGILITE idea: a word from the command that reappears in the demo is a parameter.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Each step climbs this ladder only as far as it must. Most steps end on rung one: a deterministic scored match, no network. The LLM is rung four, and it only ever chooses a single action on the live screen, which we then verify. Right: the executor needs evidence on screen before a step counts as done, and the guard, checked on every action, never touches payment, login, OTP or password screens.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numbers come from benches that force-stop the app before each run and log every step; the method and every table are in the docs folder. The judges' own sentence reached payment eight times out of eight without a single language-model call. On 30 September we ran every sentence from the theme's test table verbatim, including the rubric's garlic-bread example, and all were handled.</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theme's own test table, in order, with what our build does on each. Details and timings for every row are in the evaluation documents in the repository.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all in the README too. The sideloading one matters for anyone installing the APK in India: Play Protect blocks apps with an accessibility service when they come from a browser or chat app; adb install or pausing the scan works.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 name="Shape 16"/>
        <p:cNvGrpSpPr/>
        <p:nvPr/>
      </p:nvGrpSpPr>
      <p:grpSpPr>
        <a:xfrm>
          <a:off x="0" y="0"/>
          <a:ext cx="0" cy="0"/>
          <a:chOff x="0" y="0"/>
          <a:chExt cx="0" cy="0"/>
        </a:xfrm>
      </p:grpSpPr>
      <p:sp>
        <p:nvSpPr>
          <p:cNvPr id="17" name="Google Shape;17;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 name="Google Shape;19;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1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1" name="Google Shape;31;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0" name="Shape 50"/>
        <p:cNvGrpSpPr/>
        <p:nvPr/>
      </p:nvGrpSpPr>
      <p:grpSpPr>
        <a:xfrm>
          <a:off x="0" y="0"/>
          <a:ext cx="0" cy="0"/>
          <a:chOff x="0" y="0"/>
          <a:chExt cx="0" cy="0"/>
        </a:xfrm>
      </p:grpSpPr>
      <p:sp>
        <p:nvSpPr>
          <p:cNvPr id="51" name="Google Shape;51;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9" name="Shape 59"/>
        <p:cNvGrpSpPr/>
        <p:nvPr/>
      </p:nvGrpSpPr>
      <p:grpSpPr>
        <a:xfrm>
          <a:off x="0" y="0"/>
          <a:ext cx="0" cy="0"/>
          <a:chOff x="0" y="0"/>
          <a:chExt cx="0" cy="0"/>
        </a:xfrm>
      </p:grpSpPr>
      <p:sp>
        <p:nvSpPr>
          <p:cNvPr id="60" name="Google Shape;60;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2" name="Google Shape;62;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3" name="Google Shape;63;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
        <p:nvSpPr>
          <p:cNvPr id="67" name="Google Shape;67;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23"/>
          <p:cNvSpPr/>
          <p:nvPr>
            <p:ph idx="2" type="pic"/>
          </p:nvPr>
        </p:nvSpPr>
        <p:spPr>
          <a:xfrm>
            <a:off x="5183188" y="987425"/>
            <a:ext cx="6172200" cy="4873625"/>
          </a:xfrm>
          <a:prstGeom prst="rect">
            <a:avLst/>
          </a:prstGeom>
          <a:noFill/>
          <a:ln>
            <a:noFill/>
          </a:ln>
        </p:spPr>
      </p:sp>
      <p:sp>
        <p:nvSpPr>
          <p:cNvPr id="69" name="Google Shape;69;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3" name="Shape 73"/>
        <p:cNvGrpSpPr/>
        <p:nvPr/>
      </p:nvGrpSpPr>
      <p:grpSpPr>
        <a:xfrm>
          <a:off x="0" y="0"/>
          <a:ext cx="0" cy="0"/>
          <a:chOff x="0" y="0"/>
          <a:chExt cx="0" cy="0"/>
        </a:xfrm>
      </p:grpSpPr>
      <p:sp>
        <p:nvSpPr>
          <p:cNvPr id="74" name="Google Shape;74;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9" name="Shape 79"/>
        <p:cNvGrpSpPr/>
        <p:nvPr/>
      </p:nvGrpSpPr>
      <p:grpSpPr>
        <a:xfrm>
          <a:off x="0" y="0"/>
          <a:ext cx="0" cy="0"/>
          <a:chOff x="0" y="0"/>
          <a:chExt cx="0" cy="0"/>
        </a:xfrm>
      </p:grpSpPr>
      <p:sp>
        <p:nvSpPr>
          <p:cNvPr id="80" name="Google Shape;80;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21.png"/><Relationship Id="rId7"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21.pn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fmla="val 50000" name="adj"/>
            </a:avLst>
          </a:prstGeom>
          <a:solidFill>
            <a:srgbClr val="FFFFFF"/>
          </a:solidFill>
          <a:ln cap="flat" cmpd="sng" w="12700">
            <a:solidFill>
              <a:srgbClr val="D9D3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777240" y="676656"/>
            <a:ext cx="242316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D28D9"/>
              </a:buClr>
              <a:buSzPts val="1100"/>
              <a:buFont typeface="Arial"/>
              <a:buNone/>
            </a:pPr>
            <a:r>
              <a:rPr b="1" i="0" lang="en-US" sz="1100" u="none" cap="none" strike="noStrike">
                <a:solidFill>
                  <a:srgbClr val="6D28D9"/>
                </a:solidFill>
                <a:latin typeface="Arial"/>
                <a:ea typeface="Arial"/>
                <a:cs typeface="Arial"/>
                <a:sym typeface="Arial"/>
              </a:rPr>
              <a:t>SAMSUNG PRISM</a:t>
            </a:r>
            <a:endParaRPr b="0" i="0" sz="1100" u="none" cap="none" strike="noStrik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5000"/>
              <a:buFont typeface="Arial"/>
              <a:buNone/>
            </a:pPr>
            <a:r>
              <a:rPr b="1" i="0" lang="en-US" sz="5000" u="none" cap="none" strike="noStrike">
                <a:solidFill>
                  <a:srgbClr val="14142B"/>
                </a:solidFill>
                <a:latin typeface="Arial"/>
                <a:ea typeface="Arial"/>
                <a:cs typeface="Arial"/>
                <a:sym typeface="Arial"/>
              </a:rPr>
              <a:t>Generative AI</a:t>
            </a:r>
            <a:endParaRPr b="0" i="0" sz="5000" u="none" cap="none" strike="noStrik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28D9"/>
              </a:buClr>
              <a:buSzPts val="5000"/>
              <a:buFont typeface="Arial"/>
              <a:buNone/>
            </a:pPr>
            <a:r>
              <a:rPr b="1" i="0" lang="en-US" sz="5000" u="none" cap="none" strike="noStrike">
                <a:solidFill>
                  <a:srgbClr val="6D28D9"/>
                </a:solidFill>
                <a:latin typeface="Arial"/>
                <a:ea typeface="Arial"/>
                <a:cs typeface="Arial"/>
                <a:sym typeface="Arial"/>
              </a:rPr>
              <a:t>Hackathon</a:t>
            </a:r>
            <a:endParaRPr b="0" i="0" sz="5000" u="none" cap="none" strike="noStrik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2500"/>
              <a:buFont typeface="Arial"/>
              <a:buNone/>
            </a:pPr>
            <a:r>
              <a:rPr b="1" i="0" lang="en-US" sz="2500" u="none" cap="none" strike="noStrike">
                <a:solidFill>
                  <a:srgbClr val="14142B"/>
                </a:solidFill>
                <a:latin typeface="Arial"/>
                <a:ea typeface="Arial"/>
                <a:cs typeface="Arial"/>
                <a:sym typeface="Arial"/>
              </a:rPr>
              <a:t>3rd Edition</a:t>
            </a:r>
            <a:r>
              <a:rPr b="0" i="0" lang="en-US" sz="2000" u="none" cap="none" strike="noStrike">
                <a:solidFill>
                  <a:srgbClr val="63637E"/>
                </a:solidFill>
                <a:latin typeface="Calibri"/>
                <a:ea typeface="Calibri"/>
                <a:cs typeface="Calibri"/>
                <a:sym typeface="Calibri"/>
              </a:rPr>
              <a:t>   2026 – 27</a:t>
            </a:r>
            <a:endParaRPr b="0" i="0" sz="2500" u="none" cap="none" strike="noStrike">
              <a:solidFill>
                <a:schemeClr val="dk1"/>
              </a:solidFill>
              <a:latin typeface="Calibri"/>
              <a:ea typeface="Calibri"/>
              <a:cs typeface="Calibri"/>
              <a:sym typeface="Calibri"/>
            </a:endParaRPr>
          </a:p>
        </p:txBody>
      </p:sp>
      <p:sp>
        <p:nvSpPr>
          <p:cNvPr id="95" name="Google Shape;95;p1"/>
          <p:cNvSpPr txBox="1"/>
          <p:nvPr/>
        </p:nvSpPr>
        <p:spPr>
          <a:xfrm>
            <a:off x="777240" y="3310128"/>
            <a:ext cx="6126480" cy="77724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Theme ID - 03 · Teachable Voice Automation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Team Name - Update</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College Name - Thapar Institute of Engineering and Technology (TIET), Patiala</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1 - Shikhar Goel · sgoel2_be24@thapar.edu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2 - Ishpreet Singh · isingh4_be24@thapar.edu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Submission Github link - github.com/sgoel2be24-cyber/prism-teachable-voice</a:t>
            </a:r>
            <a:endParaRPr/>
          </a:p>
          <a:p>
            <a:pPr indent="-76200" lvl="0" marL="177800" marR="0" rtl="0" algn="l">
              <a:spcBef>
                <a:spcPts val="500"/>
              </a:spcBef>
              <a:spcAft>
                <a:spcPts val="0"/>
              </a:spcAft>
              <a:buClr>
                <a:schemeClr val="dk1"/>
              </a:buClr>
              <a:buSzPts val="1600"/>
              <a:buFont typeface="Calibri"/>
              <a:buNone/>
            </a:pPr>
            <a:r>
              <a:t/>
            </a:r>
            <a:endParaRPr b="0" i="0" sz="1600" u="none" cap="none" strike="noStrike">
              <a:solidFill>
                <a:srgbClr val="63637E"/>
              </a:solidFill>
              <a:latin typeface="Calibri"/>
              <a:ea typeface="Calibri"/>
              <a:cs typeface="Calibri"/>
              <a:sym typeface="Calibri"/>
            </a:endParaRPr>
          </a:p>
        </p:txBody>
      </p:sp>
      <p:pic>
        <p:nvPicPr>
          <p:cNvPr descr="hero_network.png" id="96" name="Google Shape;96;p1"/>
          <p:cNvPicPr preferRelativeResize="0"/>
          <p:nvPr/>
        </p:nvPicPr>
        <p:blipFill rotWithShape="1">
          <a:blip r:embed="rId3">
            <a:alphaModFix/>
          </a:blip>
          <a:srcRect b="0" l="0" r="0" t="0"/>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Theme</a:t>
            </a:r>
            <a:endParaRPr/>
          </a:p>
        </p:txBody>
      </p:sp>
      <p:sp>
        <p:nvSpPr>
          <p:cNvPr id="102" name="TextBox 101"/>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THEME 03 · THE PROBLEM, IN OUR WORDS</a:t>
            </a:r>
          </a:p>
        </p:txBody>
      </p:sp>
      <p:sp>
        <p:nvSpPr>
          <p:cNvPr id="103" name="TextBox 102"/>
          <p:cNvSpPr txBox="1"/>
          <p:nvPr/>
        </p:nvSpPr>
        <p:spPr>
          <a:xfrm>
            <a:off x="932688" y="1920240"/>
            <a:ext cx="4937760" cy="548640"/>
          </a:xfrm>
          <a:prstGeom prst="rect">
            <a:avLst/>
          </a:prstGeom>
          <a:noFill/>
        </p:spPr>
        <p:txBody>
          <a:bodyPr wrap="square" lIns="0" rIns="0" tIns="0" bIns="0" anchor="t">
            <a:spAutoFit/>
          </a:bodyPr>
          <a:lstStyle/>
          <a:p>
            <a:pPr algn="l"/>
            <a:r>
              <a:rPr sz="2800" b="1" i="0">
                <a:solidFill>
                  <a:srgbClr val="14142B"/>
                </a:solidFill>
                <a:latin typeface="Arial"/>
              </a:rPr>
              <a:t>Teachable Voice Automation</a:t>
            </a:r>
          </a:p>
        </p:txBody>
      </p:sp>
      <p:sp>
        <p:nvSpPr>
          <p:cNvPr id="104" name="TextBox 103"/>
          <p:cNvSpPr txBox="1"/>
          <p:nvPr/>
        </p:nvSpPr>
        <p:spPr>
          <a:xfrm>
            <a:off x="932688" y="2606040"/>
            <a:ext cx="4937760" cy="1828800"/>
          </a:xfrm>
          <a:prstGeom prst="rect">
            <a:avLst/>
          </a:prstGeom>
          <a:noFill/>
        </p:spPr>
        <p:txBody>
          <a:bodyPr wrap="square" lIns="0" rIns="0" tIns="0" bIns="0" anchor="t">
            <a:spAutoFit/>
          </a:bodyPr>
          <a:lstStyle/>
          <a:p>
            <a:pPr algn="l">
              <a:spcAft>
                <a:spcPts val="800"/>
              </a:spcAft>
            </a:pPr>
            <a:r>
              <a:rPr sz="1500" b="0" i="0">
                <a:solidFill>
                  <a:srgbClr val="1F2037"/>
                </a:solidFill>
                <a:latin typeface="Calibri"/>
              </a:rPr>
              <a:t>Voice assistants stop where an app’s own integrations stop. Ordering a pizza on Zomato or adding something to an Amazon cart still takes ten or more taps, every time.</a:t>
            </a:r>
          </a:p>
          <a:p>
            <a:pPr algn="l">
              <a:spcAft>
                <a:spcPts val="800"/>
              </a:spcAft>
            </a:pPr>
            <a:r>
              <a:rPr sz="1500" b="0" i="0">
                <a:solidFill>
                  <a:srgbClr val="1F2037"/>
                </a:solidFill>
                <a:latin typeface="Calibri"/>
              </a:rPr>
              <a:t>The user already knows those taps. There is no way to hand that knowledge to the assistant — and have it cope with new values, new wording and a changed screen.</a:t>
            </a:r>
          </a:p>
        </p:txBody>
      </p:sp>
      <p:sp>
        <p:nvSpPr>
          <p:cNvPr id="105" name="Rounded Rectangle 104"/>
          <p:cNvSpPr/>
          <p:nvPr/>
        </p:nvSpPr>
        <p:spPr>
          <a:xfrm>
            <a:off x="932688" y="4754880"/>
            <a:ext cx="4937760" cy="1325880"/>
          </a:xfrm>
          <a:prstGeom prst="roundRect">
            <a:avLst>
              <a:gd name="adj" fmla="val 5517"/>
            </a:avLst>
          </a:prstGeom>
          <a:solidFill>
            <a:srgbClr val="F5F3FC"/>
          </a:solidFill>
          <a:ln>
            <a:noFill/>
          </a:ln>
          <a:effectLst/>
        </p:spPr>
        <p:txBody>
          <a:bodyPr rtlCol="0" anchor="ctr"/>
          <a:lstStyle/>
          <a:p/>
        </p:txBody>
      </p:sp>
      <p:sp>
        <p:nvSpPr>
          <p:cNvPr id="106" name="TextBox 105"/>
          <p:cNvSpPr txBox="1"/>
          <p:nvPr/>
        </p:nvSpPr>
        <p:spPr>
          <a:xfrm>
            <a:off x="1161288" y="4873752"/>
            <a:ext cx="4572000" cy="274320"/>
          </a:xfrm>
          <a:prstGeom prst="rect">
            <a:avLst/>
          </a:prstGeom>
          <a:noFill/>
        </p:spPr>
        <p:txBody>
          <a:bodyPr wrap="square" lIns="0" rIns="0" tIns="0" bIns="0" anchor="t">
            <a:spAutoFit/>
          </a:bodyPr>
          <a:lstStyle/>
          <a:p>
            <a:pPr algn="l"/>
            <a:r>
              <a:rPr sz="1200" b="1" i="0">
                <a:solidFill>
                  <a:srgbClr val="6D28D9"/>
                </a:solidFill>
                <a:latin typeface="Arial"/>
              </a:rPr>
              <a:t>Target apps</a:t>
            </a:r>
          </a:p>
        </p:txBody>
      </p:sp>
      <p:sp>
        <p:nvSpPr>
          <p:cNvPr id="107" name="TextBox 106"/>
          <p:cNvSpPr txBox="1"/>
          <p:nvPr/>
        </p:nvSpPr>
        <p:spPr>
          <a:xfrm>
            <a:off x="1161288" y="5175504"/>
            <a:ext cx="4572000" cy="868680"/>
          </a:xfrm>
          <a:prstGeom prst="rect">
            <a:avLst/>
          </a:prstGeom>
          <a:noFill/>
        </p:spPr>
        <p:txBody>
          <a:bodyPr wrap="square" lIns="0" rIns="0" tIns="0" bIns="0" anchor="t">
            <a:spAutoFit/>
          </a:bodyPr>
          <a:lstStyle/>
          <a:p>
            <a:pPr algn="l">
              <a:spcAft>
                <a:spcPts val="200"/>
              </a:spcAft>
            </a:pPr>
            <a:r>
              <a:rPr sz="1300" b="1" i="0">
                <a:solidFill>
                  <a:srgbClr val="1F2037"/>
                </a:solidFill>
                <a:latin typeface="Calibri"/>
              </a:rPr>
              <a:t>Zomato</a:t>
            </a:r>
            <a:r>
              <a:rPr sz="1300" b="0" i="0">
                <a:solidFill>
                  <a:srgbClr val="1F2037"/>
                </a:solidFill>
                <a:latin typeface="Calibri"/>
              </a:rPr>
              <a:t> — order from Domino’s (item, quantity, address)</a:t>
            </a:r>
          </a:p>
          <a:p>
            <a:pPr algn="l">
              <a:spcAft>
                <a:spcPts val="200"/>
              </a:spcAft>
            </a:pPr>
            <a:r>
              <a:rPr sz="1300" b="1" i="0">
                <a:solidFill>
                  <a:srgbClr val="1F2037"/>
                </a:solidFill>
                <a:latin typeface="Calibri"/>
              </a:rPr>
              <a:t>Amazon</a:t>
            </a:r>
            <a:r>
              <a:rPr sz="1300" b="0" i="0">
                <a:solidFill>
                  <a:srgbClr val="1F2037"/>
                </a:solidFill>
                <a:latin typeface="Calibri"/>
              </a:rPr>
              <a:t> — search, add the first real result to the cart</a:t>
            </a:r>
          </a:p>
          <a:p>
            <a:pPr algn="l">
              <a:spcAft>
                <a:spcPts val="200"/>
              </a:spcAft>
            </a:pPr>
            <a:r>
              <a:rPr sz="1300" b="1" i="0">
                <a:solidFill>
                  <a:srgbClr val="1F2037"/>
                </a:solidFill>
                <a:latin typeface="Calibri"/>
              </a:rPr>
              <a:t>Myntra</a:t>
            </a:r>
            <a:r>
              <a:rPr sz="1300" b="0" i="0">
                <a:solidFill>
                  <a:srgbClr val="1F2037"/>
                </a:solidFill>
                <a:latin typeface="Calibri"/>
              </a:rPr>
              <a:t> — the Amazon task, run in a similar app</a:t>
            </a:r>
          </a:p>
        </p:txBody>
      </p:sp>
      <p:sp>
        <p:nvSpPr>
          <p:cNvPr id="108" name="Rounded Rectangle 107"/>
          <p:cNvSpPr/>
          <p:nvPr/>
        </p:nvSpPr>
        <p:spPr>
          <a:xfrm>
            <a:off x="6263640" y="1920240"/>
            <a:ext cx="5001768" cy="4160520"/>
          </a:xfrm>
          <a:prstGeom prst="roundRect">
            <a:avLst>
              <a:gd name="adj" fmla="val 1758"/>
            </a:avLst>
          </a:prstGeom>
          <a:solidFill>
            <a:srgbClr val="FFFFFF"/>
          </a:solidFill>
          <a:ln w="12700">
            <a:solidFill>
              <a:srgbClr val="D9D3F0"/>
            </a:solidFill>
          </a:ln>
          <a:effectLst/>
        </p:spPr>
        <p:txBody>
          <a:bodyPr rtlCol="0" anchor="ctr"/>
          <a:lstStyle/>
          <a:p/>
        </p:txBody>
      </p:sp>
      <p:sp>
        <p:nvSpPr>
          <p:cNvPr id="109" name="TextBox 108"/>
          <p:cNvSpPr txBox="1"/>
          <p:nvPr/>
        </p:nvSpPr>
        <p:spPr>
          <a:xfrm>
            <a:off x="6537960" y="2103120"/>
            <a:ext cx="4572000" cy="365760"/>
          </a:xfrm>
          <a:prstGeom prst="rect">
            <a:avLst/>
          </a:prstGeom>
          <a:noFill/>
        </p:spPr>
        <p:txBody>
          <a:bodyPr wrap="square" lIns="0" rIns="0" tIns="0" bIns="0" anchor="t">
            <a:spAutoFit/>
          </a:bodyPr>
          <a:lstStyle/>
          <a:p>
            <a:pPr algn="l"/>
            <a:r>
              <a:rPr sz="1500" b="1" i="0">
                <a:solidFill>
                  <a:srgbClr val="14142B"/>
                </a:solidFill>
                <a:latin typeface="Arial"/>
              </a:rPr>
              <a:t>What the theme asks for — and what we built</a:t>
            </a:r>
          </a:p>
        </p:txBody>
      </p:sp>
      <p:pic>
        <p:nvPicPr>
          <p:cNvPr id="110" name="Picture 109" descr="MdCheckCircle_0E9F6E.png"/>
          <p:cNvPicPr>
            <a:picLocks noChangeAspect="1"/>
          </p:cNvPicPr>
          <p:nvPr/>
        </p:nvPicPr>
        <p:blipFill>
          <a:blip r:embed="rId3"/>
          <a:stretch>
            <a:fillRect/>
          </a:stretch>
        </p:blipFill>
        <p:spPr>
          <a:xfrm>
            <a:off x="6537960" y="2670048"/>
            <a:ext cx="274320" cy="274320"/>
          </a:xfrm>
          <a:prstGeom prst="rect">
            <a:avLst/>
          </a:prstGeom>
        </p:spPr>
      </p:pic>
      <p:sp>
        <p:nvSpPr>
          <p:cNvPr id="111" name="TextBox 110"/>
          <p:cNvSpPr txBox="1"/>
          <p:nvPr/>
        </p:nvSpPr>
        <p:spPr>
          <a:xfrm>
            <a:off x="6949440" y="2633472"/>
            <a:ext cx="4206240" cy="640080"/>
          </a:xfrm>
          <a:prstGeom prst="rect">
            <a:avLst/>
          </a:prstGeom>
          <a:noFill/>
        </p:spPr>
        <p:txBody>
          <a:bodyPr wrap="square" lIns="0" rIns="0" tIns="0" bIns="0" anchor="t">
            <a:spAutoFit/>
          </a:bodyPr>
          <a:lstStyle/>
          <a:p>
            <a:pPr algn="l"/>
            <a:r>
              <a:rPr sz="1400" b="1" i="0">
                <a:solidFill>
                  <a:srgbClr val="1F2037"/>
                </a:solidFill>
                <a:latin typeface="Calibri"/>
              </a:rPr>
              <a:t>Teach by voice and taps, once</a:t>
            </a:r>
          </a:p>
          <a:p>
            <a:pPr algn="l"/>
            <a:r>
              <a:rPr sz="1200" b="0" i="0">
                <a:solidFill>
                  <a:srgbClr val="5B5F77"/>
                </a:solidFill>
                <a:latin typeface="Calibri"/>
              </a:rPr>
              <a:t>say the command, then do the task; every tap is recorded</a:t>
            </a:r>
          </a:p>
        </p:txBody>
      </p:sp>
      <p:pic>
        <p:nvPicPr>
          <p:cNvPr id="112" name="Picture 111" descr="MdCheckCircle_0E9F6E.png"/>
          <p:cNvPicPr>
            <a:picLocks noChangeAspect="1"/>
          </p:cNvPicPr>
          <p:nvPr/>
        </p:nvPicPr>
        <p:blipFill>
          <a:blip r:embed="rId3"/>
          <a:stretch>
            <a:fillRect/>
          </a:stretch>
        </p:blipFill>
        <p:spPr>
          <a:xfrm>
            <a:off x="6537960" y="3346704"/>
            <a:ext cx="274320" cy="274320"/>
          </a:xfrm>
          <a:prstGeom prst="rect">
            <a:avLst/>
          </a:prstGeom>
        </p:spPr>
      </p:pic>
      <p:sp>
        <p:nvSpPr>
          <p:cNvPr id="113" name="TextBox 112"/>
          <p:cNvSpPr txBox="1"/>
          <p:nvPr/>
        </p:nvSpPr>
        <p:spPr>
          <a:xfrm>
            <a:off x="6949440" y="3310128"/>
            <a:ext cx="4206240" cy="640080"/>
          </a:xfrm>
          <a:prstGeom prst="rect">
            <a:avLst/>
          </a:prstGeom>
          <a:noFill/>
        </p:spPr>
        <p:txBody>
          <a:bodyPr wrap="square" lIns="0" rIns="0" tIns="0" bIns="0" anchor="t">
            <a:spAutoFit/>
          </a:bodyPr>
          <a:lstStyle/>
          <a:p>
            <a:pPr algn="l"/>
            <a:r>
              <a:rPr sz="1400" b="1" i="0">
                <a:solidFill>
                  <a:srgbClr val="1F2037"/>
                </a:solidFill>
                <a:latin typeface="Calibri"/>
              </a:rPr>
              <a:t>A reusable flow, not a tap replay</a:t>
            </a:r>
          </a:p>
          <a:p>
            <a:pPr algn="l"/>
            <a:r>
              <a:rPr sz="1200" b="0" i="0">
                <a:solidFill>
                  <a:srgbClr val="5B5F77"/>
                </a:solidFill>
                <a:latin typeface="Calibri"/>
              </a:rPr>
              <a:t>values from the command become slots: item, quantity, address</a:t>
            </a:r>
          </a:p>
        </p:txBody>
      </p:sp>
      <p:pic>
        <p:nvPicPr>
          <p:cNvPr id="114" name="Picture 113" descr="MdCheckCircle_0E9F6E.png"/>
          <p:cNvPicPr>
            <a:picLocks noChangeAspect="1"/>
          </p:cNvPicPr>
          <p:nvPr/>
        </p:nvPicPr>
        <p:blipFill>
          <a:blip r:embed="rId3"/>
          <a:stretch>
            <a:fillRect/>
          </a:stretch>
        </p:blipFill>
        <p:spPr>
          <a:xfrm>
            <a:off x="6537960" y="4023359"/>
            <a:ext cx="274320" cy="274320"/>
          </a:xfrm>
          <a:prstGeom prst="rect">
            <a:avLst/>
          </a:prstGeom>
        </p:spPr>
      </p:pic>
      <p:sp>
        <p:nvSpPr>
          <p:cNvPr id="115" name="TextBox 114"/>
          <p:cNvSpPr txBox="1"/>
          <p:nvPr/>
        </p:nvSpPr>
        <p:spPr>
          <a:xfrm>
            <a:off x="6949440" y="3986783"/>
            <a:ext cx="4206240" cy="640080"/>
          </a:xfrm>
          <a:prstGeom prst="rect">
            <a:avLst/>
          </a:prstGeom>
          <a:noFill/>
        </p:spPr>
        <p:txBody>
          <a:bodyPr wrap="square" lIns="0" rIns="0" tIns="0" bIns="0" anchor="t">
            <a:spAutoFit/>
          </a:bodyPr>
          <a:lstStyle/>
          <a:p>
            <a:pPr algn="l"/>
            <a:r>
              <a:rPr sz="1400" b="1" i="0">
                <a:solidFill>
                  <a:srgbClr val="1F2037"/>
                </a:solidFill>
                <a:latin typeface="Calibri"/>
              </a:rPr>
              <a:t>Paraphrases and changed values</a:t>
            </a:r>
          </a:p>
          <a:p>
            <a:pPr algn="l"/>
            <a:r>
              <a:rPr sz="1200" b="0" i="0">
                <a:solidFill>
                  <a:srgbClr val="5B5F77"/>
                </a:solidFill>
                <a:latin typeface="Calibri"/>
              </a:rPr>
              <a:t>“Get me a farmhouse from dominos” runs the same task</a:t>
            </a:r>
          </a:p>
        </p:txBody>
      </p:sp>
      <p:pic>
        <p:nvPicPr>
          <p:cNvPr id="116" name="Picture 115" descr="MdCheckCircle_0E9F6E.png"/>
          <p:cNvPicPr>
            <a:picLocks noChangeAspect="1"/>
          </p:cNvPicPr>
          <p:nvPr/>
        </p:nvPicPr>
        <p:blipFill>
          <a:blip r:embed="rId3"/>
          <a:stretch>
            <a:fillRect/>
          </a:stretch>
        </p:blipFill>
        <p:spPr>
          <a:xfrm>
            <a:off x="6537960" y="4700016"/>
            <a:ext cx="274320" cy="274320"/>
          </a:xfrm>
          <a:prstGeom prst="rect">
            <a:avLst/>
          </a:prstGeom>
        </p:spPr>
      </p:pic>
      <p:sp>
        <p:nvSpPr>
          <p:cNvPr id="117" name="TextBox 116"/>
          <p:cNvSpPr txBox="1"/>
          <p:nvPr/>
        </p:nvSpPr>
        <p:spPr>
          <a:xfrm>
            <a:off x="6949440" y="4663440"/>
            <a:ext cx="4206240" cy="640080"/>
          </a:xfrm>
          <a:prstGeom prst="rect">
            <a:avLst/>
          </a:prstGeom>
          <a:noFill/>
        </p:spPr>
        <p:txBody>
          <a:bodyPr wrap="square" lIns="0" rIns="0" tIns="0" bIns="0" anchor="t">
            <a:spAutoFit/>
          </a:bodyPr>
          <a:lstStyle/>
          <a:p>
            <a:pPr algn="l"/>
            <a:r>
              <a:rPr sz="1400" b="1" i="0">
                <a:solidFill>
                  <a:srgbClr val="1F2037"/>
                </a:solidFill>
                <a:latin typeface="Calibri"/>
              </a:rPr>
              <a:t>Replay when screens change</a:t>
            </a:r>
          </a:p>
          <a:p>
            <a:pPr algn="l"/>
            <a:r>
              <a:rPr sz="1200" b="0" i="0">
                <a:solidFill>
                  <a:srgbClr val="5B5F77"/>
                </a:solidFill>
                <a:latin typeface="Calibri"/>
              </a:rPr>
              <a:t>pop-ups, sponsored results, another restaurant — ask only when stuck</a:t>
            </a:r>
          </a:p>
        </p:txBody>
      </p:sp>
      <p:pic>
        <p:nvPicPr>
          <p:cNvPr id="118" name="Picture 117" descr="MdCheckCircle_0E9F6E.png"/>
          <p:cNvPicPr>
            <a:picLocks noChangeAspect="1"/>
          </p:cNvPicPr>
          <p:nvPr/>
        </p:nvPicPr>
        <p:blipFill>
          <a:blip r:embed="rId3"/>
          <a:stretch>
            <a:fillRect/>
          </a:stretch>
        </p:blipFill>
        <p:spPr>
          <a:xfrm>
            <a:off x="6537960" y="5376672"/>
            <a:ext cx="274320" cy="274320"/>
          </a:xfrm>
          <a:prstGeom prst="rect">
            <a:avLst/>
          </a:prstGeom>
        </p:spPr>
      </p:pic>
      <p:sp>
        <p:nvSpPr>
          <p:cNvPr id="119" name="TextBox 118"/>
          <p:cNvSpPr txBox="1"/>
          <p:nvPr/>
        </p:nvSpPr>
        <p:spPr>
          <a:xfrm>
            <a:off x="6949440" y="5340096"/>
            <a:ext cx="4206240" cy="640080"/>
          </a:xfrm>
          <a:prstGeom prst="rect">
            <a:avLst/>
          </a:prstGeom>
          <a:noFill/>
        </p:spPr>
        <p:txBody>
          <a:bodyPr wrap="square" lIns="0" rIns="0" tIns="0" bIns="0" anchor="t">
            <a:spAutoFit/>
          </a:bodyPr>
          <a:lstStyle/>
          <a:p>
            <a:pPr algn="l"/>
            <a:r>
              <a:rPr sz="1400" b="1" i="0">
                <a:solidFill>
                  <a:srgbClr val="1F2037"/>
                </a:solidFill>
                <a:latin typeface="Calibri"/>
              </a:rPr>
              <a:t>No credential capture</a:t>
            </a:r>
          </a:p>
          <a:p>
            <a:pPr algn="l"/>
            <a:r>
              <a:rPr sz="1200" b="0" i="0">
                <a:solidFill>
                  <a:srgbClr val="5B5F77"/>
                </a:solidFill>
                <a:latin typeface="Calibri"/>
              </a:rPr>
              <a:t>stops at payment, OTP, password and login: “Your turn.”</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Existing Solutions &amp; Gaps</a:t>
            </a:r>
            <a:endParaRPr/>
          </a:p>
        </p:txBody>
      </p:sp>
      <p:sp>
        <p:nvSpPr>
          <p:cNvPr id="108" name="TextBox 107"/>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WHERE TODAY’S OPTIONS FALL SHORT</a:t>
            </a:r>
          </a:p>
        </p:txBody>
      </p:sp>
      <p:graphicFrame>
        <p:nvGraphicFramePr>
          <p:cNvPr id="109" name="Table 108"/>
          <p:cNvGraphicFramePr>
            <a:graphicFrameLocks noGrp="1"/>
          </p:cNvGraphicFramePr>
          <p:nvPr/>
        </p:nvGraphicFramePr>
        <p:xfrm>
          <a:off x="932688" y="1920240"/>
          <a:ext cx="10332719" cy="3950208"/>
        </p:xfrm>
        <a:graphic>
          <a:graphicData uri="http://schemas.openxmlformats.org/drawingml/2006/table">
            <a:tbl>
              <a:tblPr firstRow="0" bandRow="0">
                <a:tableStyleId>{2D5ABB26-0587-4C30-8999-92F81FD0307C}</a:tableStyleId>
              </a:tblPr>
              <a:tblGrid>
                <a:gridCol w="3200400"/>
                <a:gridCol w="3383280"/>
                <a:gridCol w="3749039"/>
              </a:tblGrid>
              <a:tr h="658368">
                <a:tc>
                  <a:txBody>
                    <a:bodyPr wrap="square"/>
                    <a:lstStyle/>
                    <a:p>
                      <a:r>
                        <a:rPr sz="1100" b="1">
                          <a:solidFill>
                            <a:srgbClr val="5B5F77"/>
                          </a:solidFill>
                          <a:latin typeface="Arial"/>
                        </a:rPr>
                        <a:t>Approach</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What it does</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The gap</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Voice assistants</a:t>
                      </a:r>
                    </a:p>
                    <a:p>
                      <a:r>
                        <a:rPr sz="1050">
                          <a:solidFill>
                            <a:srgbClr val="5B5F77"/>
                          </a:solidFill>
                          <a:latin typeface="Calibri"/>
                        </a:rPr>
                        <a:t>Google Assistant / Gemini, Siri, Bixby, Alexa</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Act through the few actions an app chooses to expose</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Everything else inside Zomato or Amazon is out of reach; it falls back to a web result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Routines and macro apps</a:t>
                      </a:r>
                    </a:p>
                    <a:p>
                      <a:r>
                        <a:rPr sz="1050">
                          <a:solidFill>
                            <a:srgbClr val="5B5F77"/>
                          </a:solidFill>
                          <a:latin typeface="Calibri"/>
                        </a:rPr>
                        <a:t>Bixby Routines, Tasker, MacroDroid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Chain device actions; add-ons can tap on-screen elements</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Built step by step by hand, with fixed values; a changed screen breaks the macro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LLM screen agents</a:t>
                      </a:r>
                    </a:p>
                    <a:p>
                      <a:r>
                        <a:rPr sz="1050">
                          <a:solidFill>
                            <a:srgbClr val="5B5F77"/>
                          </a:solidFill>
                          <a:latin typeface="Calibri"/>
                        </a:rPr>
                        <a:t>research prototypes such as AppAgent, Mobile-Agent</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large model reads the screen and decides every single step</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model call per step: slower, costlier, varies from run to run, can wander near payment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Programming by demonstration</a:t>
                      </a:r>
                    </a:p>
                    <a:p>
                      <a:r>
                        <a:rPr sz="1050">
                          <a:solidFill>
                            <a:srgbClr val="5B5F77"/>
                          </a:solidFill>
                          <a:latin typeface="Calibri"/>
                        </a:rPr>
                        <a:t>SUGILITE (CMU, 2017)</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Learns a parameterised task from one demo plus the spoken command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Pre-LLM research prototype: no model to recover when a screen differs from the demo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6D28D9"/>
                          </a:solidFill>
                          <a:latin typeface="Calibri"/>
                        </a:rPr>
                        <a:t>Teachable Voice (ours)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Learns from one demo; replays with a scored matcher; the model only on unfamiliar screens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Asks when a value is missing or a choice is personal; always hands back at payment and login</a:t>
                      </a:r>
                    </a:p>
                  </a:txBody>
                  <a:tcPr marL="73152" marR="73152" marT="27432" marB="27432" anchor="ctr">
                    <a:lnL w="0">
                      <a:noFill/>
                    </a:lnL>
                    <a:lnR w="0">
                      <a:noFill/>
                    </a:lnR>
                    <a:lnT w="0">
                      <a:noFill/>
                    </a:lnT>
                    <a:lnB w="9525">
                      <a:solidFill>
                        <a:srgbClr val="D9D3F0"/>
                      </a:solidFill>
                    </a:lnB>
                    <a:solidFill>
                      <a:srgbClr val="F5F3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2" name="Shape 112"/>
        <p:cNvGrpSpPr/>
        <p:nvPr/>
      </p:nvGrpSpPr>
      <p:grpSpPr>
        <a:xfrm>
          <a:off x="0" y="0"/>
          <a:ext cx="0" cy="0"/>
          <a:chOff x="0" y="0"/>
          <a:chExt cx="0" cy="0"/>
        </a:xfrm>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Our Solutions &amp; Architecture Diagram</a:t>
            </a:r>
            <a:endParaRPr/>
          </a:p>
        </p:txBody>
      </p:sp>
      <p:sp>
        <p:nvSpPr>
          <p:cNvPr id="114" name="TextBox 113"/>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TEACH ONCE BY DOING. RUN IT BY VOICE.</a:t>
            </a:r>
          </a:p>
        </p:txBody>
      </p:sp>
      <p:sp>
        <p:nvSpPr>
          <p:cNvPr id="115" name="Rounded Rectangle 114"/>
          <p:cNvSpPr/>
          <p:nvPr/>
        </p:nvSpPr>
        <p:spPr>
          <a:xfrm>
            <a:off x="932688" y="1874519"/>
            <a:ext cx="2377440" cy="2468880"/>
          </a:xfrm>
          <a:prstGeom prst="roundRect">
            <a:avLst>
              <a:gd name="adj" fmla="val 3076"/>
            </a:avLst>
          </a:prstGeom>
          <a:solidFill>
            <a:srgbClr val="F5F3FC"/>
          </a:solidFill>
          <a:ln>
            <a:noFill/>
          </a:ln>
          <a:effectLst/>
        </p:spPr>
        <p:txBody>
          <a:bodyPr rtlCol="0" anchor="ctr"/>
          <a:lstStyle/>
          <a:p/>
        </p:txBody>
      </p:sp>
      <p:sp>
        <p:nvSpPr>
          <p:cNvPr id="116" name="Oval 115"/>
          <p:cNvSpPr/>
          <p:nvPr/>
        </p:nvSpPr>
        <p:spPr>
          <a:xfrm>
            <a:off x="1133856" y="2075688"/>
            <a:ext cx="475488" cy="475488"/>
          </a:xfrm>
          <a:prstGeom prst="ellipse">
            <a:avLst/>
          </a:prstGeom>
          <a:solidFill>
            <a:srgbClr val="14142B"/>
          </a:solidFill>
          <a:ln>
            <a:noFill/>
          </a:ln>
          <a:effectLst/>
        </p:spPr>
        <p:txBody>
          <a:bodyPr rtlCol="0" anchor="ctr"/>
          <a:lstStyle/>
          <a:p/>
        </p:txBody>
      </p:sp>
      <p:sp>
        <p:nvSpPr>
          <p:cNvPr id="117" name="TextBox 116"/>
          <p:cNvSpPr txBox="1"/>
          <p:nvPr/>
        </p:nvSpPr>
        <p:spPr>
          <a:xfrm>
            <a:off x="1133856" y="2075688"/>
            <a:ext cx="475488" cy="475488"/>
          </a:xfrm>
          <a:prstGeom prst="rect">
            <a:avLst/>
          </a:prstGeom>
          <a:noFill/>
        </p:spPr>
        <p:txBody>
          <a:bodyPr wrap="square" lIns="0" rIns="0" tIns="0" bIns="0" anchor="ctr">
            <a:spAutoFit/>
          </a:bodyPr>
          <a:lstStyle/>
          <a:p>
            <a:pPr algn="ctr"/>
            <a:r>
              <a:rPr sz="1700" b="1" i="0">
                <a:solidFill>
                  <a:srgbClr val="FFFFFF"/>
                </a:solidFill>
                <a:latin typeface="Arial"/>
              </a:rPr>
              <a:t>1</a:t>
            </a:r>
          </a:p>
        </p:txBody>
      </p:sp>
      <p:sp>
        <p:nvSpPr>
          <p:cNvPr id="118" name="TextBox 117"/>
          <p:cNvSpPr txBox="1"/>
          <p:nvPr/>
        </p:nvSpPr>
        <p:spPr>
          <a:xfrm>
            <a:off x="1133856" y="2697479"/>
            <a:ext cx="2011680" cy="365760"/>
          </a:xfrm>
          <a:prstGeom prst="rect">
            <a:avLst/>
          </a:prstGeom>
          <a:noFill/>
        </p:spPr>
        <p:txBody>
          <a:bodyPr wrap="square" lIns="0" rIns="0" tIns="0" bIns="0" anchor="ctr">
            <a:spAutoFit/>
          </a:bodyPr>
          <a:lstStyle/>
          <a:p>
            <a:pPr algn="l"/>
            <a:r>
              <a:rPr sz="1700" b="1" i="0">
                <a:solidFill>
                  <a:srgbClr val="14142B"/>
                </a:solidFill>
                <a:latin typeface="Arial"/>
              </a:rPr>
              <a:t>Teach</a:t>
            </a:r>
          </a:p>
        </p:txBody>
      </p:sp>
      <p:sp>
        <p:nvSpPr>
          <p:cNvPr id="119" name="TextBox 118"/>
          <p:cNvSpPr txBox="1"/>
          <p:nvPr/>
        </p:nvSpPr>
        <p:spPr>
          <a:xfrm>
            <a:off x="1133856" y="3136391"/>
            <a:ext cx="2011680" cy="1143000"/>
          </a:xfrm>
          <a:prstGeom prst="rect">
            <a:avLst/>
          </a:prstGeom>
          <a:noFill/>
        </p:spPr>
        <p:txBody>
          <a:bodyPr wrap="square" lIns="0" rIns="0" tIns="0" bIns="0" anchor="t">
            <a:spAutoFit/>
          </a:bodyPr>
          <a:lstStyle/>
          <a:p>
            <a:pPr algn="l"/>
            <a:r>
              <a:rPr sz="1300" b="0" i="0">
                <a:solidFill>
                  <a:srgbClr val="5B5F77"/>
                </a:solidFill>
                <a:latin typeface="Calibri"/>
              </a:rPr>
              <a:t>Say the command, then do the task once. A tap-capture overlay records every tap, typed text, search and back.</a:t>
            </a:r>
          </a:p>
        </p:txBody>
      </p:sp>
      <p:cxnSp>
        <p:nvCxnSpPr>
          <p:cNvPr id="120" name="Connector 119"/>
          <p:cNvCxnSpPr/>
          <p:nvPr/>
        </p:nvCxnSpPr>
        <p:spPr>
          <a:xfrm>
            <a:off x="3346704" y="2313432"/>
            <a:ext cx="201168" cy="0"/>
          </a:xfrm>
          <a:prstGeom prst="line">
            <a:avLst/>
          </a:prstGeom>
          <a:ln w="15875">
            <a:solidFill>
              <a:srgbClr val="5B5F77"/>
            </a:solidFill>
            <a:tailEnd type="triangle" w="med" len="med"/>
          </a:ln>
        </p:spPr>
      </p:cxnSp>
      <p:sp>
        <p:nvSpPr>
          <p:cNvPr id="121" name="Rounded Rectangle 120"/>
          <p:cNvSpPr/>
          <p:nvPr/>
        </p:nvSpPr>
        <p:spPr>
          <a:xfrm>
            <a:off x="3584448" y="1874519"/>
            <a:ext cx="2377440" cy="2468880"/>
          </a:xfrm>
          <a:prstGeom prst="roundRect">
            <a:avLst>
              <a:gd name="adj" fmla="val 3076"/>
            </a:avLst>
          </a:prstGeom>
          <a:solidFill>
            <a:srgbClr val="F5F3FC"/>
          </a:solidFill>
          <a:ln>
            <a:noFill/>
          </a:ln>
          <a:effectLst/>
        </p:spPr>
        <p:txBody>
          <a:bodyPr rtlCol="0" anchor="ctr"/>
          <a:lstStyle/>
          <a:p/>
        </p:txBody>
      </p:sp>
      <p:sp>
        <p:nvSpPr>
          <p:cNvPr id="122" name="Oval 121"/>
          <p:cNvSpPr/>
          <p:nvPr/>
        </p:nvSpPr>
        <p:spPr>
          <a:xfrm>
            <a:off x="3785615" y="2075688"/>
            <a:ext cx="475488" cy="475488"/>
          </a:xfrm>
          <a:prstGeom prst="ellipse">
            <a:avLst/>
          </a:prstGeom>
          <a:solidFill>
            <a:srgbClr val="14142B"/>
          </a:solidFill>
          <a:ln>
            <a:noFill/>
          </a:ln>
          <a:effectLst/>
        </p:spPr>
        <p:txBody>
          <a:bodyPr rtlCol="0" anchor="ctr"/>
          <a:lstStyle/>
          <a:p/>
        </p:txBody>
      </p:sp>
      <p:sp>
        <p:nvSpPr>
          <p:cNvPr id="123" name="TextBox 122"/>
          <p:cNvSpPr txBox="1"/>
          <p:nvPr/>
        </p:nvSpPr>
        <p:spPr>
          <a:xfrm>
            <a:off x="3785615" y="2075688"/>
            <a:ext cx="475488" cy="475488"/>
          </a:xfrm>
          <a:prstGeom prst="rect">
            <a:avLst/>
          </a:prstGeom>
          <a:noFill/>
        </p:spPr>
        <p:txBody>
          <a:bodyPr wrap="square" lIns="0" rIns="0" tIns="0" bIns="0" anchor="ctr">
            <a:spAutoFit/>
          </a:bodyPr>
          <a:lstStyle/>
          <a:p>
            <a:pPr algn="ctr"/>
            <a:r>
              <a:rPr sz="1700" b="1" i="0">
                <a:solidFill>
                  <a:srgbClr val="FFFFFF"/>
                </a:solidFill>
                <a:latin typeface="Arial"/>
              </a:rPr>
              <a:t>2</a:t>
            </a:r>
          </a:p>
        </p:txBody>
      </p:sp>
      <p:sp>
        <p:nvSpPr>
          <p:cNvPr id="124" name="TextBox 123"/>
          <p:cNvSpPr txBox="1"/>
          <p:nvPr/>
        </p:nvSpPr>
        <p:spPr>
          <a:xfrm>
            <a:off x="3785615" y="2697479"/>
            <a:ext cx="2011680" cy="365760"/>
          </a:xfrm>
          <a:prstGeom prst="rect">
            <a:avLst/>
          </a:prstGeom>
          <a:noFill/>
        </p:spPr>
        <p:txBody>
          <a:bodyPr wrap="square" lIns="0" rIns="0" tIns="0" bIns="0" anchor="ctr">
            <a:spAutoFit/>
          </a:bodyPr>
          <a:lstStyle/>
          <a:p>
            <a:pPr algn="l"/>
            <a:r>
              <a:rPr sz="1700" b="1" i="0">
                <a:solidFill>
                  <a:srgbClr val="14142B"/>
                </a:solidFill>
                <a:latin typeface="Arial"/>
              </a:rPr>
              <a:t>Generalise</a:t>
            </a:r>
          </a:p>
        </p:txBody>
      </p:sp>
      <p:sp>
        <p:nvSpPr>
          <p:cNvPr id="125" name="TextBox 124"/>
          <p:cNvSpPr txBox="1"/>
          <p:nvPr/>
        </p:nvSpPr>
        <p:spPr>
          <a:xfrm>
            <a:off x="3785615" y="3136391"/>
            <a:ext cx="2011680" cy="1143000"/>
          </a:xfrm>
          <a:prstGeom prst="rect">
            <a:avLst/>
          </a:prstGeom>
          <a:noFill/>
        </p:spPr>
        <p:txBody>
          <a:bodyPr wrap="square" lIns="0" rIns="0" tIns="0" bIns="0" anchor="t">
            <a:spAutoFit/>
          </a:bodyPr>
          <a:lstStyle/>
          <a:p>
            <a:pPr algn="l"/>
            <a:r>
              <a:rPr sz="1300" b="0" i="0">
                <a:solidFill>
                  <a:srgbClr val="5B5F77"/>
                </a:solidFill>
                <a:latin typeface="Calibri"/>
              </a:rPr>
              <a:t>Words from the command become slots: “ADD next to {item}”, “search {product}”. Stray taps are marked as noise.</a:t>
            </a:r>
          </a:p>
        </p:txBody>
      </p:sp>
      <p:cxnSp>
        <p:nvCxnSpPr>
          <p:cNvPr id="126" name="Connector 125"/>
          <p:cNvCxnSpPr/>
          <p:nvPr/>
        </p:nvCxnSpPr>
        <p:spPr>
          <a:xfrm>
            <a:off x="5998464" y="2313432"/>
            <a:ext cx="201167" cy="0"/>
          </a:xfrm>
          <a:prstGeom prst="line">
            <a:avLst/>
          </a:prstGeom>
          <a:ln w="15875">
            <a:solidFill>
              <a:srgbClr val="5B5F77"/>
            </a:solidFill>
            <a:tailEnd type="triangle" w="med" len="med"/>
          </a:ln>
        </p:spPr>
      </p:cxnSp>
      <p:sp>
        <p:nvSpPr>
          <p:cNvPr id="127" name="Rounded Rectangle 126"/>
          <p:cNvSpPr/>
          <p:nvPr/>
        </p:nvSpPr>
        <p:spPr>
          <a:xfrm>
            <a:off x="6236208" y="1874519"/>
            <a:ext cx="2377440" cy="2468880"/>
          </a:xfrm>
          <a:prstGeom prst="roundRect">
            <a:avLst>
              <a:gd name="adj" fmla="val 3076"/>
            </a:avLst>
          </a:prstGeom>
          <a:solidFill>
            <a:srgbClr val="F5F3FC"/>
          </a:solidFill>
          <a:ln>
            <a:noFill/>
          </a:ln>
          <a:effectLst/>
        </p:spPr>
        <p:txBody>
          <a:bodyPr rtlCol="0" anchor="ctr"/>
          <a:lstStyle/>
          <a:p/>
        </p:txBody>
      </p:sp>
      <p:sp>
        <p:nvSpPr>
          <p:cNvPr id="128" name="Oval 127"/>
          <p:cNvSpPr/>
          <p:nvPr/>
        </p:nvSpPr>
        <p:spPr>
          <a:xfrm>
            <a:off x="6437376" y="2075688"/>
            <a:ext cx="475488" cy="475488"/>
          </a:xfrm>
          <a:prstGeom prst="ellipse">
            <a:avLst/>
          </a:prstGeom>
          <a:solidFill>
            <a:srgbClr val="14142B"/>
          </a:solidFill>
          <a:ln>
            <a:noFill/>
          </a:ln>
          <a:effectLst/>
        </p:spPr>
        <p:txBody>
          <a:bodyPr rtlCol="0" anchor="ctr"/>
          <a:lstStyle/>
          <a:p/>
        </p:txBody>
      </p:sp>
      <p:sp>
        <p:nvSpPr>
          <p:cNvPr id="129" name="TextBox 128"/>
          <p:cNvSpPr txBox="1"/>
          <p:nvPr/>
        </p:nvSpPr>
        <p:spPr>
          <a:xfrm>
            <a:off x="6437376" y="2075688"/>
            <a:ext cx="475488" cy="475488"/>
          </a:xfrm>
          <a:prstGeom prst="rect">
            <a:avLst/>
          </a:prstGeom>
          <a:noFill/>
        </p:spPr>
        <p:txBody>
          <a:bodyPr wrap="square" lIns="0" rIns="0" tIns="0" bIns="0" anchor="ctr">
            <a:spAutoFit/>
          </a:bodyPr>
          <a:lstStyle/>
          <a:p>
            <a:pPr algn="ctr"/>
            <a:r>
              <a:rPr sz="1700" b="1" i="0">
                <a:solidFill>
                  <a:srgbClr val="FFFFFF"/>
                </a:solidFill>
                <a:latin typeface="Arial"/>
              </a:rPr>
              <a:t>3</a:t>
            </a:r>
          </a:p>
        </p:txBody>
      </p:sp>
      <p:sp>
        <p:nvSpPr>
          <p:cNvPr id="130" name="TextBox 129"/>
          <p:cNvSpPr txBox="1"/>
          <p:nvPr/>
        </p:nvSpPr>
        <p:spPr>
          <a:xfrm>
            <a:off x="6437376" y="2697479"/>
            <a:ext cx="2011680" cy="365760"/>
          </a:xfrm>
          <a:prstGeom prst="rect">
            <a:avLst/>
          </a:prstGeom>
          <a:noFill/>
        </p:spPr>
        <p:txBody>
          <a:bodyPr wrap="square" lIns="0" rIns="0" tIns="0" bIns="0" anchor="ctr">
            <a:spAutoFit/>
          </a:bodyPr>
          <a:lstStyle/>
          <a:p>
            <a:pPr algn="l"/>
            <a:r>
              <a:rPr sz="1700" b="1" i="0">
                <a:solidFill>
                  <a:srgbClr val="14142B"/>
                </a:solidFill>
                <a:latin typeface="Arial"/>
              </a:rPr>
              <a:t>Replay by voice</a:t>
            </a:r>
          </a:p>
        </p:txBody>
      </p:sp>
      <p:sp>
        <p:nvSpPr>
          <p:cNvPr id="131" name="TextBox 130"/>
          <p:cNvSpPr txBox="1"/>
          <p:nvPr/>
        </p:nvSpPr>
        <p:spPr>
          <a:xfrm>
            <a:off x="6437376" y="3136391"/>
            <a:ext cx="2011680" cy="1143000"/>
          </a:xfrm>
          <a:prstGeom prst="rect">
            <a:avLst/>
          </a:prstGeom>
          <a:noFill/>
        </p:spPr>
        <p:txBody>
          <a:bodyPr wrap="square" lIns="0" rIns="0" tIns="0" bIns="0" anchor="t">
            <a:spAutoFit/>
          </a:bodyPr>
          <a:lstStyle/>
          <a:p>
            <a:pPr algn="l"/>
            <a:r>
              <a:rPr sz="1300" b="0" i="0">
                <a:solidFill>
                  <a:srgbClr val="5B5F77"/>
                </a:solidFill>
                <a:latin typeface="Calibri"/>
              </a:rPr>
              <a:t>New wording, new values, Hinglish, another app. Screens it knows replay with no language-model call.</a:t>
            </a:r>
          </a:p>
        </p:txBody>
      </p:sp>
      <p:cxnSp>
        <p:nvCxnSpPr>
          <p:cNvPr id="132" name="Connector 131"/>
          <p:cNvCxnSpPr/>
          <p:nvPr/>
        </p:nvCxnSpPr>
        <p:spPr>
          <a:xfrm>
            <a:off x="8650224" y="2313432"/>
            <a:ext cx="201168" cy="0"/>
          </a:xfrm>
          <a:prstGeom prst="line">
            <a:avLst/>
          </a:prstGeom>
          <a:ln w="15875">
            <a:solidFill>
              <a:srgbClr val="5B5F77"/>
            </a:solidFill>
            <a:tailEnd type="triangle" w="med" len="med"/>
          </a:ln>
        </p:spPr>
      </p:cxnSp>
      <p:sp>
        <p:nvSpPr>
          <p:cNvPr id="133" name="Rounded Rectangle 132"/>
          <p:cNvSpPr/>
          <p:nvPr/>
        </p:nvSpPr>
        <p:spPr>
          <a:xfrm>
            <a:off x="8887967" y="1874519"/>
            <a:ext cx="2377440" cy="2468880"/>
          </a:xfrm>
          <a:prstGeom prst="roundRect">
            <a:avLst>
              <a:gd name="adj" fmla="val 3076"/>
            </a:avLst>
          </a:prstGeom>
          <a:solidFill>
            <a:srgbClr val="F5F3FC"/>
          </a:solidFill>
          <a:ln>
            <a:noFill/>
          </a:ln>
          <a:effectLst/>
        </p:spPr>
        <p:txBody>
          <a:bodyPr rtlCol="0" anchor="ctr"/>
          <a:lstStyle/>
          <a:p/>
        </p:txBody>
      </p:sp>
      <p:sp>
        <p:nvSpPr>
          <p:cNvPr id="134" name="Oval 133"/>
          <p:cNvSpPr/>
          <p:nvPr/>
        </p:nvSpPr>
        <p:spPr>
          <a:xfrm>
            <a:off x="9089136" y="2075688"/>
            <a:ext cx="475488" cy="475488"/>
          </a:xfrm>
          <a:prstGeom prst="ellipse">
            <a:avLst/>
          </a:prstGeom>
          <a:solidFill>
            <a:srgbClr val="6D28D9"/>
          </a:solidFill>
          <a:ln>
            <a:noFill/>
          </a:ln>
          <a:effectLst/>
        </p:spPr>
        <p:txBody>
          <a:bodyPr rtlCol="0" anchor="ctr"/>
          <a:lstStyle/>
          <a:p/>
        </p:txBody>
      </p:sp>
      <p:sp>
        <p:nvSpPr>
          <p:cNvPr id="135" name="TextBox 134"/>
          <p:cNvSpPr txBox="1"/>
          <p:nvPr/>
        </p:nvSpPr>
        <p:spPr>
          <a:xfrm>
            <a:off x="9089136" y="2075688"/>
            <a:ext cx="475488" cy="475488"/>
          </a:xfrm>
          <a:prstGeom prst="rect">
            <a:avLst/>
          </a:prstGeom>
          <a:noFill/>
        </p:spPr>
        <p:txBody>
          <a:bodyPr wrap="square" lIns="0" rIns="0" tIns="0" bIns="0" anchor="ctr">
            <a:spAutoFit/>
          </a:bodyPr>
          <a:lstStyle/>
          <a:p>
            <a:pPr algn="ctr"/>
            <a:r>
              <a:rPr sz="1700" b="1" i="0">
                <a:solidFill>
                  <a:srgbClr val="FFFFFF"/>
                </a:solidFill>
                <a:latin typeface="Arial"/>
              </a:rPr>
              <a:t>4</a:t>
            </a:r>
          </a:p>
        </p:txBody>
      </p:sp>
      <p:sp>
        <p:nvSpPr>
          <p:cNvPr id="136" name="TextBox 135"/>
          <p:cNvSpPr txBox="1"/>
          <p:nvPr/>
        </p:nvSpPr>
        <p:spPr>
          <a:xfrm>
            <a:off x="9089136" y="2697479"/>
            <a:ext cx="2011680" cy="365760"/>
          </a:xfrm>
          <a:prstGeom prst="rect">
            <a:avLst/>
          </a:prstGeom>
          <a:noFill/>
        </p:spPr>
        <p:txBody>
          <a:bodyPr wrap="square" lIns="0" rIns="0" tIns="0" bIns="0" anchor="ctr">
            <a:spAutoFit/>
          </a:bodyPr>
          <a:lstStyle/>
          <a:p>
            <a:pPr algn="l"/>
            <a:r>
              <a:rPr sz="1700" b="1" i="0">
                <a:solidFill>
                  <a:srgbClr val="14142B"/>
                </a:solidFill>
                <a:latin typeface="Arial"/>
              </a:rPr>
              <a:t>Ask or hand back</a:t>
            </a:r>
          </a:p>
        </p:txBody>
      </p:sp>
      <p:sp>
        <p:nvSpPr>
          <p:cNvPr id="137" name="TextBox 136"/>
          <p:cNvSpPr txBox="1"/>
          <p:nvPr/>
        </p:nvSpPr>
        <p:spPr>
          <a:xfrm>
            <a:off x="9089136" y="3136391"/>
            <a:ext cx="2011680" cy="1143000"/>
          </a:xfrm>
          <a:prstGeom prst="rect">
            <a:avLst/>
          </a:prstGeom>
          <a:noFill/>
        </p:spPr>
        <p:txBody>
          <a:bodyPr wrap="square" lIns="0" rIns="0" tIns="0" bIns="0" anchor="t">
            <a:spAutoFit/>
          </a:bodyPr>
          <a:lstStyle/>
          <a:p>
            <a:pPr algn="l"/>
            <a:r>
              <a:rPr sz="1300" b="0" i="0">
                <a:solidFill>
                  <a:srgbClr val="5B5F77"/>
                </a:solidFill>
                <a:latin typeface="Calibri"/>
              </a:rPr>
              <a:t>A missing value or an unexpected screen gets one clear question. Payment, OTP or login: “Your turn.”</a:t>
            </a:r>
          </a:p>
        </p:txBody>
      </p:sp>
      <p:sp>
        <p:nvSpPr>
          <p:cNvPr id="138" name="TextBox 137"/>
          <p:cNvSpPr txBox="1"/>
          <p:nvPr/>
        </p:nvSpPr>
        <p:spPr>
          <a:xfrm>
            <a:off x="932688" y="4572000"/>
            <a:ext cx="5486400" cy="274320"/>
          </a:xfrm>
          <a:prstGeom prst="rect">
            <a:avLst/>
          </a:prstGeom>
          <a:noFill/>
        </p:spPr>
        <p:txBody>
          <a:bodyPr wrap="square" lIns="0" rIns="0" tIns="0" bIns="0" anchor="t">
            <a:spAutoFit/>
          </a:bodyPr>
          <a:lstStyle/>
          <a:p>
            <a:pPr algn="l"/>
            <a:r>
              <a:rPr sz="1300" b="1" i="0">
                <a:solidFill>
                  <a:srgbClr val="5B5F77"/>
                </a:solidFill>
                <a:latin typeface="Arial"/>
              </a:rPr>
              <a:t>Taught once, then said like this:</a:t>
            </a:r>
          </a:p>
        </p:txBody>
      </p:sp>
      <p:sp>
        <p:nvSpPr>
          <p:cNvPr id="139" name="Rounded Rectangle 138"/>
          <p:cNvSpPr/>
          <p:nvPr/>
        </p:nvSpPr>
        <p:spPr>
          <a:xfrm>
            <a:off x="932688" y="4919472"/>
            <a:ext cx="3017520" cy="457200"/>
          </a:xfrm>
          <a:prstGeom prst="roundRect">
            <a:avLst>
              <a:gd name="adj" fmla="val 50000"/>
            </a:avLst>
          </a:prstGeom>
          <a:solidFill>
            <a:srgbClr val="14142B"/>
          </a:solidFill>
          <a:ln>
            <a:noFill/>
          </a:ln>
          <a:effectLst/>
        </p:spPr>
        <p:txBody>
          <a:bodyPr rtlCol="0" anchor="ctr"/>
          <a:lstStyle/>
          <a:p/>
        </p:txBody>
      </p:sp>
      <p:sp>
        <p:nvSpPr>
          <p:cNvPr id="140" name="Oval 139"/>
          <p:cNvSpPr/>
          <p:nvPr/>
        </p:nvSpPr>
        <p:spPr>
          <a:xfrm>
            <a:off x="996696" y="4983480"/>
            <a:ext cx="329184" cy="329184"/>
          </a:xfrm>
          <a:prstGeom prst="ellipse">
            <a:avLst/>
          </a:prstGeom>
          <a:solidFill>
            <a:srgbClr val="6D28D9"/>
          </a:solidFill>
          <a:ln>
            <a:noFill/>
          </a:ln>
          <a:effectLst/>
        </p:spPr>
        <p:txBody>
          <a:bodyPr rtlCol="0" anchor="ctr"/>
          <a:lstStyle/>
          <a:p/>
        </p:txBody>
      </p:sp>
      <p:pic>
        <p:nvPicPr>
          <p:cNvPr id="141" name="Picture 140" descr="MdMic_FFFFFF.png"/>
          <p:cNvPicPr>
            <a:picLocks noChangeAspect="1"/>
          </p:cNvPicPr>
          <p:nvPr/>
        </p:nvPicPr>
        <p:blipFill>
          <a:blip r:embed="rId3"/>
          <a:stretch>
            <a:fillRect/>
          </a:stretch>
        </p:blipFill>
        <p:spPr>
          <a:xfrm>
            <a:off x="1062532" y="5049316"/>
            <a:ext cx="197510" cy="197510"/>
          </a:xfrm>
          <a:prstGeom prst="rect">
            <a:avLst/>
          </a:prstGeom>
        </p:spPr>
      </p:pic>
      <p:sp>
        <p:nvSpPr>
          <p:cNvPr id="142" name="TextBox 141"/>
          <p:cNvSpPr txBox="1"/>
          <p:nvPr/>
        </p:nvSpPr>
        <p:spPr>
          <a:xfrm>
            <a:off x="1463039" y="4919472"/>
            <a:ext cx="2395728" cy="457200"/>
          </a:xfrm>
          <a:prstGeom prst="rect">
            <a:avLst/>
          </a:prstGeom>
          <a:noFill/>
        </p:spPr>
        <p:txBody>
          <a:bodyPr wrap="square" lIns="0" rIns="0" tIns="0" bIns="0" anchor="ctr">
            <a:spAutoFit/>
          </a:bodyPr>
          <a:lstStyle/>
          <a:p>
            <a:pPr algn="l"/>
            <a:r>
              <a:rPr sz="1200" b="0" i="1">
                <a:solidFill>
                  <a:srgbClr val="FFFFFF"/>
                </a:solidFill>
                <a:latin typeface="Calibri"/>
              </a:rPr>
              <a:t>“Get me a margherita from dominos”</a:t>
            </a:r>
          </a:p>
        </p:txBody>
      </p:sp>
      <p:sp>
        <p:nvSpPr>
          <p:cNvPr id="143" name="Rounded Rectangle 142"/>
          <p:cNvSpPr/>
          <p:nvPr/>
        </p:nvSpPr>
        <p:spPr>
          <a:xfrm>
            <a:off x="4087368" y="4919472"/>
            <a:ext cx="3931920" cy="457200"/>
          </a:xfrm>
          <a:prstGeom prst="roundRect">
            <a:avLst>
              <a:gd name="adj" fmla="val 50000"/>
            </a:avLst>
          </a:prstGeom>
          <a:solidFill>
            <a:srgbClr val="14142B"/>
          </a:solidFill>
          <a:ln>
            <a:noFill/>
          </a:ln>
          <a:effectLst/>
        </p:spPr>
        <p:txBody>
          <a:bodyPr rtlCol="0" anchor="ctr"/>
          <a:lstStyle/>
          <a:p/>
        </p:txBody>
      </p:sp>
      <p:sp>
        <p:nvSpPr>
          <p:cNvPr id="144" name="Oval 143"/>
          <p:cNvSpPr/>
          <p:nvPr/>
        </p:nvSpPr>
        <p:spPr>
          <a:xfrm>
            <a:off x="4151376" y="4983480"/>
            <a:ext cx="329184" cy="329184"/>
          </a:xfrm>
          <a:prstGeom prst="ellipse">
            <a:avLst/>
          </a:prstGeom>
          <a:solidFill>
            <a:srgbClr val="6D28D9"/>
          </a:solidFill>
          <a:ln>
            <a:noFill/>
          </a:ln>
          <a:effectLst/>
        </p:spPr>
        <p:txBody>
          <a:bodyPr rtlCol="0" anchor="ctr"/>
          <a:lstStyle/>
          <a:p/>
        </p:txBody>
      </p:sp>
      <p:pic>
        <p:nvPicPr>
          <p:cNvPr id="145" name="Picture 144" descr="MdMic_FFFFFF.png"/>
          <p:cNvPicPr>
            <a:picLocks noChangeAspect="1"/>
          </p:cNvPicPr>
          <p:nvPr/>
        </p:nvPicPr>
        <p:blipFill>
          <a:blip r:embed="rId3"/>
          <a:stretch>
            <a:fillRect/>
          </a:stretch>
        </p:blipFill>
        <p:spPr>
          <a:xfrm>
            <a:off x="4217212" y="5049316"/>
            <a:ext cx="197510" cy="197510"/>
          </a:xfrm>
          <a:prstGeom prst="rect">
            <a:avLst/>
          </a:prstGeom>
        </p:spPr>
      </p:pic>
      <p:sp>
        <p:nvSpPr>
          <p:cNvPr id="146" name="TextBox 145"/>
          <p:cNvSpPr txBox="1"/>
          <p:nvPr/>
        </p:nvSpPr>
        <p:spPr>
          <a:xfrm>
            <a:off x="4617720" y="4919472"/>
            <a:ext cx="3310128" cy="457200"/>
          </a:xfrm>
          <a:prstGeom prst="rect">
            <a:avLst/>
          </a:prstGeom>
          <a:noFill/>
        </p:spPr>
        <p:txBody>
          <a:bodyPr wrap="square" lIns="0" rIns="0" tIns="0" bIns="0" anchor="ctr">
            <a:spAutoFit/>
          </a:bodyPr>
          <a:lstStyle/>
          <a:p>
            <a:pPr algn="l"/>
            <a:r>
              <a:rPr sz="1200" b="0" i="1">
                <a:solidFill>
                  <a:srgbClr val="FFFFFF"/>
                </a:solidFill>
                <a:latin typeface="Calibri"/>
              </a:rPr>
              <a:t>“amazon pe pencil box search karke pehla result cart mein daal do”</a:t>
            </a:r>
          </a:p>
        </p:txBody>
      </p:sp>
      <p:sp>
        <p:nvSpPr>
          <p:cNvPr id="147" name="Rounded Rectangle 146"/>
          <p:cNvSpPr/>
          <p:nvPr/>
        </p:nvSpPr>
        <p:spPr>
          <a:xfrm>
            <a:off x="8156448" y="4919472"/>
            <a:ext cx="3108960" cy="457200"/>
          </a:xfrm>
          <a:prstGeom prst="roundRect">
            <a:avLst>
              <a:gd name="adj" fmla="val 50000"/>
            </a:avLst>
          </a:prstGeom>
          <a:solidFill>
            <a:srgbClr val="14142B"/>
          </a:solidFill>
          <a:ln>
            <a:noFill/>
          </a:ln>
          <a:effectLst/>
        </p:spPr>
        <p:txBody>
          <a:bodyPr rtlCol="0" anchor="ctr"/>
          <a:lstStyle/>
          <a:p/>
        </p:txBody>
      </p:sp>
      <p:sp>
        <p:nvSpPr>
          <p:cNvPr id="148" name="Oval 147"/>
          <p:cNvSpPr/>
          <p:nvPr/>
        </p:nvSpPr>
        <p:spPr>
          <a:xfrm>
            <a:off x="8220456" y="4983480"/>
            <a:ext cx="329184" cy="329184"/>
          </a:xfrm>
          <a:prstGeom prst="ellipse">
            <a:avLst/>
          </a:prstGeom>
          <a:solidFill>
            <a:srgbClr val="6D28D9"/>
          </a:solidFill>
          <a:ln>
            <a:noFill/>
          </a:ln>
          <a:effectLst/>
        </p:spPr>
        <p:txBody>
          <a:bodyPr rtlCol="0" anchor="ctr"/>
          <a:lstStyle/>
          <a:p/>
        </p:txBody>
      </p:sp>
      <p:pic>
        <p:nvPicPr>
          <p:cNvPr id="149" name="Picture 148" descr="MdMic_FFFFFF.png"/>
          <p:cNvPicPr>
            <a:picLocks noChangeAspect="1"/>
          </p:cNvPicPr>
          <p:nvPr/>
        </p:nvPicPr>
        <p:blipFill>
          <a:blip r:embed="rId3"/>
          <a:stretch>
            <a:fillRect/>
          </a:stretch>
        </p:blipFill>
        <p:spPr>
          <a:xfrm>
            <a:off x="8286292" y="5049316"/>
            <a:ext cx="197510" cy="197510"/>
          </a:xfrm>
          <a:prstGeom prst="rect">
            <a:avLst/>
          </a:prstGeom>
        </p:spPr>
      </p:pic>
      <p:sp>
        <p:nvSpPr>
          <p:cNvPr id="150" name="TextBox 149"/>
          <p:cNvSpPr txBox="1"/>
          <p:nvPr/>
        </p:nvSpPr>
        <p:spPr>
          <a:xfrm>
            <a:off x="8686800" y="4919472"/>
            <a:ext cx="2487168" cy="457200"/>
          </a:xfrm>
          <a:prstGeom prst="rect">
            <a:avLst/>
          </a:prstGeom>
          <a:noFill/>
        </p:spPr>
        <p:txBody>
          <a:bodyPr wrap="square" lIns="0" rIns="0" tIns="0" bIns="0" anchor="ctr">
            <a:spAutoFit/>
          </a:bodyPr>
          <a:lstStyle/>
          <a:p>
            <a:pPr algn="l"/>
            <a:r>
              <a:rPr sz="1150" b="0" i="1">
                <a:solidFill>
                  <a:srgbClr val="FFFFFF"/>
                </a:solidFill>
                <a:latin typeface="Calibri"/>
              </a:rPr>
              <a:t>“search for a wallet on myntra and add the first result to my bag”</a:t>
            </a:r>
          </a:p>
        </p:txBody>
      </p:sp>
      <p:sp>
        <p:nvSpPr>
          <p:cNvPr id="151" name="TextBox 150"/>
          <p:cNvSpPr txBox="1"/>
          <p:nvPr/>
        </p:nvSpPr>
        <p:spPr>
          <a:xfrm>
            <a:off x="932688" y="5596128"/>
            <a:ext cx="10332720" cy="320040"/>
          </a:xfrm>
          <a:prstGeom prst="rect">
            <a:avLst/>
          </a:prstGeom>
          <a:noFill/>
        </p:spPr>
        <p:txBody>
          <a:bodyPr wrap="square" lIns="0" rIns="0" tIns="0" bIns="0" anchor="t">
            <a:spAutoFit/>
          </a:bodyPr>
          <a:lstStyle/>
          <a:p>
            <a:pPr algn="l"/>
            <a:r>
              <a:rPr sz="1250" b="0" i="0">
                <a:solidFill>
                  <a:srgbClr val="1F2037"/>
                </a:solidFill>
                <a:latin typeface="Calibri"/>
              </a:rPr>
              <a:t>Everything on screen is read and tapped through Android’s Accessibility Service — no app APIs, no deep links, no hard-coded flows.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Demo &amp; Product Walkthrough</a:t>
            </a:r>
            <a:endParaRPr/>
          </a:p>
        </p:txBody>
      </p:sp>
      <p:sp>
        <p:nvSpPr>
          <p:cNvPr id="120" name="Rounded Rectangle 119"/>
          <p:cNvSpPr/>
          <p:nvPr/>
        </p:nvSpPr>
        <p:spPr>
          <a:xfrm>
            <a:off x="932688" y="1508760"/>
            <a:ext cx="1918155" cy="3374136"/>
          </a:xfrm>
          <a:prstGeom prst="roundRect">
            <a:avLst>
              <a:gd name="adj" fmla="val 10487"/>
            </a:avLst>
          </a:prstGeom>
          <a:solidFill>
            <a:srgbClr val="14142B"/>
          </a:solidFill>
          <a:ln>
            <a:noFill/>
          </a:ln>
          <a:effectLst/>
        </p:spPr>
        <p:txBody>
          <a:bodyPr rtlCol="0" anchor="ctr"/>
          <a:lstStyle/>
          <a:p/>
        </p:txBody>
      </p:sp>
      <p:pic>
        <p:nvPicPr>
          <p:cNvPr id="121" name="Picture 120" descr="teach.png"/>
          <p:cNvPicPr>
            <a:picLocks noChangeAspect="1"/>
          </p:cNvPicPr>
          <p:nvPr/>
        </p:nvPicPr>
        <p:blipFill>
          <a:blip r:embed="rId3"/>
          <a:stretch>
            <a:fillRect/>
          </a:stretch>
        </p:blipFill>
        <p:spPr>
          <a:xfrm>
            <a:off x="996696" y="1572768"/>
            <a:ext cx="1790139" cy="3246120"/>
          </a:xfrm>
          <a:prstGeom prst="rect">
            <a:avLst/>
          </a:prstGeom>
        </p:spPr>
      </p:pic>
      <p:sp>
        <p:nvSpPr>
          <p:cNvPr id="122" name="TextBox 121"/>
          <p:cNvSpPr txBox="1"/>
          <p:nvPr/>
        </p:nvSpPr>
        <p:spPr>
          <a:xfrm>
            <a:off x="950976"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1  Teaching</a:t>
            </a:r>
          </a:p>
        </p:txBody>
      </p:sp>
      <p:sp>
        <p:nvSpPr>
          <p:cNvPr id="123" name="TextBox 122"/>
          <p:cNvSpPr txBox="1"/>
          <p:nvPr/>
        </p:nvSpPr>
        <p:spPr>
          <a:xfrm>
            <a:off x="950976"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Say the command, then do it. A red border and “Done” while you show the task.</a:t>
            </a:r>
          </a:p>
        </p:txBody>
      </p:sp>
      <p:sp>
        <p:nvSpPr>
          <p:cNvPr id="124" name="Rounded Rectangle 123"/>
          <p:cNvSpPr/>
          <p:nvPr/>
        </p:nvSpPr>
        <p:spPr>
          <a:xfrm>
            <a:off x="3780214" y="1508760"/>
            <a:ext cx="1918155" cy="3374136"/>
          </a:xfrm>
          <a:prstGeom prst="roundRect">
            <a:avLst>
              <a:gd name="adj" fmla="val 10487"/>
            </a:avLst>
          </a:prstGeom>
          <a:solidFill>
            <a:srgbClr val="14142B"/>
          </a:solidFill>
          <a:ln>
            <a:noFill/>
          </a:ln>
          <a:effectLst/>
        </p:spPr>
        <p:txBody>
          <a:bodyPr rtlCol="0" anchor="ctr"/>
          <a:lstStyle/>
          <a:p/>
        </p:txBody>
      </p:sp>
      <p:pic>
        <p:nvPicPr>
          <p:cNvPr id="125" name="Picture 124" descr="learned.png"/>
          <p:cNvPicPr>
            <a:picLocks noChangeAspect="1"/>
          </p:cNvPicPr>
          <p:nvPr/>
        </p:nvPicPr>
        <p:blipFill>
          <a:blip r:embed="rId4"/>
          <a:stretch>
            <a:fillRect/>
          </a:stretch>
        </p:blipFill>
        <p:spPr>
          <a:xfrm>
            <a:off x="3844222" y="1572768"/>
            <a:ext cx="1790139" cy="3246120"/>
          </a:xfrm>
          <a:prstGeom prst="rect">
            <a:avLst/>
          </a:prstGeom>
        </p:spPr>
      </p:pic>
      <p:sp>
        <p:nvSpPr>
          <p:cNvPr id="126" name="TextBox 125"/>
          <p:cNvSpPr txBox="1"/>
          <p:nvPr/>
        </p:nvSpPr>
        <p:spPr>
          <a:xfrm>
            <a:off x="3798502"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2  What it learned</a:t>
            </a:r>
          </a:p>
        </p:txBody>
      </p:sp>
      <p:sp>
        <p:nvSpPr>
          <p:cNvPr id="127" name="TextBox 126"/>
          <p:cNvSpPr txBox="1"/>
          <p:nvPr/>
        </p:nvSpPr>
        <p:spPr>
          <a:xfrm>
            <a:off x="3798502"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Steps in words, values in braces, the stray tap marked “not needed”.</a:t>
            </a:r>
          </a:p>
        </p:txBody>
      </p:sp>
      <p:sp>
        <p:nvSpPr>
          <p:cNvPr id="128" name="Rounded Rectangle 127"/>
          <p:cNvSpPr/>
          <p:nvPr/>
        </p:nvSpPr>
        <p:spPr>
          <a:xfrm>
            <a:off x="6627741" y="1508760"/>
            <a:ext cx="1918155" cy="3374136"/>
          </a:xfrm>
          <a:prstGeom prst="roundRect">
            <a:avLst>
              <a:gd name="adj" fmla="val 10487"/>
            </a:avLst>
          </a:prstGeom>
          <a:solidFill>
            <a:srgbClr val="14142B"/>
          </a:solidFill>
          <a:ln>
            <a:noFill/>
          </a:ln>
          <a:effectLst/>
        </p:spPr>
        <p:txBody>
          <a:bodyPr rtlCol="0" anchor="ctr"/>
          <a:lstStyle/>
          <a:p/>
        </p:txBody>
      </p:sp>
      <p:pic>
        <p:nvPicPr>
          <p:cNvPr id="129" name="Picture 128" descr="ask.png"/>
          <p:cNvPicPr>
            <a:picLocks noChangeAspect="1"/>
          </p:cNvPicPr>
          <p:nvPr/>
        </p:nvPicPr>
        <p:blipFill>
          <a:blip r:embed="rId5"/>
          <a:stretch>
            <a:fillRect/>
          </a:stretch>
        </p:blipFill>
        <p:spPr>
          <a:xfrm>
            <a:off x="6691749" y="1572768"/>
            <a:ext cx="1790139" cy="3246120"/>
          </a:xfrm>
          <a:prstGeom prst="rect">
            <a:avLst/>
          </a:prstGeom>
        </p:spPr>
      </p:pic>
      <p:sp>
        <p:nvSpPr>
          <p:cNvPr id="130" name="TextBox 129"/>
          <p:cNvSpPr txBox="1"/>
          <p:nvPr/>
        </p:nvSpPr>
        <p:spPr>
          <a:xfrm>
            <a:off x="6646029"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3  A missing value</a:t>
            </a:r>
          </a:p>
        </p:txBody>
      </p:sp>
      <p:sp>
        <p:nvSpPr>
          <p:cNvPr id="131" name="TextBox 130"/>
          <p:cNvSpPr txBox="1"/>
          <p:nvPr/>
        </p:nvSpPr>
        <p:spPr>
          <a:xfrm>
            <a:off x="6646029"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“Which product should I use?” — asked at the step that needs it.</a:t>
            </a:r>
          </a:p>
        </p:txBody>
      </p:sp>
      <p:sp>
        <p:nvSpPr>
          <p:cNvPr id="132" name="Rounded Rectangle 131"/>
          <p:cNvSpPr/>
          <p:nvPr/>
        </p:nvSpPr>
        <p:spPr>
          <a:xfrm>
            <a:off x="9475268" y="1508760"/>
            <a:ext cx="1918155" cy="3374136"/>
          </a:xfrm>
          <a:prstGeom prst="roundRect">
            <a:avLst>
              <a:gd name="adj" fmla="val 10487"/>
            </a:avLst>
          </a:prstGeom>
          <a:solidFill>
            <a:srgbClr val="14142B"/>
          </a:solidFill>
          <a:ln>
            <a:noFill/>
          </a:ln>
          <a:effectLst/>
        </p:spPr>
        <p:txBody>
          <a:bodyPr rtlCol="0" anchor="ctr"/>
          <a:lstStyle/>
          <a:p/>
        </p:txBody>
      </p:sp>
      <p:pic>
        <p:nvPicPr>
          <p:cNvPr id="133" name="Picture 132" descr="size_q.png"/>
          <p:cNvPicPr>
            <a:picLocks noChangeAspect="1"/>
          </p:cNvPicPr>
          <p:nvPr/>
        </p:nvPicPr>
        <p:blipFill>
          <a:blip r:embed="rId6"/>
          <a:stretch>
            <a:fillRect/>
          </a:stretch>
        </p:blipFill>
        <p:spPr>
          <a:xfrm>
            <a:off x="9539276" y="1572768"/>
            <a:ext cx="1790139" cy="3246120"/>
          </a:xfrm>
          <a:prstGeom prst="rect">
            <a:avLst/>
          </a:prstGeom>
        </p:spPr>
      </p:pic>
      <p:sp>
        <p:nvSpPr>
          <p:cNvPr id="134" name="TextBox 133"/>
          <p:cNvSpPr txBox="1"/>
          <p:nvPr/>
        </p:nvSpPr>
        <p:spPr>
          <a:xfrm>
            <a:off x="9493556" y="4956048"/>
            <a:ext cx="2247339" cy="274320"/>
          </a:xfrm>
          <a:prstGeom prst="rect">
            <a:avLst/>
          </a:prstGeom>
          <a:noFill/>
        </p:spPr>
        <p:txBody>
          <a:bodyPr wrap="square" lIns="0" rIns="0" tIns="0" bIns="0" anchor="t">
            <a:spAutoFit/>
          </a:bodyPr>
          <a:lstStyle/>
          <a:p>
            <a:pPr algn="l"/>
            <a:r>
              <a:rPr sz="1350" b="1" i="0">
                <a:solidFill>
                  <a:srgbClr val="14142B"/>
                </a:solidFill>
                <a:latin typeface="Arial"/>
              </a:rPr>
              <a:t>4  A personal choice</a:t>
            </a:r>
          </a:p>
        </p:txBody>
      </p:sp>
      <p:sp>
        <p:nvSpPr>
          <p:cNvPr id="135" name="TextBox 134"/>
          <p:cNvSpPr txBox="1"/>
          <p:nvPr/>
        </p:nvSpPr>
        <p:spPr>
          <a:xfrm>
            <a:off x="9493556" y="5230368"/>
            <a:ext cx="2293059" cy="548640"/>
          </a:xfrm>
          <a:prstGeom prst="rect">
            <a:avLst/>
          </a:prstGeom>
          <a:noFill/>
        </p:spPr>
        <p:txBody>
          <a:bodyPr wrap="square" lIns="0" rIns="0" tIns="0" bIns="0" anchor="t">
            <a:spAutoFit/>
          </a:bodyPr>
          <a:lstStyle/>
          <a:p>
            <a:pPr algn="l"/>
            <a:r>
              <a:rPr sz="1100" b="0" i="0">
                <a:solidFill>
                  <a:srgbClr val="5B5F77"/>
                </a:solidFill>
                <a:latin typeface="Calibri"/>
              </a:rPr>
              <a:t>It asks for the size and lists what’s available. It never picks for you.</a:t>
            </a:r>
          </a:p>
        </p:txBody>
      </p:sp>
      <p:sp>
        <p:nvSpPr>
          <p:cNvPr id="136" name="Rounded Rectangle 135"/>
          <p:cNvSpPr/>
          <p:nvPr/>
        </p:nvSpPr>
        <p:spPr>
          <a:xfrm>
            <a:off x="932688" y="5833872"/>
            <a:ext cx="10332720" cy="384048"/>
          </a:xfrm>
          <a:prstGeom prst="roundRect">
            <a:avLst>
              <a:gd name="adj" fmla="val 23809"/>
            </a:avLst>
          </a:prstGeom>
          <a:solidFill>
            <a:srgbClr val="F5F3FC"/>
          </a:solidFill>
          <a:ln>
            <a:noFill/>
          </a:ln>
          <a:effectLst/>
        </p:spPr>
        <p:txBody>
          <a:bodyPr rtlCol="0" anchor="ctr"/>
          <a:lstStyle/>
          <a:p/>
        </p:txBody>
      </p:sp>
      <p:sp>
        <p:nvSpPr>
          <p:cNvPr id="137" name="TextBox 136"/>
          <p:cNvSpPr txBox="1"/>
          <p:nvPr/>
        </p:nvSpPr>
        <p:spPr>
          <a:xfrm>
            <a:off x="1115568" y="5833872"/>
            <a:ext cx="9966960" cy="384048"/>
          </a:xfrm>
          <a:prstGeom prst="rect">
            <a:avLst/>
          </a:prstGeom>
          <a:noFill/>
        </p:spPr>
        <p:txBody>
          <a:bodyPr wrap="square" lIns="0" rIns="0" tIns="0" bIns="0" anchor="ctr">
            <a:spAutoFit/>
          </a:bodyPr>
          <a:lstStyle/>
          <a:p>
            <a:pPr algn="l"/>
            <a:r>
              <a:rPr sz="1150" b="1" i="0">
                <a:solidFill>
                  <a:srgbClr val="6D28D9"/>
                </a:solidFill>
                <a:latin typeface="Calibri"/>
              </a:rPr>
              <a:t>Demo video (≤ 5 min, one unedited take): </a:t>
            </a:r>
            <a:r>
              <a:rPr sz="1150" b="0" i="0">
                <a:solidFill>
                  <a:srgbClr val="1F2037"/>
                </a:solidFill>
                <a:latin typeface="Calibri"/>
              </a:rPr>
              <a:t>teach by voice + taps → exact replay → a paraphrase → a changed value → the assistant asking a question. Link in the README and the form.</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Tools and tech stack used</a:t>
            </a:r>
            <a:endParaRPr b="1">
              <a:solidFill>
                <a:srgbClr val="704EA6"/>
              </a:solidFill>
            </a:endParaRPr>
          </a:p>
        </p:txBody>
      </p:sp>
      <p:sp>
        <p:nvSpPr>
          <p:cNvPr id="126" name="Rounded Rectangle 125"/>
          <p:cNvSpPr/>
          <p:nvPr/>
        </p:nvSpPr>
        <p:spPr>
          <a:xfrm>
            <a:off x="932688"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27" name="Oval 126"/>
          <p:cNvSpPr/>
          <p:nvPr/>
        </p:nvSpPr>
        <p:spPr>
          <a:xfrm>
            <a:off x="1133856" y="1783080"/>
            <a:ext cx="548640" cy="548640"/>
          </a:xfrm>
          <a:prstGeom prst="ellipse">
            <a:avLst/>
          </a:prstGeom>
          <a:solidFill>
            <a:srgbClr val="14142B"/>
          </a:solidFill>
          <a:ln>
            <a:noFill/>
          </a:ln>
          <a:effectLst/>
        </p:spPr>
        <p:txBody>
          <a:bodyPr rtlCol="0" anchor="ctr"/>
          <a:lstStyle/>
          <a:p/>
        </p:txBody>
      </p:sp>
      <p:pic>
        <p:nvPicPr>
          <p:cNvPr id="128" name="Picture 127" descr="MdPhoneAndroid_FFFFFF.png"/>
          <p:cNvPicPr>
            <a:picLocks noChangeAspect="1"/>
          </p:cNvPicPr>
          <p:nvPr/>
        </p:nvPicPr>
        <p:blipFill>
          <a:blip r:embed="rId3"/>
          <a:stretch>
            <a:fillRect/>
          </a:stretch>
        </p:blipFill>
        <p:spPr>
          <a:xfrm>
            <a:off x="1254556" y="1903780"/>
            <a:ext cx="307238" cy="307238"/>
          </a:xfrm>
          <a:prstGeom prst="rect">
            <a:avLst/>
          </a:prstGeom>
        </p:spPr>
      </p:pic>
      <p:sp>
        <p:nvSpPr>
          <p:cNvPr id="129" name="TextBox 128"/>
          <p:cNvSpPr txBox="1"/>
          <p:nvPr/>
        </p:nvSpPr>
        <p:spPr>
          <a:xfrm>
            <a:off x="1801368"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On the phone</a:t>
            </a:r>
          </a:p>
        </p:txBody>
      </p:sp>
      <p:sp>
        <p:nvSpPr>
          <p:cNvPr id="130" name="TextBox 129"/>
          <p:cNvSpPr txBox="1"/>
          <p:nvPr/>
        </p:nvSpPr>
        <p:spPr>
          <a:xfrm>
            <a:off x="1133856"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Kotlin</a:t>
            </a:r>
          </a:p>
          <a:p>
            <a:pPr algn="l">
              <a:spcAft>
                <a:spcPts val="700"/>
              </a:spcAft>
            </a:pPr>
            <a:r>
              <a:rPr sz="1250" b="0" i="0">
                <a:solidFill>
                  <a:srgbClr val="1F2037"/>
                </a:solidFill>
                <a:latin typeface="Calibri"/>
              </a:rPr>
              <a:t>•  AccessibilityService</a:t>
            </a:r>
          </a:p>
          <a:p>
            <a:pPr algn="l">
              <a:spcAft>
                <a:spcPts val="700"/>
              </a:spcAft>
            </a:pPr>
            <a:r>
              <a:rPr sz="1250" b="0" i="0">
                <a:solidFill>
                  <a:srgbClr val="1F2037"/>
                </a:solidFill>
                <a:latin typeface="Calibri"/>
              </a:rPr>
              <a:t>•  Accessibility overlay (tap capture)</a:t>
            </a:r>
          </a:p>
          <a:p>
            <a:pPr algn="l">
              <a:spcAft>
                <a:spcPts val="700"/>
              </a:spcAft>
            </a:pPr>
            <a:r>
              <a:rPr sz="1250" b="0" i="0">
                <a:solidFill>
                  <a:srgbClr val="1F2037"/>
                </a:solidFill>
                <a:latin typeface="Calibri"/>
              </a:rPr>
              <a:t>•  SpeechRecognizer · TextToSpeech</a:t>
            </a:r>
          </a:p>
          <a:p>
            <a:pPr algn="l">
              <a:spcAft>
                <a:spcPts val="700"/>
              </a:spcAft>
            </a:pPr>
            <a:r>
              <a:rPr sz="1250" b="0" i="0">
                <a:solidFill>
                  <a:srgbClr val="1F2037"/>
                </a:solidFill>
                <a:latin typeface="Calibri"/>
              </a:rPr>
              <a:t>•  JSON recipes and run log</a:t>
            </a:r>
          </a:p>
          <a:p>
            <a:pPr algn="l">
              <a:spcAft>
                <a:spcPts val="700"/>
              </a:spcAft>
            </a:pPr>
            <a:r>
              <a:rPr sz="1250" b="0" i="0">
                <a:solidFill>
                  <a:srgbClr val="1F2037"/>
                </a:solidFill>
                <a:latin typeface="Calibri"/>
              </a:rPr>
              <a:t>•  Android 9+ · target SDK 35</a:t>
            </a:r>
          </a:p>
        </p:txBody>
      </p:sp>
      <p:sp>
        <p:nvSpPr>
          <p:cNvPr id="131" name="Rounded Rectangle 130"/>
          <p:cNvSpPr/>
          <p:nvPr/>
        </p:nvSpPr>
        <p:spPr>
          <a:xfrm>
            <a:off x="3566160"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2" name="Oval 131"/>
          <p:cNvSpPr/>
          <p:nvPr/>
        </p:nvSpPr>
        <p:spPr>
          <a:xfrm>
            <a:off x="3767328" y="1783080"/>
            <a:ext cx="548640" cy="548640"/>
          </a:xfrm>
          <a:prstGeom prst="ellipse">
            <a:avLst/>
          </a:prstGeom>
          <a:solidFill>
            <a:srgbClr val="6D28D9"/>
          </a:solidFill>
          <a:ln>
            <a:noFill/>
          </a:ln>
          <a:effectLst/>
        </p:spPr>
        <p:txBody>
          <a:bodyPr rtlCol="0" anchor="ctr"/>
          <a:lstStyle/>
          <a:p/>
        </p:txBody>
      </p:sp>
      <p:pic>
        <p:nvPicPr>
          <p:cNvPr id="133" name="Picture 132" descr="MdCloudQueue_FFFFFF.png"/>
          <p:cNvPicPr>
            <a:picLocks noChangeAspect="1"/>
          </p:cNvPicPr>
          <p:nvPr/>
        </p:nvPicPr>
        <p:blipFill>
          <a:blip r:embed="rId4"/>
          <a:stretch>
            <a:fillRect/>
          </a:stretch>
        </p:blipFill>
        <p:spPr>
          <a:xfrm>
            <a:off x="3888028" y="1903780"/>
            <a:ext cx="307238" cy="307238"/>
          </a:xfrm>
          <a:prstGeom prst="rect">
            <a:avLst/>
          </a:prstGeom>
        </p:spPr>
      </p:pic>
      <p:sp>
        <p:nvSpPr>
          <p:cNvPr id="134" name="TextBox 133"/>
          <p:cNvSpPr txBox="1"/>
          <p:nvPr/>
        </p:nvSpPr>
        <p:spPr>
          <a:xfrm>
            <a:off x="4434840"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AI model</a:t>
            </a:r>
          </a:p>
        </p:txBody>
      </p:sp>
      <p:sp>
        <p:nvSpPr>
          <p:cNvPr id="135" name="TextBox 134"/>
          <p:cNvSpPr txBox="1"/>
          <p:nvPr/>
        </p:nvSpPr>
        <p:spPr>
          <a:xfrm>
            <a:off x="3767328"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Fireworks AI</a:t>
            </a:r>
          </a:p>
          <a:p>
            <a:pPr algn="l">
              <a:spcAft>
                <a:spcPts val="700"/>
              </a:spcAft>
            </a:pPr>
            <a:r>
              <a:rPr sz="1250" b="0" i="0">
                <a:solidFill>
                  <a:srgbClr val="1F2037"/>
                </a:solidFill>
                <a:latin typeface="Calibri"/>
              </a:rPr>
              <a:t>•  gpt-oss-120b, low reasoning effort</a:t>
            </a:r>
          </a:p>
          <a:p>
            <a:pPr algn="l">
              <a:spcAft>
                <a:spcPts val="700"/>
              </a:spcAft>
            </a:pPr>
            <a:r>
              <a:rPr sz="1250" b="0" i="0">
                <a:solidFill>
                  <a:srgbClr val="1F2037"/>
                </a:solidFill>
                <a:latin typeface="Calibri"/>
              </a:rPr>
              <a:t>•  JSON-only prompts: match, act, refine</a:t>
            </a:r>
          </a:p>
          <a:p>
            <a:pPr algn="l">
              <a:spcAft>
                <a:spcPts val="700"/>
              </a:spcAft>
            </a:pPr>
            <a:r>
              <a:rPr sz="1250" b="0" i="0">
                <a:solidFill>
                  <a:srgbClr val="1F2037"/>
                </a:solidFill>
                <a:latin typeface="Calibri"/>
              </a:rPr>
              <a:t>•  Hard timeout per call</a:t>
            </a:r>
          </a:p>
          <a:p>
            <a:pPr algn="l">
              <a:spcAft>
                <a:spcPts val="700"/>
              </a:spcAft>
            </a:pPr>
            <a:r>
              <a:rPr sz="1250" b="0" i="0">
                <a:solidFill>
                  <a:srgbClr val="1F2037"/>
                </a:solidFill>
                <a:latin typeface="Calibri"/>
              </a:rPr>
              <a:t>•  Separate spend-limited key in the APK</a:t>
            </a:r>
          </a:p>
        </p:txBody>
      </p:sp>
      <p:sp>
        <p:nvSpPr>
          <p:cNvPr id="136" name="Rounded Rectangle 135"/>
          <p:cNvSpPr/>
          <p:nvPr/>
        </p:nvSpPr>
        <p:spPr>
          <a:xfrm>
            <a:off x="6199632"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7" name="Oval 136"/>
          <p:cNvSpPr/>
          <p:nvPr/>
        </p:nvSpPr>
        <p:spPr>
          <a:xfrm>
            <a:off x="6400800" y="1783080"/>
            <a:ext cx="548640" cy="548640"/>
          </a:xfrm>
          <a:prstGeom prst="ellipse">
            <a:avLst/>
          </a:prstGeom>
          <a:solidFill>
            <a:srgbClr val="14142B"/>
          </a:solidFill>
          <a:ln>
            <a:noFill/>
          </a:ln>
          <a:effectLst/>
        </p:spPr>
        <p:txBody>
          <a:bodyPr rtlCol="0" anchor="ctr"/>
          <a:lstStyle/>
          <a:p/>
        </p:txBody>
      </p:sp>
      <p:pic>
        <p:nvPicPr>
          <p:cNvPr id="138" name="Picture 137" descr="MdCode_FFFFFF.png"/>
          <p:cNvPicPr>
            <a:picLocks noChangeAspect="1"/>
          </p:cNvPicPr>
          <p:nvPr/>
        </p:nvPicPr>
        <p:blipFill>
          <a:blip r:embed="rId5"/>
          <a:stretch>
            <a:fillRect/>
          </a:stretch>
        </p:blipFill>
        <p:spPr>
          <a:xfrm>
            <a:off x="6521500" y="1903780"/>
            <a:ext cx="307238" cy="307238"/>
          </a:xfrm>
          <a:prstGeom prst="rect">
            <a:avLst/>
          </a:prstGeom>
        </p:spPr>
      </p:pic>
      <p:sp>
        <p:nvSpPr>
          <p:cNvPr id="139" name="TextBox 138"/>
          <p:cNvSpPr txBox="1"/>
          <p:nvPr/>
        </p:nvSpPr>
        <p:spPr>
          <a:xfrm>
            <a:off x="7068312"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Build</a:t>
            </a:r>
          </a:p>
        </p:txBody>
      </p:sp>
      <p:sp>
        <p:nvSpPr>
          <p:cNvPr id="140" name="TextBox 139"/>
          <p:cNvSpPr txBox="1"/>
          <p:nvPr/>
        </p:nvSpPr>
        <p:spPr>
          <a:xfrm>
            <a:off x="6400800"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Gradle (Android SDK 35)</a:t>
            </a:r>
          </a:p>
          <a:p>
            <a:pPr algn="l">
              <a:spcAft>
                <a:spcPts val="700"/>
              </a:spcAft>
            </a:pPr>
            <a:r>
              <a:rPr sz="1250" b="0" i="0">
                <a:solidFill>
                  <a:srgbClr val="1F2037"/>
                </a:solidFill>
                <a:latin typeface="Calibri"/>
              </a:rPr>
              <a:t>•  Dockerfile builds the APK</a:t>
            </a:r>
          </a:p>
          <a:p>
            <a:pPr algn="l">
              <a:spcAft>
                <a:spcPts val="700"/>
              </a:spcAft>
            </a:pPr>
            <a:r>
              <a:rPr sz="1250" b="0" i="0">
                <a:solidFill>
                  <a:srgbClr val="1F2037"/>
                </a:solidFill>
                <a:latin typeface="Calibri"/>
              </a:rPr>
              <a:t>•  Keys kept out of git</a:t>
            </a:r>
          </a:p>
          <a:p>
            <a:pPr algn="l">
              <a:spcAft>
                <a:spcPts val="700"/>
              </a:spcAft>
            </a:pPr>
            <a:r>
              <a:rPr sz="1250" b="0" i="0">
                <a:solidFill>
                  <a:srgbClr val="1F2037"/>
                </a:solidFill>
                <a:latin typeface="Calibri"/>
              </a:rPr>
              <a:t>•  Release APK on GitHub</a:t>
            </a:r>
          </a:p>
        </p:txBody>
      </p:sp>
      <p:sp>
        <p:nvSpPr>
          <p:cNvPr id="141" name="Rounded Rectangle 140"/>
          <p:cNvSpPr/>
          <p:nvPr/>
        </p:nvSpPr>
        <p:spPr>
          <a:xfrm>
            <a:off x="8833104"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42" name="Oval 141"/>
          <p:cNvSpPr/>
          <p:nvPr/>
        </p:nvSpPr>
        <p:spPr>
          <a:xfrm>
            <a:off x="9034272" y="1783080"/>
            <a:ext cx="548640" cy="548640"/>
          </a:xfrm>
          <a:prstGeom prst="ellipse">
            <a:avLst/>
          </a:prstGeom>
          <a:solidFill>
            <a:srgbClr val="0E9F6E"/>
          </a:solidFill>
          <a:ln>
            <a:noFill/>
          </a:ln>
          <a:effectLst/>
        </p:spPr>
        <p:txBody>
          <a:bodyPr rtlCol="0" anchor="ctr"/>
          <a:lstStyle/>
          <a:p/>
        </p:txBody>
      </p:sp>
      <p:pic>
        <p:nvPicPr>
          <p:cNvPr id="143" name="Picture 142" descr="MdScience_FFFFFF.png"/>
          <p:cNvPicPr>
            <a:picLocks noChangeAspect="1"/>
          </p:cNvPicPr>
          <p:nvPr/>
        </p:nvPicPr>
        <p:blipFill>
          <a:blip r:embed="rId6"/>
          <a:stretch>
            <a:fillRect/>
          </a:stretch>
        </p:blipFill>
        <p:spPr>
          <a:xfrm>
            <a:off x="9154972" y="1903780"/>
            <a:ext cx="307238" cy="307238"/>
          </a:xfrm>
          <a:prstGeom prst="rect">
            <a:avLst/>
          </a:prstGeom>
        </p:spPr>
      </p:pic>
      <p:sp>
        <p:nvSpPr>
          <p:cNvPr id="144" name="TextBox 143"/>
          <p:cNvSpPr txBox="1"/>
          <p:nvPr/>
        </p:nvSpPr>
        <p:spPr>
          <a:xfrm>
            <a:off x="9701784"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Testing</a:t>
            </a:r>
          </a:p>
        </p:txBody>
      </p:sp>
      <p:sp>
        <p:nvSpPr>
          <p:cNvPr id="145" name="TextBox 144"/>
          <p:cNvSpPr txBox="1"/>
          <p:nvPr/>
        </p:nvSpPr>
        <p:spPr>
          <a:xfrm>
            <a:off x="9034272"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adb benches: cold start, repeat runs</a:t>
            </a:r>
          </a:p>
          <a:p>
            <a:pPr algn="l">
              <a:spcAft>
                <a:spcPts val="700"/>
              </a:spcAft>
            </a:pPr>
            <a:r>
              <a:rPr sz="1250" b="0" i="0">
                <a:solidFill>
                  <a:srgbClr val="1F2037"/>
                </a:solidFill>
                <a:latin typeface="Calibri"/>
              </a:rPr>
              <a:t>•  Auto-answer for spoken questions</a:t>
            </a:r>
          </a:p>
          <a:p>
            <a:pPr algn="l">
              <a:spcAft>
                <a:spcPts val="700"/>
              </a:spcAft>
            </a:pPr>
            <a:r>
              <a:rPr sz="1250" b="0" i="0">
                <a:solidFill>
                  <a:srgbClr val="1F2037"/>
                </a:solidFill>
                <a:latin typeface="Calibri"/>
              </a:rPr>
              <a:t>•  Python eval of command matching</a:t>
            </a:r>
          </a:p>
          <a:p>
            <a:pPr algn="l">
              <a:spcAft>
                <a:spcPts val="700"/>
              </a:spcAft>
            </a:pPr>
            <a:r>
              <a:rPr sz="1250" b="0" i="0">
                <a:solidFill>
                  <a:srgbClr val="1F2037"/>
                </a:solidFill>
                <a:latin typeface="Calibri"/>
              </a:rPr>
              <a:t>•  Screen dumps on every failure</a:t>
            </a:r>
          </a:p>
        </p:txBody>
      </p:sp>
      <p:sp>
        <p:nvSpPr>
          <p:cNvPr id="146" name="TextBox 145"/>
          <p:cNvSpPr txBox="1"/>
          <p:nvPr/>
        </p:nvSpPr>
        <p:spPr>
          <a:xfrm>
            <a:off x="932688"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~4,300  </a:t>
            </a:r>
            <a:r>
              <a:rPr sz="1250" b="0" i="0">
                <a:solidFill>
                  <a:srgbClr val="5B5F77"/>
                </a:solidFill>
                <a:latin typeface="Calibri"/>
              </a:rPr>
              <a:t>lines of Kotlin, 17 files</a:t>
            </a:r>
          </a:p>
        </p:txBody>
      </p:sp>
      <p:sp>
        <p:nvSpPr>
          <p:cNvPr id="147" name="TextBox 146"/>
          <p:cNvSpPr txBox="1"/>
          <p:nvPr/>
        </p:nvSpPr>
        <p:spPr>
          <a:xfrm>
            <a:off x="3566160"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1  </a:t>
            </a:r>
            <a:r>
              <a:rPr sz="1250" b="0" i="0">
                <a:solidFill>
                  <a:srgbClr val="5B5F77"/>
                </a:solidFill>
                <a:latin typeface="Calibri"/>
              </a:rPr>
              <a:t>library: Kotlin coroutines</a:t>
            </a:r>
          </a:p>
        </p:txBody>
      </p:sp>
      <p:sp>
        <p:nvSpPr>
          <p:cNvPr id="148" name="TextBox 147"/>
          <p:cNvSpPr txBox="1"/>
          <p:nvPr/>
        </p:nvSpPr>
        <p:spPr>
          <a:xfrm>
            <a:off x="6199632"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3.5 MB  </a:t>
            </a:r>
            <a:r>
              <a:rPr sz="1250" b="0" i="0">
                <a:solidFill>
                  <a:srgbClr val="5B5F77"/>
                </a:solidFill>
                <a:latin typeface="Calibri"/>
              </a:rPr>
              <a:t>release APK</a:t>
            </a:r>
          </a:p>
        </p:txBody>
      </p:sp>
      <p:sp>
        <p:nvSpPr>
          <p:cNvPr id="149" name="TextBox 148"/>
          <p:cNvSpPr txBox="1"/>
          <p:nvPr/>
        </p:nvSpPr>
        <p:spPr>
          <a:xfrm>
            <a:off x="8833104"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0  </a:t>
            </a:r>
            <a:r>
              <a:rPr sz="1250" b="0" i="0">
                <a:solidFill>
                  <a:srgbClr val="5B5F77"/>
                </a:solidFill>
                <a:latin typeface="Calibri"/>
              </a:rPr>
              <a:t>app SDKs, deep links or root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Impact &amp; Use case</a:t>
            </a:r>
            <a:endParaRPr b="1">
              <a:solidFill>
                <a:srgbClr val="704EA6"/>
              </a:solidFill>
            </a:endParaRPr>
          </a:p>
        </p:txBody>
      </p:sp>
      <p:sp>
        <p:nvSpPr>
          <p:cNvPr id="132" name="Rounded Rectangle 131"/>
          <p:cNvSpPr/>
          <p:nvPr/>
        </p:nvSpPr>
        <p:spPr>
          <a:xfrm>
            <a:off x="932688" y="1600200"/>
            <a:ext cx="3566160" cy="4526280"/>
          </a:xfrm>
          <a:prstGeom prst="roundRect">
            <a:avLst>
              <a:gd name="adj" fmla="val 2051"/>
            </a:avLst>
          </a:prstGeom>
          <a:solidFill>
            <a:srgbClr val="14142B"/>
          </a:solidFill>
          <a:ln>
            <a:noFill/>
          </a:ln>
          <a:effectLst/>
        </p:spPr>
        <p:txBody>
          <a:bodyPr rtlCol="0" anchor="ctr"/>
          <a:lstStyle/>
          <a:p/>
        </p:txBody>
      </p:sp>
      <p:sp>
        <p:nvSpPr>
          <p:cNvPr id="133" name="TextBox 132"/>
          <p:cNvSpPr txBox="1"/>
          <p:nvPr/>
        </p:nvSpPr>
        <p:spPr>
          <a:xfrm>
            <a:off x="1207008" y="1810512"/>
            <a:ext cx="3108960" cy="274320"/>
          </a:xfrm>
          <a:prstGeom prst="rect">
            <a:avLst/>
          </a:prstGeom>
          <a:noFill/>
        </p:spPr>
        <p:txBody>
          <a:bodyPr wrap="square" lIns="0" rIns="0" tIns="0" bIns="0" anchor="t">
            <a:spAutoFit/>
          </a:bodyPr>
          <a:lstStyle/>
          <a:p>
            <a:pPr algn="l"/>
            <a:r>
              <a:rPr sz="1100" b="1" i="0">
                <a:solidFill>
                  <a:srgbClr val="C4B5FD"/>
                </a:solidFill>
                <a:latin typeface="Arial"/>
              </a:rPr>
              <a:t>ONE ZOMATO ORDER</a:t>
            </a:r>
          </a:p>
        </p:txBody>
      </p:sp>
      <p:sp>
        <p:nvSpPr>
          <p:cNvPr id="134" name="TextBox 133"/>
          <p:cNvSpPr txBox="1"/>
          <p:nvPr/>
        </p:nvSpPr>
        <p:spPr>
          <a:xfrm>
            <a:off x="1207008" y="2148840"/>
            <a:ext cx="3108960" cy="914400"/>
          </a:xfrm>
          <a:prstGeom prst="rect">
            <a:avLst/>
          </a:prstGeom>
          <a:noFill/>
        </p:spPr>
        <p:txBody>
          <a:bodyPr wrap="square" lIns="0" rIns="0" tIns="0" bIns="0" anchor="t">
            <a:spAutoFit/>
          </a:bodyPr>
          <a:lstStyle/>
          <a:p>
            <a:pPr algn="l"/>
            <a:r>
              <a:rPr sz="3800" b="1" i="0">
                <a:solidFill>
                  <a:srgbClr val="FFFFFF"/>
                </a:solidFill>
                <a:latin typeface="Arial"/>
              </a:rPr>
              <a:t>11 steps</a:t>
            </a:r>
          </a:p>
        </p:txBody>
      </p:sp>
      <p:sp>
        <p:nvSpPr>
          <p:cNvPr id="135" name="TextBox 134"/>
          <p:cNvSpPr txBox="1"/>
          <p:nvPr/>
        </p:nvSpPr>
        <p:spPr>
          <a:xfrm>
            <a:off x="1207008" y="2971800"/>
            <a:ext cx="3108960" cy="457200"/>
          </a:xfrm>
          <a:prstGeom prst="rect">
            <a:avLst/>
          </a:prstGeom>
          <a:noFill/>
        </p:spPr>
        <p:txBody>
          <a:bodyPr wrap="square" lIns="0" rIns="0" tIns="0" bIns="0" anchor="t">
            <a:spAutoFit/>
          </a:bodyPr>
          <a:lstStyle/>
          <a:p>
            <a:pPr algn="l"/>
            <a:r>
              <a:rPr sz="2200" b="1" i="0">
                <a:solidFill>
                  <a:srgbClr val="C4B5FD"/>
                </a:solidFill>
                <a:latin typeface="Arial"/>
              </a:rPr>
              <a:t>→ one sentence</a:t>
            </a:r>
          </a:p>
        </p:txBody>
      </p:sp>
      <p:sp>
        <p:nvSpPr>
          <p:cNvPr id="136" name="TextBox 135"/>
          <p:cNvSpPr txBox="1"/>
          <p:nvPr/>
        </p:nvSpPr>
        <p:spPr>
          <a:xfrm>
            <a:off x="1207008" y="3611880"/>
            <a:ext cx="3063240" cy="1463040"/>
          </a:xfrm>
          <a:prstGeom prst="rect">
            <a:avLst/>
          </a:prstGeom>
          <a:noFill/>
        </p:spPr>
        <p:txBody>
          <a:bodyPr wrap="square" lIns="0" rIns="0" tIns="0" bIns="0" anchor="t">
            <a:spAutoFit/>
          </a:bodyPr>
          <a:lstStyle/>
          <a:p>
            <a:pPr algn="l"/>
            <a:r>
              <a:rPr sz="1350" b="0" i="0">
                <a:solidFill>
                  <a:srgbClr val="D9D3F0"/>
                </a:solidFill>
                <a:latin typeface="Calibri"/>
              </a:rPr>
              <a:t>Taught once by doing it. Then 36–66 s hands-free with a new pizza, a quantity or a delivery address — stopping before payment every time.</a:t>
            </a:r>
          </a:p>
        </p:txBody>
      </p:sp>
      <p:sp>
        <p:nvSpPr>
          <p:cNvPr id="137" name="Rounded Rectangle 136"/>
          <p:cNvSpPr/>
          <p:nvPr/>
        </p:nvSpPr>
        <p:spPr>
          <a:xfrm>
            <a:off x="1161288" y="5349240"/>
            <a:ext cx="3108960" cy="457200"/>
          </a:xfrm>
          <a:prstGeom prst="roundRect">
            <a:avLst>
              <a:gd name="adj" fmla="val 50000"/>
            </a:avLst>
          </a:prstGeom>
          <a:solidFill>
            <a:srgbClr val="FFFFFF"/>
          </a:solidFill>
          <a:ln w="12700">
            <a:solidFill>
              <a:srgbClr val="D9D3F0"/>
            </a:solidFill>
          </a:ln>
          <a:effectLst/>
        </p:spPr>
        <p:txBody>
          <a:bodyPr rtlCol="0" anchor="ctr"/>
          <a:lstStyle/>
          <a:p/>
        </p:txBody>
      </p:sp>
      <p:sp>
        <p:nvSpPr>
          <p:cNvPr id="138" name="Oval 137"/>
          <p:cNvSpPr/>
          <p:nvPr/>
        </p:nvSpPr>
        <p:spPr>
          <a:xfrm>
            <a:off x="1225296" y="5413248"/>
            <a:ext cx="329184" cy="329184"/>
          </a:xfrm>
          <a:prstGeom prst="ellipse">
            <a:avLst/>
          </a:prstGeom>
          <a:solidFill>
            <a:srgbClr val="6D28D9"/>
          </a:solidFill>
          <a:ln>
            <a:noFill/>
          </a:ln>
          <a:effectLst/>
        </p:spPr>
        <p:txBody>
          <a:bodyPr rtlCol="0" anchor="ctr"/>
          <a:lstStyle/>
          <a:p/>
        </p:txBody>
      </p:sp>
      <p:pic>
        <p:nvPicPr>
          <p:cNvPr id="139" name="Picture 138" descr="MdMic_FFFFFF.png"/>
          <p:cNvPicPr>
            <a:picLocks noChangeAspect="1"/>
          </p:cNvPicPr>
          <p:nvPr/>
        </p:nvPicPr>
        <p:blipFill>
          <a:blip r:embed="rId3"/>
          <a:stretch>
            <a:fillRect/>
          </a:stretch>
        </p:blipFill>
        <p:spPr>
          <a:xfrm>
            <a:off x="1291132" y="5479084"/>
            <a:ext cx="197510" cy="197510"/>
          </a:xfrm>
          <a:prstGeom prst="rect">
            <a:avLst/>
          </a:prstGeom>
        </p:spPr>
      </p:pic>
      <p:sp>
        <p:nvSpPr>
          <p:cNvPr id="140" name="TextBox 139"/>
          <p:cNvSpPr txBox="1"/>
          <p:nvPr/>
        </p:nvSpPr>
        <p:spPr>
          <a:xfrm>
            <a:off x="1691639" y="5349240"/>
            <a:ext cx="2487168" cy="457200"/>
          </a:xfrm>
          <a:prstGeom prst="rect">
            <a:avLst/>
          </a:prstGeom>
          <a:noFill/>
        </p:spPr>
        <p:txBody>
          <a:bodyPr wrap="square" lIns="0" rIns="0" tIns="0" bIns="0" anchor="ctr">
            <a:spAutoFit/>
          </a:bodyPr>
          <a:lstStyle/>
          <a:p>
            <a:pPr algn="l"/>
            <a:r>
              <a:rPr sz="1150" b="0" i="1">
                <a:solidFill>
                  <a:srgbClr val="1F2037"/>
                </a:solidFill>
                <a:latin typeface="Calibri"/>
              </a:rPr>
              <a:t>“Order two Margherita pizzas from Domino’s.”</a:t>
            </a:r>
          </a:p>
        </p:txBody>
      </p:sp>
      <p:sp>
        <p:nvSpPr>
          <p:cNvPr id="141" name="Rounded Rectangle 140"/>
          <p:cNvSpPr/>
          <p:nvPr/>
        </p:nvSpPr>
        <p:spPr>
          <a:xfrm>
            <a:off x="4727448" y="1600200"/>
            <a:ext cx="3172968" cy="1645920"/>
          </a:xfrm>
          <a:prstGeom prst="roundRect">
            <a:avLst>
              <a:gd name="adj" fmla="val 4444"/>
            </a:avLst>
          </a:prstGeom>
          <a:solidFill>
            <a:srgbClr val="F5F3FC"/>
          </a:solidFill>
          <a:ln>
            <a:noFill/>
          </a:ln>
          <a:effectLst/>
        </p:spPr>
        <p:txBody>
          <a:bodyPr rtlCol="0" anchor="ctr"/>
          <a:lstStyle/>
          <a:p/>
        </p:txBody>
      </p:sp>
      <p:sp>
        <p:nvSpPr>
          <p:cNvPr id="142" name="Oval 141"/>
          <p:cNvSpPr/>
          <p:nvPr/>
        </p:nvSpPr>
        <p:spPr>
          <a:xfrm>
            <a:off x="4928616" y="1801368"/>
            <a:ext cx="502920" cy="502920"/>
          </a:xfrm>
          <a:prstGeom prst="ellipse">
            <a:avLst/>
          </a:prstGeom>
          <a:solidFill>
            <a:srgbClr val="6D28D9"/>
          </a:solidFill>
          <a:ln>
            <a:noFill/>
          </a:ln>
          <a:effectLst/>
        </p:spPr>
        <p:txBody>
          <a:bodyPr rtlCol="0" anchor="ctr"/>
          <a:lstStyle/>
          <a:p/>
        </p:txBody>
      </p:sp>
      <p:pic>
        <p:nvPicPr>
          <p:cNvPr id="143" name="Picture 142" descr="MdRepeat_FFFFFF.png"/>
          <p:cNvPicPr>
            <a:picLocks noChangeAspect="1"/>
          </p:cNvPicPr>
          <p:nvPr/>
        </p:nvPicPr>
        <p:blipFill>
          <a:blip r:embed="rId4"/>
          <a:stretch>
            <a:fillRect/>
          </a:stretch>
        </p:blipFill>
        <p:spPr>
          <a:xfrm>
            <a:off x="5039258" y="1912010"/>
            <a:ext cx="281635" cy="281635"/>
          </a:xfrm>
          <a:prstGeom prst="rect">
            <a:avLst/>
          </a:prstGeom>
        </p:spPr>
      </p:pic>
      <p:sp>
        <p:nvSpPr>
          <p:cNvPr id="144" name="TextBox 143"/>
          <p:cNvSpPr txBox="1"/>
          <p:nvPr/>
        </p:nvSpPr>
        <p:spPr>
          <a:xfrm>
            <a:off x="5550408"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Everyday repeats</a:t>
            </a:r>
          </a:p>
        </p:txBody>
      </p:sp>
      <p:sp>
        <p:nvSpPr>
          <p:cNvPr id="145" name="TextBox 144"/>
          <p:cNvSpPr txBox="1"/>
          <p:nvPr/>
        </p:nvSpPr>
        <p:spPr>
          <a:xfrm>
            <a:off x="4928616"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Reorder from the same restaurant, restock the same item, check the same page: said with today’s values.</a:t>
            </a:r>
          </a:p>
        </p:txBody>
      </p:sp>
      <p:sp>
        <p:nvSpPr>
          <p:cNvPr id="146" name="Rounded Rectangle 145"/>
          <p:cNvSpPr/>
          <p:nvPr/>
        </p:nvSpPr>
        <p:spPr>
          <a:xfrm>
            <a:off x="8037575" y="1600200"/>
            <a:ext cx="3172968" cy="1645920"/>
          </a:xfrm>
          <a:prstGeom prst="roundRect">
            <a:avLst>
              <a:gd name="adj" fmla="val 4444"/>
            </a:avLst>
          </a:prstGeom>
          <a:solidFill>
            <a:srgbClr val="F5F3FC"/>
          </a:solidFill>
          <a:ln>
            <a:noFill/>
          </a:ln>
          <a:effectLst/>
        </p:spPr>
        <p:txBody>
          <a:bodyPr rtlCol="0" anchor="ctr"/>
          <a:lstStyle/>
          <a:p/>
        </p:txBody>
      </p:sp>
      <p:sp>
        <p:nvSpPr>
          <p:cNvPr id="147" name="Oval 146"/>
          <p:cNvSpPr/>
          <p:nvPr/>
        </p:nvSpPr>
        <p:spPr>
          <a:xfrm>
            <a:off x="8238744" y="1801368"/>
            <a:ext cx="502920" cy="502920"/>
          </a:xfrm>
          <a:prstGeom prst="ellipse">
            <a:avLst/>
          </a:prstGeom>
          <a:solidFill>
            <a:srgbClr val="14142B"/>
          </a:solidFill>
          <a:ln>
            <a:noFill/>
          </a:ln>
          <a:effectLst/>
        </p:spPr>
        <p:txBody>
          <a:bodyPr rtlCol="0" anchor="ctr"/>
          <a:lstStyle/>
          <a:p/>
        </p:txBody>
      </p:sp>
      <p:pic>
        <p:nvPicPr>
          <p:cNvPr id="148" name="Picture 147" descr="MdAccessibilityNew_FFFFFF.png"/>
          <p:cNvPicPr>
            <a:picLocks noChangeAspect="1"/>
          </p:cNvPicPr>
          <p:nvPr/>
        </p:nvPicPr>
        <p:blipFill>
          <a:blip r:embed="rId5"/>
          <a:stretch>
            <a:fillRect/>
          </a:stretch>
        </p:blipFill>
        <p:spPr>
          <a:xfrm>
            <a:off x="8349386" y="1912010"/>
            <a:ext cx="281635" cy="281635"/>
          </a:xfrm>
          <a:prstGeom prst="rect">
            <a:avLst/>
          </a:prstGeom>
        </p:spPr>
      </p:pic>
      <p:sp>
        <p:nvSpPr>
          <p:cNvPr id="149" name="TextBox 148"/>
          <p:cNvSpPr txBox="1"/>
          <p:nvPr/>
        </p:nvSpPr>
        <p:spPr>
          <a:xfrm>
            <a:off x="8860536"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Accessibility</a:t>
            </a:r>
          </a:p>
        </p:txBody>
      </p:sp>
      <p:sp>
        <p:nvSpPr>
          <p:cNvPr id="150" name="TextBox 149"/>
          <p:cNvSpPr txBox="1"/>
          <p:nvPr/>
        </p:nvSpPr>
        <p:spPr>
          <a:xfrm>
            <a:off x="8238744"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For people who find many small taps hard, one sentence replaces a whole flow — and it asks rather than guesses.</a:t>
            </a:r>
          </a:p>
        </p:txBody>
      </p:sp>
      <p:sp>
        <p:nvSpPr>
          <p:cNvPr id="151" name="Rounded Rectangle 150"/>
          <p:cNvSpPr/>
          <p:nvPr/>
        </p:nvSpPr>
        <p:spPr>
          <a:xfrm>
            <a:off x="4727448" y="3383280"/>
            <a:ext cx="3172968" cy="1645920"/>
          </a:xfrm>
          <a:prstGeom prst="roundRect">
            <a:avLst>
              <a:gd name="adj" fmla="val 4444"/>
            </a:avLst>
          </a:prstGeom>
          <a:solidFill>
            <a:srgbClr val="F5F3FC"/>
          </a:solidFill>
          <a:ln>
            <a:noFill/>
          </a:ln>
          <a:effectLst/>
        </p:spPr>
        <p:txBody>
          <a:bodyPr rtlCol="0" anchor="ctr"/>
          <a:lstStyle/>
          <a:p/>
        </p:txBody>
      </p:sp>
      <p:sp>
        <p:nvSpPr>
          <p:cNvPr id="152" name="Oval 151"/>
          <p:cNvSpPr/>
          <p:nvPr/>
        </p:nvSpPr>
        <p:spPr>
          <a:xfrm>
            <a:off x="4928616" y="3584448"/>
            <a:ext cx="502920" cy="502920"/>
          </a:xfrm>
          <a:prstGeom prst="ellipse">
            <a:avLst/>
          </a:prstGeom>
          <a:solidFill>
            <a:srgbClr val="14142B"/>
          </a:solidFill>
          <a:ln>
            <a:noFill/>
          </a:ln>
          <a:effectLst/>
        </p:spPr>
        <p:txBody>
          <a:bodyPr rtlCol="0" anchor="ctr"/>
          <a:lstStyle/>
          <a:p/>
        </p:txBody>
      </p:sp>
      <p:pic>
        <p:nvPicPr>
          <p:cNvPr id="153" name="Picture 152" descr="MdFamilyRestroom_FFFFFF.png"/>
          <p:cNvPicPr>
            <a:picLocks noChangeAspect="1"/>
          </p:cNvPicPr>
          <p:nvPr/>
        </p:nvPicPr>
        <p:blipFill>
          <a:blip r:embed="rId6"/>
          <a:stretch>
            <a:fillRect/>
          </a:stretch>
        </p:blipFill>
        <p:spPr>
          <a:xfrm>
            <a:off x="5039258" y="3695090"/>
            <a:ext cx="281635" cy="281635"/>
          </a:xfrm>
          <a:prstGeom prst="rect">
            <a:avLst/>
          </a:prstGeom>
        </p:spPr>
      </p:pic>
      <p:sp>
        <p:nvSpPr>
          <p:cNvPr id="154" name="TextBox 153"/>
          <p:cNvSpPr txBox="1"/>
          <p:nvPr/>
        </p:nvSpPr>
        <p:spPr>
          <a:xfrm>
            <a:off x="5550408"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Set up once for family</a:t>
            </a:r>
          </a:p>
        </p:txBody>
      </p:sp>
      <p:sp>
        <p:nvSpPr>
          <p:cNvPr id="155" name="TextBox 154"/>
          <p:cNvSpPr txBox="1"/>
          <p:nvPr/>
        </p:nvSpPr>
        <p:spPr>
          <a:xfrm>
            <a:off x="4928616"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Someone teaches a task once; a parent just says it. It never pays, logs in or picks a personal option alone.</a:t>
            </a:r>
          </a:p>
        </p:txBody>
      </p:sp>
      <p:sp>
        <p:nvSpPr>
          <p:cNvPr id="156" name="Rounded Rectangle 155"/>
          <p:cNvSpPr/>
          <p:nvPr/>
        </p:nvSpPr>
        <p:spPr>
          <a:xfrm>
            <a:off x="8037575" y="3383280"/>
            <a:ext cx="3172968" cy="1645920"/>
          </a:xfrm>
          <a:prstGeom prst="roundRect">
            <a:avLst>
              <a:gd name="adj" fmla="val 4444"/>
            </a:avLst>
          </a:prstGeom>
          <a:solidFill>
            <a:srgbClr val="F5F3FC"/>
          </a:solidFill>
          <a:ln>
            <a:noFill/>
          </a:ln>
          <a:effectLst/>
        </p:spPr>
        <p:txBody>
          <a:bodyPr rtlCol="0" anchor="ctr"/>
          <a:lstStyle/>
          <a:p/>
        </p:txBody>
      </p:sp>
      <p:sp>
        <p:nvSpPr>
          <p:cNvPr id="157" name="Oval 156"/>
          <p:cNvSpPr/>
          <p:nvPr/>
        </p:nvSpPr>
        <p:spPr>
          <a:xfrm>
            <a:off x="8238744" y="3584448"/>
            <a:ext cx="502920" cy="502920"/>
          </a:xfrm>
          <a:prstGeom prst="ellipse">
            <a:avLst/>
          </a:prstGeom>
          <a:solidFill>
            <a:srgbClr val="0E9F6E"/>
          </a:solidFill>
          <a:ln>
            <a:noFill/>
          </a:ln>
          <a:effectLst/>
        </p:spPr>
        <p:txBody>
          <a:bodyPr rtlCol="0" anchor="ctr"/>
          <a:lstStyle/>
          <a:p/>
        </p:txBody>
      </p:sp>
      <p:pic>
        <p:nvPicPr>
          <p:cNvPr id="158" name="Picture 157" descr="MdTranslate_FFFFFF.png"/>
          <p:cNvPicPr>
            <a:picLocks noChangeAspect="1"/>
          </p:cNvPicPr>
          <p:nvPr/>
        </p:nvPicPr>
        <p:blipFill>
          <a:blip r:embed="rId7"/>
          <a:stretch>
            <a:fillRect/>
          </a:stretch>
        </p:blipFill>
        <p:spPr>
          <a:xfrm>
            <a:off x="8349386" y="3695090"/>
            <a:ext cx="281635" cy="281635"/>
          </a:xfrm>
          <a:prstGeom prst="rect">
            <a:avLst/>
          </a:prstGeom>
        </p:spPr>
      </p:pic>
      <p:sp>
        <p:nvSpPr>
          <p:cNvPr id="159" name="TextBox 158"/>
          <p:cNvSpPr txBox="1"/>
          <p:nvPr/>
        </p:nvSpPr>
        <p:spPr>
          <a:xfrm>
            <a:off x="8860536"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Built for India</a:t>
            </a:r>
          </a:p>
        </p:txBody>
      </p:sp>
      <p:sp>
        <p:nvSpPr>
          <p:cNvPr id="160" name="TextBox 159"/>
          <p:cNvSpPr txBox="1"/>
          <p:nvPr/>
        </p:nvSpPr>
        <p:spPr>
          <a:xfrm>
            <a:off x="8238744"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Hinglish commands work (“amazon pe pencil box search karke…”); the guard knows Hindi payment and login phrases.</a:t>
            </a:r>
          </a:p>
        </p:txBody>
      </p:sp>
      <p:sp>
        <p:nvSpPr>
          <p:cNvPr id="161" name="Rounded Rectangle 160"/>
          <p:cNvSpPr/>
          <p:nvPr/>
        </p:nvSpPr>
        <p:spPr>
          <a:xfrm>
            <a:off x="4727448" y="5212080"/>
            <a:ext cx="6483096" cy="914400"/>
          </a:xfrm>
          <a:prstGeom prst="roundRect">
            <a:avLst>
              <a:gd name="adj" fmla="val 8000"/>
            </a:avLst>
          </a:prstGeom>
          <a:solidFill>
            <a:srgbClr val="FFFFFF"/>
          </a:solidFill>
          <a:ln w="12700">
            <a:solidFill>
              <a:srgbClr val="D9D3F0"/>
            </a:solidFill>
          </a:ln>
          <a:effectLst/>
        </p:spPr>
        <p:txBody>
          <a:bodyPr rtlCol="0" anchor="ctr"/>
          <a:lstStyle/>
          <a:p/>
        </p:txBody>
      </p:sp>
      <p:sp>
        <p:nvSpPr>
          <p:cNvPr id="162" name="TextBox 161"/>
          <p:cNvSpPr txBox="1"/>
          <p:nvPr/>
        </p:nvSpPr>
        <p:spPr>
          <a:xfrm>
            <a:off x="4956048" y="5212080"/>
            <a:ext cx="6035040" cy="914400"/>
          </a:xfrm>
          <a:prstGeom prst="rect">
            <a:avLst/>
          </a:prstGeom>
          <a:noFill/>
        </p:spPr>
        <p:txBody>
          <a:bodyPr wrap="square" lIns="0" rIns="0" tIns="0" bIns="0" anchor="ctr">
            <a:spAutoFit/>
          </a:bodyPr>
          <a:lstStyle/>
          <a:p>
            <a:pPr algn="l"/>
            <a:r>
              <a:rPr sz="1250" b="1" i="0">
                <a:solidFill>
                  <a:srgbClr val="6D28D9"/>
                </a:solidFill>
                <a:latin typeface="Calibri"/>
              </a:rPr>
              <a:t>As a worklet: </a:t>
            </a:r>
            <a:r>
              <a:rPr sz="1250" b="0" i="0">
                <a:solidFill>
                  <a:srgbClr val="1F2037"/>
                </a:solidFill>
                <a:latin typeface="Calibri"/>
              </a:rPr>
              <a:t>a Galaxy assistant that learns in-app tasks from its own user, through the accessibility layer every app already has — no partner integration, and the user stays in charge of money and logins.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Innovation highlights, results and limitations</a:t>
            </a:r>
            <a:endParaRPr b="1" sz="4400">
              <a:solidFill>
                <a:srgbClr val="704EA6"/>
              </a:solidFill>
            </a:endParaRPr>
          </a:p>
        </p:txBody>
      </p:sp>
      <p:sp>
        <p:nvSpPr>
          <p:cNvPr id="138" name="TextBox 137"/>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INNOVATION HIGHLIGHTS · SIX IDEAS THAT MAKE A ONE-SHOT DEMO DEPENDABLE</a:t>
            </a:r>
          </a:p>
        </p:txBody>
      </p:sp>
      <p:sp>
        <p:nvSpPr>
          <p:cNvPr id="139" name="Rounded Rectangle 138"/>
          <p:cNvSpPr/>
          <p:nvPr/>
        </p:nvSpPr>
        <p:spPr>
          <a:xfrm>
            <a:off x="932688" y="1874519"/>
            <a:ext cx="3310128" cy="2103120"/>
          </a:xfrm>
          <a:prstGeom prst="roundRect">
            <a:avLst>
              <a:gd name="adj" fmla="val 3478"/>
            </a:avLst>
          </a:prstGeom>
          <a:solidFill>
            <a:srgbClr val="F5F3FC"/>
          </a:solidFill>
          <a:ln>
            <a:noFill/>
          </a:ln>
          <a:effectLst/>
        </p:spPr>
        <p:txBody>
          <a:bodyPr rtlCol="0" anchor="ctr"/>
          <a:lstStyle/>
          <a:p/>
        </p:txBody>
      </p:sp>
      <p:sp>
        <p:nvSpPr>
          <p:cNvPr id="140" name="Oval 139"/>
          <p:cNvSpPr/>
          <p:nvPr/>
        </p:nvSpPr>
        <p:spPr>
          <a:xfrm>
            <a:off x="1161288" y="2103120"/>
            <a:ext cx="566928" cy="566928"/>
          </a:xfrm>
          <a:prstGeom prst="ellipse">
            <a:avLst/>
          </a:prstGeom>
          <a:solidFill>
            <a:srgbClr val="14142B"/>
          </a:solidFill>
          <a:ln>
            <a:noFill/>
          </a:ln>
          <a:effectLst/>
        </p:spPr>
        <p:txBody>
          <a:bodyPr rtlCol="0" anchor="ctr"/>
          <a:lstStyle/>
          <a:p/>
        </p:txBody>
      </p:sp>
      <p:pic>
        <p:nvPicPr>
          <p:cNvPr id="141" name="Picture 140" descr="MdTouchApp_FFFFFF.png"/>
          <p:cNvPicPr>
            <a:picLocks noChangeAspect="1"/>
          </p:cNvPicPr>
          <p:nvPr/>
        </p:nvPicPr>
        <p:blipFill>
          <a:blip r:embed="rId3"/>
          <a:stretch>
            <a:fillRect/>
          </a:stretch>
        </p:blipFill>
        <p:spPr>
          <a:xfrm>
            <a:off x="1286012" y="2227844"/>
            <a:ext cx="317479" cy="317479"/>
          </a:xfrm>
          <a:prstGeom prst="rect">
            <a:avLst/>
          </a:prstGeom>
        </p:spPr>
      </p:pic>
      <p:sp>
        <p:nvSpPr>
          <p:cNvPr id="142" name="TextBox 141"/>
          <p:cNvSpPr txBox="1"/>
          <p:nvPr/>
        </p:nvSpPr>
        <p:spPr>
          <a:xfrm>
            <a:off x="1865376" y="2103120"/>
            <a:ext cx="2212848" cy="566928"/>
          </a:xfrm>
          <a:prstGeom prst="rect">
            <a:avLst/>
          </a:prstGeom>
          <a:noFill/>
        </p:spPr>
        <p:txBody>
          <a:bodyPr wrap="square" lIns="0" rIns="0" tIns="0" bIns="0" anchor="ctr">
            <a:spAutoFit/>
          </a:bodyPr>
          <a:lstStyle/>
          <a:p>
            <a:pPr algn="l"/>
            <a:r>
              <a:rPr sz="1450" b="1" i="0">
                <a:solidFill>
                  <a:srgbClr val="14142B"/>
                </a:solidFill>
                <a:latin typeface="Arial"/>
              </a:rPr>
              <a:t>Tap capture that works everywhere</a:t>
            </a:r>
          </a:p>
        </p:txBody>
      </p:sp>
      <p:sp>
        <p:nvSpPr>
          <p:cNvPr id="143" name="TextBox 142"/>
          <p:cNvSpPr txBox="1"/>
          <p:nvPr/>
        </p:nvSpPr>
        <p:spPr>
          <a:xfrm>
            <a:off x="1161288" y="2834639"/>
            <a:ext cx="2898648" cy="1051560"/>
          </a:xfrm>
          <a:prstGeom prst="rect">
            <a:avLst/>
          </a:prstGeom>
          <a:noFill/>
        </p:spPr>
        <p:txBody>
          <a:bodyPr wrap="square" lIns="0" rIns="0" tIns="0" bIns="0" anchor="t">
            <a:spAutoFit/>
          </a:bodyPr>
          <a:lstStyle/>
          <a:p>
            <a:pPr algn="l"/>
            <a:r>
              <a:rPr sz="1250" b="0" i="0">
                <a:solidFill>
                  <a:srgbClr val="5B5F77"/>
                </a:solidFill>
                <a:latin typeface="Calibri"/>
              </a:rPr>
              <a:t>Our own transparent overlay hit-tests every touch against the UI tree, so taps are recorded even where apps send no accessibility events.</a:t>
            </a:r>
          </a:p>
        </p:txBody>
      </p:sp>
      <p:sp>
        <p:nvSpPr>
          <p:cNvPr id="144" name="Rounded Rectangle 143"/>
          <p:cNvSpPr/>
          <p:nvPr/>
        </p:nvSpPr>
        <p:spPr>
          <a:xfrm>
            <a:off x="4443984" y="1874519"/>
            <a:ext cx="3310128" cy="2103120"/>
          </a:xfrm>
          <a:prstGeom prst="roundRect">
            <a:avLst>
              <a:gd name="adj" fmla="val 3478"/>
            </a:avLst>
          </a:prstGeom>
          <a:solidFill>
            <a:srgbClr val="F5F3FC"/>
          </a:solidFill>
          <a:ln>
            <a:noFill/>
          </a:ln>
          <a:effectLst/>
        </p:spPr>
        <p:txBody>
          <a:bodyPr rtlCol="0" anchor="ctr"/>
          <a:lstStyle/>
          <a:p/>
        </p:txBody>
      </p:sp>
      <p:sp>
        <p:nvSpPr>
          <p:cNvPr id="145" name="Oval 144"/>
          <p:cNvSpPr/>
          <p:nvPr/>
        </p:nvSpPr>
        <p:spPr>
          <a:xfrm>
            <a:off x="4672584" y="2103120"/>
            <a:ext cx="566928" cy="566928"/>
          </a:xfrm>
          <a:prstGeom prst="ellipse">
            <a:avLst/>
          </a:prstGeom>
          <a:solidFill>
            <a:srgbClr val="0E9F6E"/>
          </a:solidFill>
          <a:ln>
            <a:noFill/>
          </a:ln>
          <a:effectLst/>
        </p:spPr>
        <p:txBody>
          <a:bodyPr rtlCol="0" anchor="ctr"/>
          <a:lstStyle/>
          <a:p/>
        </p:txBody>
      </p:sp>
      <p:pic>
        <p:nvPicPr>
          <p:cNvPr id="146" name="Picture 145" descr="MdBolt_FFFFFF.png"/>
          <p:cNvPicPr>
            <a:picLocks noChangeAspect="1"/>
          </p:cNvPicPr>
          <p:nvPr/>
        </p:nvPicPr>
        <p:blipFill>
          <a:blip r:embed="rId4"/>
          <a:stretch>
            <a:fillRect/>
          </a:stretch>
        </p:blipFill>
        <p:spPr>
          <a:xfrm>
            <a:off x="4797308" y="2227844"/>
            <a:ext cx="317479" cy="317479"/>
          </a:xfrm>
          <a:prstGeom prst="rect">
            <a:avLst/>
          </a:prstGeom>
        </p:spPr>
      </p:pic>
      <p:sp>
        <p:nvSpPr>
          <p:cNvPr id="147" name="TextBox 146"/>
          <p:cNvSpPr txBox="1"/>
          <p:nvPr/>
        </p:nvSpPr>
        <p:spPr>
          <a:xfrm>
            <a:off x="5376672" y="2103120"/>
            <a:ext cx="2212848" cy="566928"/>
          </a:xfrm>
          <a:prstGeom prst="rect">
            <a:avLst/>
          </a:prstGeom>
          <a:noFill/>
        </p:spPr>
        <p:txBody>
          <a:bodyPr wrap="square" lIns="0" rIns="0" tIns="0" bIns="0" anchor="ctr">
            <a:spAutoFit/>
          </a:bodyPr>
          <a:lstStyle/>
          <a:p>
            <a:pPr algn="l"/>
            <a:r>
              <a:rPr sz="1450" b="1" i="0">
                <a:solidFill>
                  <a:srgbClr val="14142B"/>
                </a:solidFill>
                <a:latin typeface="Arial"/>
              </a:rPr>
              <a:t>The model only where it’s needed</a:t>
            </a:r>
          </a:p>
        </p:txBody>
      </p:sp>
      <p:sp>
        <p:nvSpPr>
          <p:cNvPr id="148" name="TextBox 147"/>
          <p:cNvSpPr txBox="1"/>
          <p:nvPr/>
        </p:nvSpPr>
        <p:spPr>
          <a:xfrm>
            <a:off x="4672584" y="2834639"/>
            <a:ext cx="2898648" cy="1051560"/>
          </a:xfrm>
          <a:prstGeom prst="rect">
            <a:avLst/>
          </a:prstGeom>
          <a:noFill/>
        </p:spPr>
        <p:txBody>
          <a:bodyPr wrap="square" lIns="0" rIns="0" tIns="0" bIns="0" anchor="t">
            <a:spAutoFit/>
          </a:bodyPr>
          <a:lstStyle/>
          <a:p>
            <a:pPr algn="l"/>
            <a:r>
              <a:rPr sz="1250" b="0" i="0">
                <a:solidFill>
                  <a:srgbClr val="5B5F77"/>
                </a:solidFill>
                <a:latin typeface="Calibri"/>
              </a:rPr>
              <a:t>Known screens replay with a scored matcher: fast, free, deterministic. Exact commands work with no network at all.</a:t>
            </a:r>
          </a:p>
        </p:txBody>
      </p:sp>
      <p:sp>
        <p:nvSpPr>
          <p:cNvPr id="149" name="Rounded Rectangle 148"/>
          <p:cNvSpPr/>
          <p:nvPr/>
        </p:nvSpPr>
        <p:spPr>
          <a:xfrm>
            <a:off x="7955280" y="1874519"/>
            <a:ext cx="3310128" cy="2103120"/>
          </a:xfrm>
          <a:prstGeom prst="roundRect">
            <a:avLst>
              <a:gd name="adj" fmla="val 3478"/>
            </a:avLst>
          </a:prstGeom>
          <a:solidFill>
            <a:srgbClr val="F5F3FC"/>
          </a:solidFill>
          <a:ln>
            <a:noFill/>
          </a:ln>
          <a:effectLst/>
        </p:spPr>
        <p:txBody>
          <a:bodyPr rtlCol="0" anchor="ctr"/>
          <a:lstStyle/>
          <a:p/>
        </p:txBody>
      </p:sp>
      <p:sp>
        <p:nvSpPr>
          <p:cNvPr id="150" name="Oval 149"/>
          <p:cNvSpPr/>
          <p:nvPr/>
        </p:nvSpPr>
        <p:spPr>
          <a:xfrm>
            <a:off x="8183880" y="2103120"/>
            <a:ext cx="566928" cy="566928"/>
          </a:xfrm>
          <a:prstGeom prst="ellipse">
            <a:avLst/>
          </a:prstGeom>
          <a:solidFill>
            <a:srgbClr val="14142B"/>
          </a:solidFill>
          <a:ln>
            <a:noFill/>
          </a:ln>
          <a:effectLst/>
        </p:spPr>
        <p:txBody>
          <a:bodyPr rtlCol="0" anchor="ctr"/>
          <a:lstStyle/>
          <a:p/>
        </p:txBody>
      </p:sp>
      <p:pic>
        <p:nvPicPr>
          <p:cNvPr id="151" name="Picture 150" descr="MdVerifiedUser_FFFFFF.png"/>
          <p:cNvPicPr>
            <a:picLocks noChangeAspect="1"/>
          </p:cNvPicPr>
          <p:nvPr/>
        </p:nvPicPr>
        <p:blipFill>
          <a:blip r:embed="rId5"/>
          <a:stretch>
            <a:fillRect/>
          </a:stretch>
        </p:blipFill>
        <p:spPr>
          <a:xfrm>
            <a:off x="8308604" y="2227844"/>
            <a:ext cx="317479" cy="317479"/>
          </a:xfrm>
          <a:prstGeom prst="rect">
            <a:avLst/>
          </a:prstGeom>
        </p:spPr>
      </p:pic>
      <p:sp>
        <p:nvSpPr>
          <p:cNvPr id="152" name="TextBox 151"/>
          <p:cNvSpPr txBox="1"/>
          <p:nvPr/>
        </p:nvSpPr>
        <p:spPr>
          <a:xfrm>
            <a:off x="8887968" y="2103120"/>
            <a:ext cx="2212848" cy="566928"/>
          </a:xfrm>
          <a:prstGeom prst="rect">
            <a:avLst/>
          </a:prstGeom>
          <a:noFill/>
        </p:spPr>
        <p:txBody>
          <a:bodyPr wrap="square" lIns="0" rIns="0" tIns="0" bIns="0" anchor="ctr">
            <a:spAutoFit/>
          </a:bodyPr>
          <a:lstStyle/>
          <a:p>
            <a:pPr algn="l"/>
            <a:r>
              <a:rPr sz="1450" b="1" i="0">
                <a:solidFill>
                  <a:srgbClr val="14142B"/>
                </a:solidFill>
                <a:latin typeface="Arial"/>
              </a:rPr>
              <a:t>Proof-checked steps</a:t>
            </a:r>
          </a:p>
        </p:txBody>
      </p:sp>
      <p:sp>
        <p:nvSpPr>
          <p:cNvPr id="153" name="TextBox 152"/>
          <p:cNvSpPr txBox="1"/>
          <p:nvPr/>
        </p:nvSpPr>
        <p:spPr>
          <a:xfrm>
            <a:off x="8183880" y="2834639"/>
            <a:ext cx="2898648" cy="1051560"/>
          </a:xfrm>
          <a:prstGeom prst="rect">
            <a:avLst/>
          </a:prstGeom>
          <a:noFill/>
        </p:spPr>
        <p:txBody>
          <a:bodyPr wrap="square" lIns="0" rIns="0" tIns="0" bIns="0" anchor="t">
            <a:spAutoFit/>
          </a:bodyPr>
          <a:lstStyle/>
          <a:p>
            <a:pPr algn="l"/>
            <a:r>
              <a:rPr sz="1250" b="0" i="0">
                <a:solidFill>
                  <a:srgbClr val="5B5F77"/>
                </a:solidFill>
                <a:latin typeface="Calibri"/>
              </a:rPr>
              <a:t>“Done” needs evidence on screen — the cart count, a quantity stepper, the dish’s name, the next button.</a:t>
            </a:r>
          </a:p>
        </p:txBody>
      </p:sp>
      <p:sp>
        <p:nvSpPr>
          <p:cNvPr id="154" name="Rounded Rectangle 153"/>
          <p:cNvSpPr/>
          <p:nvPr/>
        </p:nvSpPr>
        <p:spPr>
          <a:xfrm>
            <a:off x="932688" y="4206240"/>
            <a:ext cx="3310128" cy="2103120"/>
          </a:xfrm>
          <a:prstGeom prst="roundRect">
            <a:avLst>
              <a:gd name="adj" fmla="val 3478"/>
            </a:avLst>
          </a:prstGeom>
          <a:solidFill>
            <a:srgbClr val="F5F3FC"/>
          </a:solidFill>
          <a:ln>
            <a:noFill/>
          </a:ln>
          <a:effectLst/>
        </p:spPr>
        <p:txBody>
          <a:bodyPr rtlCol="0" anchor="ctr"/>
          <a:lstStyle/>
          <a:p/>
        </p:txBody>
      </p:sp>
      <p:sp>
        <p:nvSpPr>
          <p:cNvPr id="155" name="Oval 154"/>
          <p:cNvSpPr/>
          <p:nvPr/>
        </p:nvSpPr>
        <p:spPr>
          <a:xfrm>
            <a:off x="1161288" y="4434840"/>
            <a:ext cx="566928" cy="566928"/>
          </a:xfrm>
          <a:prstGeom prst="ellipse">
            <a:avLst/>
          </a:prstGeom>
          <a:solidFill>
            <a:srgbClr val="14142B"/>
          </a:solidFill>
          <a:ln>
            <a:noFill/>
          </a:ln>
          <a:effectLst/>
        </p:spPr>
        <p:txBody>
          <a:bodyPr rtlCol="0" anchor="ctr"/>
          <a:lstStyle/>
          <a:p/>
        </p:txBody>
      </p:sp>
      <p:pic>
        <p:nvPicPr>
          <p:cNvPr id="156" name="Picture 155" descr="MdCleaningServices_FFFFFF.png"/>
          <p:cNvPicPr>
            <a:picLocks noChangeAspect="1"/>
          </p:cNvPicPr>
          <p:nvPr/>
        </p:nvPicPr>
        <p:blipFill>
          <a:blip r:embed="rId6"/>
          <a:stretch>
            <a:fillRect/>
          </a:stretch>
        </p:blipFill>
        <p:spPr>
          <a:xfrm>
            <a:off x="1286012" y="4559564"/>
            <a:ext cx="317479" cy="317479"/>
          </a:xfrm>
          <a:prstGeom prst="rect">
            <a:avLst/>
          </a:prstGeom>
        </p:spPr>
      </p:pic>
      <p:sp>
        <p:nvSpPr>
          <p:cNvPr id="157" name="TextBox 156"/>
          <p:cNvSpPr txBox="1"/>
          <p:nvPr/>
        </p:nvSpPr>
        <p:spPr>
          <a:xfrm>
            <a:off x="1865376" y="4434840"/>
            <a:ext cx="2212848" cy="566928"/>
          </a:xfrm>
          <a:prstGeom prst="rect">
            <a:avLst/>
          </a:prstGeom>
          <a:noFill/>
        </p:spPr>
        <p:txBody>
          <a:bodyPr wrap="square" lIns="0" rIns="0" tIns="0" bIns="0" anchor="ctr">
            <a:spAutoFit/>
          </a:bodyPr>
          <a:lstStyle/>
          <a:p>
            <a:pPr algn="l"/>
            <a:r>
              <a:rPr sz="1450" b="1" i="0">
                <a:solidFill>
                  <a:srgbClr val="14142B"/>
                </a:solidFill>
                <a:latin typeface="Arial"/>
              </a:rPr>
              <a:t>Clean tasks from messy demos</a:t>
            </a:r>
          </a:p>
        </p:txBody>
      </p:sp>
      <p:sp>
        <p:nvSpPr>
          <p:cNvPr id="158" name="TextBox 157"/>
          <p:cNvSpPr txBox="1"/>
          <p:nvPr/>
        </p:nvSpPr>
        <p:spPr>
          <a:xfrm>
            <a:off x="1161288" y="5166359"/>
            <a:ext cx="2898648" cy="1051560"/>
          </a:xfrm>
          <a:prstGeom prst="rect">
            <a:avLst/>
          </a:prstGeom>
          <a:noFill/>
        </p:spPr>
        <p:txBody>
          <a:bodyPr wrap="square" lIns="0" rIns="0" tIns="0" bIns="0" anchor="t">
            <a:spAutoFit/>
          </a:bodyPr>
          <a:lstStyle/>
          <a:p>
            <a:pPr algn="l"/>
            <a:r>
              <a:rPr sz="1250" b="0" i="0">
                <a:solidFill>
                  <a:srgbClr val="5B5F77"/>
                </a:solidFill>
                <a:latin typeface="Calibri"/>
              </a:rPr>
              <a:t>Mis-taps, an answered call, an unneeded filter or pop-up are dropped from what it learns.</a:t>
            </a:r>
          </a:p>
        </p:txBody>
      </p:sp>
      <p:sp>
        <p:nvSpPr>
          <p:cNvPr id="159" name="Rounded Rectangle 158"/>
          <p:cNvSpPr/>
          <p:nvPr/>
        </p:nvSpPr>
        <p:spPr>
          <a:xfrm>
            <a:off x="4443984" y="4206240"/>
            <a:ext cx="3310128" cy="2103120"/>
          </a:xfrm>
          <a:prstGeom prst="roundRect">
            <a:avLst>
              <a:gd name="adj" fmla="val 3478"/>
            </a:avLst>
          </a:prstGeom>
          <a:solidFill>
            <a:srgbClr val="F5F3FC"/>
          </a:solidFill>
          <a:ln>
            <a:noFill/>
          </a:ln>
          <a:effectLst/>
        </p:spPr>
        <p:txBody>
          <a:bodyPr rtlCol="0" anchor="ctr"/>
          <a:lstStyle/>
          <a:p/>
        </p:txBody>
      </p:sp>
      <p:sp>
        <p:nvSpPr>
          <p:cNvPr id="160" name="Oval 159"/>
          <p:cNvSpPr/>
          <p:nvPr/>
        </p:nvSpPr>
        <p:spPr>
          <a:xfrm>
            <a:off x="4672584" y="4434840"/>
            <a:ext cx="566928" cy="566928"/>
          </a:xfrm>
          <a:prstGeom prst="ellipse">
            <a:avLst/>
          </a:prstGeom>
          <a:solidFill>
            <a:srgbClr val="6D28D9"/>
          </a:solidFill>
          <a:ln>
            <a:noFill/>
          </a:ln>
          <a:effectLst/>
        </p:spPr>
        <p:txBody>
          <a:bodyPr rtlCol="0" anchor="ctr"/>
          <a:lstStyle/>
          <a:p/>
        </p:txBody>
      </p:sp>
      <p:pic>
        <p:nvPicPr>
          <p:cNvPr id="161" name="Picture 160" descr="MdApps_FFFFFF.png"/>
          <p:cNvPicPr>
            <a:picLocks noChangeAspect="1"/>
          </p:cNvPicPr>
          <p:nvPr/>
        </p:nvPicPr>
        <p:blipFill>
          <a:blip r:embed="rId7"/>
          <a:stretch>
            <a:fillRect/>
          </a:stretch>
        </p:blipFill>
        <p:spPr>
          <a:xfrm>
            <a:off x="4797308" y="4559564"/>
            <a:ext cx="317479" cy="317479"/>
          </a:xfrm>
          <a:prstGeom prst="rect">
            <a:avLst/>
          </a:prstGeom>
        </p:spPr>
      </p:pic>
      <p:sp>
        <p:nvSpPr>
          <p:cNvPr id="162" name="TextBox 161"/>
          <p:cNvSpPr txBox="1"/>
          <p:nvPr/>
        </p:nvSpPr>
        <p:spPr>
          <a:xfrm>
            <a:off x="5376672" y="4434840"/>
            <a:ext cx="2212848" cy="566928"/>
          </a:xfrm>
          <a:prstGeom prst="rect">
            <a:avLst/>
          </a:prstGeom>
          <a:noFill/>
        </p:spPr>
        <p:txBody>
          <a:bodyPr wrap="square" lIns="0" rIns="0" tIns="0" bIns="0" anchor="ctr">
            <a:spAutoFit/>
          </a:bodyPr>
          <a:lstStyle/>
          <a:p>
            <a:pPr algn="l"/>
            <a:r>
              <a:rPr sz="1450" b="1" i="0">
                <a:solidFill>
                  <a:srgbClr val="14142B"/>
                </a:solidFill>
                <a:latin typeface="Arial"/>
              </a:rPr>
              <a:t>One demo, similar apps</a:t>
            </a:r>
          </a:p>
        </p:txBody>
      </p:sp>
      <p:sp>
        <p:nvSpPr>
          <p:cNvPr id="163" name="TextBox 162"/>
          <p:cNvSpPr txBox="1"/>
          <p:nvPr/>
        </p:nvSpPr>
        <p:spPr>
          <a:xfrm>
            <a:off x="4672584" y="5166359"/>
            <a:ext cx="2898648" cy="1051560"/>
          </a:xfrm>
          <a:prstGeom prst="rect">
            <a:avLst/>
          </a:prstGeom>
          <a:noFill/>
        </p:spPr>
        <p:txBody>
          <a:bodyPr wrap="square" lIns="0" rIns="0" tIns="0" bIns="0" anchor="t">
            <a:spAutoFit/>
          </a:bodyPr>
          <a:lstStyle/>
          <a:p>
            <a:pPr algn="l"/>
            <a:r>
              <a:rPr sz="1250" b="0" i="0">
                <a:solidFill>
                  <a:srgbClr val="5B5F77"/>
                </a:solidFill>
                <a:latin typeface="Calibri"/>
              </a:rPr>
              <a:t>The Amazon task runs on Myntra: it finds “Add to Bag”, skips “AD” tiles and asks for your size.</a:t>
            </a:r>
          </a:p>
        </p:txBody>
      </p:sp>
      <p:sp>
        <p:nvSpPr>
          <p:cNvPr id="164" name="Rounded Rectangle 163"/>
          <p:cNvSpPr/>
          <p:nvPr/>
        </p:nvSpPr>
        <p:spPr>
          <a:xfrm>
            <a:off x="7955280" y="4206240"/>
            <a:ext cx="3310128" cy="2103120"/>
          </a:xfrm>
          <a:prstGeom prst="roundRect">
            <a:avLst>
              <a:gd name="adj" fmla="val 3478"/>
            </a:avLst>
          </a:prstGeom>
          <a:solidFill>
            <a:srgbClr val="F5F3FC"/>
          </a:solidFill>
          <a:ln>
            <a:noFill/>
          </a:ln>
          <a:effectLst/>
        </p:spPr>
        <p:txBody>
          <a:bodyPr rtlCol="0" anchor="ctr"/>
          <a:lstStyle/>
          <a:p/>
        </p:txBody>
      </p:sp>
      <p:sp>
        <p:nvSpPr>
          <p:cNvPr id="165" name="Oval 164"/>
          <p:cNvSpPr/>
          <p:nvPr/>
        </p:nvSpPr>
        <p:spPr>
          <a:xfrm>
            <a:off x="8183880" y="4434840"/>
            <a:ext cx="566928" cy="566928"/>
          </a:xfrm>
          <a:prstGeom prst="ellipse">
            <a:avLst/>
          </a:prstGeom>
          <a:solidFill>
            <a:srgbClr val="14142B"/>
          </a:solidFill>
          <a:ln>
            <a:noFill/>
          </a:ln>
          <a:effectLst/>
        </p:spPr>
        <p:txBody>
          <a:bodyPr rtlCol="0" anchor="ctr"/>
          <a:lstStyle/>
          <a:p/>
        </p:txBody>
      </p:sp>
      <p:pic>
        <p:nvPicPr>
          <p:cNvPr id="166" name="Picture 165" descr="MdHelpOutline_FFFFFF.png"/>
          <p:cNvPicPr>
            <a:picLocks noChangeAspect="1"/>
          </p:cNvPicPr>
          <p:nvPr/>
        </p:nvPicPr>
        <p:blipFill>
          <a:blip r:embed="rId8"/>
          <a:stretch>
            <a:fillRect/>
          </a:stretch>
        </p:blipFill>
        <p:spPr>
          <a:xfrm>
            <a:off x="8308604" y="4559564"/>
            <a:ext cx="317479" cy="317479"/>
          </a:xfrm>
          <a:prstGeom prst="rect">
            <a:avLst/>
          </a:prstGeom>
        </p:spPr>
      </p:pic>
      <p:sp>
        <p:nvSpPr>
          <p:cNvPr id="167" name="TextBox 166"/>
          <p:cNvSpPr txBox="1"/>
          <p:nvPr/>
        </p:nvSpPr>
        <p:spPr>
          <a:xfrm>
            <a:off x="8887968" y="4434840"/>
            <a:ext cx="2212848" cy="566928"/>
          </a:xfrm>
          <a:prstGeom prst="rect">
            <a:avLst/>
          </a:prstGeom>
          <a:noFill/>
        </p:spPr>
        <p:txBody>
          <a:bodyPr wrap="square" lIns="0" rIns="0" tIns="0" bIns="0" anchor="ctr">
            <a:spAutoFit/>
          </a:bodyPr>
          <a:lstStyle/>
          <a:p>
            <a:pPr algn="l"/>
            <a:r>
              <a:rPr sz="1450" b="1" i="0">
                <a:solidFill>
                  <a:srgbClr val="14142B"/>
                </a:solidFill>
                <a:latin typeface="Arial"/>
              </a:rPr>
              <a:t>Asks like a person</a:t>
            </a:r>
          </a:p>
        </p:txBody>
      </p:sp>
      <p:sp>
        <p:nvSpPr>
          <p:cNvPr id="168" name="TextBox 167"/>
          <p:cNvSpPr txBox="1"/>
          <p:nvPr/>
        </p:nvSpPr>
        <p:spPr>
          <a:xfrm>
            <a:off x="8183880" y="5166359"/>
            <a:ext cx="2898648" cy="1051560"/>
          </a:xfrm>
          <a:prstGeom prst="rect">
            <a:avLst/>
          </a:prstGeom>
          <a:noFill/>
        </p:spPr>
        <p:txBody>
          <a:bodyPr wrap="square" lIns="0" rIns="0" tIns="0" bIns="0" anchor="t">
            <a:spAutoFit/>
          </a:bodyPr>
          <a:lstStyle/>
          <a:p>
            <a:pPr algn="l"/>
            <a:r>
              <a:rPr sz="1250" b="0" i="0">
                <a:solidFill>
                  <a:srgbClr val="5B5F77"/>
                </a:solidFill>
                <a:latin typeface="Calibri"/>
              </a:rPr>
              <a:t>One specific question when a value is missing or the choice is personal; a plain-language log of every run.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What’s next</a:t>
            </a:r>
            <a:endParaRPr b="1" sz="4400">
              <a:solidFill>
                <a:srgbClr val="704EA6"/>
              </a:solidFill>
            </a:endParaRPr>
          </a:p>
        </p:txBody>
      </p:sp>
      <p:sp>
        <p:nvSpPr>
          <p:cNvPr id="144" name="Oval 143"/>
          <p:cNvSpPr/>
          <p:nvPr/>
        </p:nvSpPr>
        <p:spPr>
          <a:xfrm>
            <a:off x="932688" y="1645920"/>
            <a:ext cx="603504" cy="603504"/>
          </a:xfrm>
          <a:prstGeom prst="ellipse">
            <a:avLst/>
          </a:prstGeom>
          <a:solidFill>
            <a:srgbClr val="6D28D9"/>
          </a:solidFill>
          <a:ln>
            <a:noFill/>
          </a:ln>
          <a:effectLst/>
        </p:spPr>
        <p:txBody>
          <a:bodyPr rtlCol="0" anchor="ctr"/>
          <a:lstStyle/>
          <a:p/>
        </p:txBody>
      </p:sp>
      <p:pic>
        <p:nvPicPr>
          <p:cNvPr id="145" name="Picture 144" descr="MdMemory_FFFFFF.png"/>
          <p:cNvPicPr>
            <a:picLocks noChangeAspect="1"/>
          </p:cNvPicPr>
          <p:nvPr/>
        </p:nvPicPr>
        <p:blipFill>
          <a:blip r:embed="rId3"/>
          <a:stretch>
            <a:fillRect/>
          </a:stretch>
        </p:blipFill>
        <p:spPr>
          <a:xfrm>
            <a:off x="1065458" y="1778690"/>
            <a:ext cx="337962" cy="337962"/>
          </a:xfrm>
          <a:prstGeom prst="rect">
            <a:avLst/>
          </a:prstGeom>
        </p:spPr>
      </p:pic>
      <p:sp>
        <p:nvSpPr>
          <p:cNvPr id="146" name="TextBox 145"/>
          <p:cNvSpPr txBox="1"/>
          <p:nvPr/>
        </p:nvSpPr>
        <p:spPr>
          <a:xfrm>
            <a:off x="1755648" y="1627632"/>
            <a:ext cx="5394960" cy="347472"/>
          </a:xfrm>
          <a:prstGeom prst="rect">
            <a:avLst/>
          </a:prstGeom>
          <a:noFill/>
        </p:spPr>
        <p:txBody>
          <a:bodyPr wrap="square" lIns="0" rIns="0" tIns="0" bIns="0" anchor="t">
            <a:spAutoFit/>
          </a:bodyPr>
          <a:lstStyle/>
          <a:p>
            <a:pPr algn="l"/>
            <a:r>
              <a:rPr sz="1600" b="1" i="0">
                <a:solidFill>
                  <a:srgbClr val="14142B"/>
                </a:solidFill>
                <a:latin typeface="Arial"/>
              </a:rPr>
              <a:t>On-device model</a:t>
            </a:r>
          </a:p>
        </p:txBody>
      </p:sp>
      <p:sp>
        <p:nvSpPr>
          <p:cNvPr id="147" name="TextBox 146"/>
          <p:cNvSpPr txBox="1"/>
          <p:nvPr/>
        </p:nvSpPr>
        <p:spPr>
          <a:xfrm>
            <a:off x="1755648" y="1993392"/>
            <a:ext cx="5394960" cy="548640"/>
          </a:xfrm>
          <a:prstGeom prst="rect">
            <a:avLst/>
          </a:prstGeom>
          <a:noFill/>
        </p:spPr>
        <p:txBody>
          <a:bodyPr wrap="square" lIns="0" rIns="0" tIns="0" bIns="0" anchor="t">
            <a:spAutoFit/>
          </a:bodyPr>
          <a:lstStyle/>
          <a:p>
            <a:pPr algn="l"/>
            <a:r>
              <a:rPr sz="1300" b="0" i="0">
                <a:solidFill>
                  <a:srgbClr val="5B5F77"/>
                </a:solidFill>
                <a:latin typeface="Calibri"/>
              </a:rPr>
              <a:t>Run matching and single actions on a small on-device model: private, offline, faster.</a:t>
            </a:r>
          </a:p>
        </p:txBody>
      </p:sp>
      <p:sp>
        <p:nvSpPr>
          <p:cNvPr id="148" name="Oval 147"/>
          <p:cNvSpPr/>
          <p:nvPr/>
        </p:nvSpPr>
        <p:spPr>
          <a:xfrm>
            <a:off x="932688" y="2724912"/>
            <a:ext cx="603504" cy="603504"/>
          </a:xfrm>
          <a:prstGeom prst="ellipse">
            <a:avLst/>
          </a:prstGeom>
          <a:solidFill>
            <a:srgbClr val="14142B"/>
          </a:solidFill>
          <a:ln>
            <a:noFill/>
          </a:ln>
          <a:effectLst/>
        </p:spPr>
        <p:txBody>
          <a:bodyPr rtlCol="0" anchor="ctr"/>
          <a:lstStyle/>
          <a:p/>
        </p:txBody>
      </p:sp>
      <p:pic>
        <p:nvPicPr>
          <p:cNvPr id="149" name="Picture 148" descr="MdShare_FFFFFF.png"/>
          <p:cNvPicPr>
            <a:picLocks noChangeAspect="1"/>
          </p:cNvPicPr>
          <p:nvPr/>
        </p:nvPicPr>
        <p:blipFill>
          <a:blip r:embed="rId4"/>
          <a:stretch>
            <a:fillRect/>
          </a:stretch>
        </p:blipFill>
        <p:spPr>
          <a:xfrm>
            <a:off x="1065458" y="2857682"/>
            <a:ext cx="337962" cy="337962"/>
          </a:xfrm>
          <a:prstGeom prst="rect">
            <a:avLst/>
          </a:prstGeom>
        </p:spPr>
      </p:pic>
      <p:sp>
        <p:nvSpPr>
          <p:cNvPr id="150" name="TextBox 149"/>
          <p:cNvSpPr txBox="1"/>
          <p:nvPr/>
        </p:nvSpPr>
        <p:spPr>
          <a:xfrm>
            <a:off x="1755648" y="2706624"/>
            <a:ext cx="5394960" cy="347472"/>
          </a:xfrm>
          <a:prstGeom prst="rect">
            <a:avLst/>
          </a:prstGeom>
          <a:noFill/>
        </p:spPr>
        <p:txBody>
          <a:bodyPr wrap="square" lIns="0" rIns="0" tIns="0" bIns="0" anchor="t">
            <a:spAutoFit/>
          </a:bodyPr>
          <a:lstStyle/>
          <a:p>
            <a:pPr algn="l"/>
            <a:r>
              <a:rPr sz="1600" b="1" i="0">
                <a:solidFill>
                  <a:srgbClr val="14142B"/>
                </a:solidFill>
                <a:latin typeface="Arial"/>
              </a:rPr>
              <a:t>Share what you taught</a:t>
            </a:r>
          </a:p>
        </p:txBody>
      </p:sp>
      <p:sp>
        <p:nvSpPr>
          <p:cNvPr id="151" name="TextBox 150"/>
          <p:cNvSpPr txBox="1"/>
          <p:nvPr/>
        </p:nvSpPr>
        <p:spPr>
          <a:xfrm>
            <a:off x="1755648" y="3072384"/>
            <a:ext cx="5394960" cy="548640"/>
          </a:xfrm>
          <a:prstGeom prst="rect">
            <a:avLst/>
          </a:prstGeom>
          <a:noFill/>
        </p:spPr>
        <p:txBody>
          <a:bodyPr wrap="square" lIns="0" rIns="0" tIns="0" bIns="0" anchor="t">
            <a:spAutoFit/>
          </a:bodyPr>
          <a:lstStyle/>
          <a:p>
            <a:pPr algn="l"/>
            <a:r>
              <a:rPr sz="1300" b="0" i="0">
                <a:solidFill>
                  <a:srgbClr val="5B5F77"/>
                </a:solidFill>
                <a:latin typeface="Calibri"/>
              </a:rPr>
              <a:t>Export a learned task so family or a team can run it without re-teaching.</a:t>
            </a:r>
          </a:p>
        </p:txBody>
      </p:sp>
      <p:sp>
        <p:nvSpPr>
          <p:cNvPr id="152" name="Oval 151"/>
          <p:cNvSpPr/>
          <p:nvPr/>
        </p:nvSpPr>
        <p:spPr>
          <a:xfrm>
            <a:off x="932688" y="3803904"/>
            <a:ext cx="603504" cy="603504"/>
          </a:xfrm>
          <a:prstGeom prst="ellipse">
            <a:avLst/>
          </a:prstGeom>
          <a:solidFill>
            <a:srgbClr val="14142B"/>
          </a:solidFill>
          <a:ln>
            <a:noFill/>
          </a:ln>
          <a:effectLst/>
        </p:spPr>
        <p:txBody>
          <a:bodyPr rtlCol="0" anchor="ctr"/>
          <a:lstStyle/>
          <a:p/>
        </p:txBody>
      </p:sp>
      <p:pic>
        <p:nvPicPr>
          <p:cNvPr id="153" name="Picture 152" descr="MdSchedule_FFFFFF.png"/>
          <p:cNvPicPr>
            <a:picLocks noChangeAspect="1"/>
          </p:cNvPicPr>
          <p:nvPr/>
        </p:nvPicPr>
        <p:blipFill>
          <a:blip r:embed="rId5"/>
          <a:stretch>
            <a:fillRect/>
          </a:stretch>
        </p:blipFill>
        <p:spPr>
          <a:xfrm>
            <a:off x="1065458" y="3936674"/>
            <a:ext cx="337962" cy="337962"/>
          </a:xfrm>
          <a:prstGeom prst="rect">
            <a:avLst/>
          </a:prstGeom>
        </p:spPr>
      </p:pic>
      <p:sp>
        <p:nvSpPr>
          <p:cNvPr id="154" name="TextBox 153"/>
          <p:cNvSpPr txBox="1"/>
          <p:nvPr/>
        </p:nvSpPr>
        <p:spPr>
          <a:xfrm>
            <a:off x="1755648" y="3785616"/>
            <a:ext cx="5394960" cy="347472"/>
          </a:xfrm>
          <a:prstGeom prst="rect">
            <a:avLst/>
          </a:prstGeom>
          <a:noFill/>
        </p:spPr>
        <p:txBody>
          <a:bodyPr wrap="square" lIns="0" rIns="0" tIns="0" bIns="0" anchor="t">
            <a:spAutoFit/>
          </a:bodyPr>
          <a:lstStyle/>
          <a:p>
            <a:pPr algn="l"/>
            <a:r>
              <a:rPr sz="1600" b="1" i="0">
                <a:solidFill>
                  <a:srgbClr val="14142B"/>
                </a:solidFill>
                <a:latin typeface="Arial"/>
              </a:rPr>
              <a:t>Routines</a:t>
            </a:r>
          </a:p>
        </p:txBody>
      </p:sp>
      <p:sp>
        <p:nvSpPr>
          <p:cNvPr id="155" name="TextBox 154"/>
          <p:cNvSpPr txBox="1"/>
          <p:nvPr/>
        </p:nvSpPr>
        <p:spPr>
          <a:xfrm>
            <a:off x="1755648" y="4151376"/>
            <a:ext cx="5394960" cy="548640"/>
          </a:xfrm>
          <a:prstGeom prst="rect">
            <a:avLst/>
          </a:prstGeom>
          <a:noFill/>
        </p:spPr>
        <p:txBody>
          <a:bodyPr wrap="square" lIns="0" rIns="0" tIns="0" bIns="0" anchor="t">
            <a:spAutoFit/>
          </a:bodyPr>
          <a:lstStyle/>
          <a:p>
            <a:pPr algn="l"/>
            <a:r>
              <a:rPr sz="1300" b="0" i="0">
                <a:solidFill>
                  <a:srgbClr val="5B5F77"/>
                </a:solidFill>
                <a:latin typeface="Calibri"/>
              </a:rPr>
              <a:t>Run a taught task on a schedule, or chain two of them: “every Friday, order…”.</a:t>
            </a:r>
          </a:p>
        </p:txBody>
      </p:sp>
      <p:sp>
        <p:nvSpPr>
          <p:cNvPr id="156" name="Oval 155"/>
          <p:cNvSpPr/>
          <p:nvPr/>
        </p:nvSpPr>
        <p:spPr>
          <a:xfrm>
            <a:off x="932688" y="4882896"/>
            <a:ext cx="603504" cy="603504"/>
          </a:xfrm>
          <a:prstGeom prst="ellipse">
            <a:avLst/>
          </a:prstGeom>
          <a:solidFill>
            <a:srgbClr val="14142B"/>
          </a:solidFill>
          <a:ln>
            <a:noFill/>
          </a:ln>
          <a:effectLst/>
        </p:spPr>
        <p:txBody>
          <a:bodyPr rtlCol="0" anchor="ctr"/>
          <a:lstStyle/>
          <a:p/>
        </p:txBody>
      </p:sp>
      <p:pic>
        <p:nvPicPr>
          <p:cNvPr id="157" name="Picture 156" descr="MdTranslate_FFFFFF.png"/>
          <p:cNvPicPr>
            <a:picLocks noChangeAspect="1"/>
          </p:cNvPicPr>
          <p:nvPr/>
        </p:nvPicPr>
        <p:blipFill>
          <a:blip r:embed="rId6"/>
          <a:stretch>
            <a:fillRect/>
          </a:stretch>
        </p:blipFill>
        <p:spPr>
          <a:xfrm>
            <a:off x="1065458" y="5015666"/>
            <a:ext cx="337962" cy="337962"/>
          </a:xfrm>
          <a:prstGeom prst="rect">
            <a:avLst/>
          </a:prstGeom>
        </p:spPr>
      </p:pic>
      <p:sp>
        <p:nvSpPr>
          <p:cNvPr id="158" name="TextBox 157"/>
          <p:cNvSpPr txBox="1"/>
          <p:nvPr/>
        </p:nvSpPr>
        <p:spPr>
          <a:xfrm>
            <a:off x="1755648" y="4864608"/>
            <a:ext cx="5394960" cy="347472"/>
          </a:xfrm>
          <a:prstGeom prst="rect">
            <a:avLst/>
          </a:prstGeom>
          <a:noFill/>
        </p:spPr>
        <p:txBody>
          <a:bodyPr wrap="square" lIns="0" rIns="0" tIns="0" bIns="0" anchor="t">
            <a:spAutoFit/>
          </a:bodyPr>
          <a:lstStyle/>
          <a:p>
            <a:pPr algn="l"/>
            <a:r>
              <a:rPr sz="1600" b="1" i="0">
                <a:solidFill>
                  <a:srgbClr val="14142B"/>
                </a:solidFill>
                <a:latin typeface="Arial"/>
              </a:rPr>
              <a:t>More languages</a:t>
            </a:r>
          </a:p>
        </p:txBody>
      </p:sp>
      <p:sp>
        <p:nvSpPr>
          <p:cNvPr id="159" name="TextBox 158"/>
          <p:cNvSpPr txBox="1"/>
          <p:nvPr/>
        </p:nvSpPr>
        <p:spPr>
          <a:xfrm>
            <a:off x="1755648" y="5230368"/>
            <a:ext cx="5394960" cy="548640"/>
          </a:xfrm>
          <a:prstGeom prst="rect">
            <a:avLst/>
          </a:prstGeom>
          <a:noFill/>
        </p:spPr>
        <p:txBody>
          <a:bodyPr wrap="square" lIns="0" rIns="0" tIns="0" bIns="0" anchor="t">
            <a:spAutoFit/>
          </a:bodyPr>
          <a:lstStyle/>
          <a:p>
            <a:pPr algn="l"/>
            <a:r>
              <a:rPr sz="1300" b="0" i="0">
                <a:solidFill>
                  <a:srgbClr val="5B5F77"/>
                </a:solidFill>
                <a:latin typeface="Calibri"/>
              </a:rPr>
              <a:t>Hindi and other Indian languages for commands and questions, not just Hinglish.</a:t>
            </a:r>
          </a:p>
        </p:txBody>
      </p:sp>
      <p:sp>
        <p:nvSpPr>
          <p:cNvPr id="160" name="Rounded Rectangle 159"/>
          <p:cNvSpPr/>
          <p:nvPr/>
        </p:nvSpPr>
        <p:spPr>
          <a:xfrm>
            <a:off x="7360920" y="1645920"/>
            <a:ext cx="3904487" cy="3657600"/>
          </a:xfrm>
          <a:prstGeom prst="roundRect">
            <a:avLst>
              <a:gd name="adj" fmla="val 2000"/>
            </a:avLst>
          </a:prstGeom>
          <a:solidFill>
            <a:srgbClr val="F5F3FC"/>
          </a:solidFill>
          <a:ln>
            <a:noFill/>
          </a:ln>
          <a:effectLst/>
        </p:spPr>
        <p:txBody>
          <a:bodyPr rtlCol="0" anchor="ctr"/>
          <a:lstStyle/>
          <a:p/>
        </p:txBody>
      </p:sp>
      <p:sp>
        <p:nvSpPr>
          <p:cNvPr id="161" name="TextBox 160"/>
          <p:cNvSpPr txBox="1"/>
          <p:nvPr/>
        </p:nvSpPr>
        <p:spPr>
          <a:xfrm>
            <a:off x="7635240" y="1828800"/>
            <a:ext cx="3383280" cy="320040"/>
          </a:xfrm>
          <a:prstGeom prst="rect">
            <a:avLst/>
          </a:prstGeom>
          <a:noFill/>
        </p:spPr>
        <p:txBody>
          <a:bodyPr wrap="square" lIns="0" rIns="0" tIns="0" bIns="0" anchor="t">
            <a:spAutoFit/>
          </a:bodyPr>
          <a:lstStyle/>
          <a:p>
            <a:pPr algn="l"/>
            <a:r>
              <a:rPr sz="1100" b="1" i="0">
                <a:solidFill>
                  <a:srgbClr val="6D28D9"/>
                </a:solidFill>
                <a:latin typeface="Arial"/>
              </a:rPr>
              <a:t>TOWARDS A WORKLET</a:t>
            </a:r>
          </a:p>
        </p:txBody>
      </p:sp>
      <p:sp>
        <p:nvSpPr>
          <p:cNvPr id="162" name="TextBox 161"/>
          <p:cNvSpPr txBox="1"/>
          <p:nvPr/>
        </p:nvSpPr>
        <p:spPr>
          <a:xfrm>
            <a:off x="7635240" y="2194560"/>
            <a:ext cx="3429000" cy="2103120"/>
          </a:xfrm>
          <a:prstGeom prst="rect">
            <a:avLst/>
          </a:prstGeom>
          <a:noFill/>
        </p:spPr>
        <p:txBody>
          <a:bodyPr wrap="square" lIns="0" rIns="0" tIns="0" bIns="0" anchor="t">
            <a:spAutoFit/>
          </a:bodyPr>
          <a:lstStyle/>
          <a:p>
            <a:pPr algn="l">
              <a:spcAft>
                <a:spcPts val="800"/>
              </a:spcAft>
            </a:pPr>
            <a:r>
              <a:rPr sz="1350" b="0" i="0">
                <a:solidFill>
                  <a:srgbClr val="1F2037"/>
                </a:solidFill>
                <a:latin typeface="Calibri"/>
              </a:rPr>
              <a:t>An assistant that learns in-app tasks from its own user, through the accessibility layer every app already has.</a:t>
            </a:r>
          </a:p>
          <a:p>
            <a:pPr algn="l">
              <a:spcAft>
                <a:spcPts val="800"/>
              </a:spcAft>
            </a:pPr>
            <a:r>
              <a:rPr sz="1350" b="0" i="0">
                <a:solidFill>
                  <a:srgbClr val="1F2037"/>
                </a:solidFill>
                <a:latin typeface="Calibri"/>
              </a:rPr>
              <a:t>The pieces that make it safe to ship are already there: proof-checked steps, a hand-off at payment and login, and a readable log of every run.</a:t>
            </a:r>
          </a:p>
        </p:txBody>
      </p:sp>
      <p:sp>
        <p:nvSpPr>
          <p:cNvPr id="163" name="Rounded Rectangle 162"/>
          <p:cNvSpPr/>
          <p:nvPr/>
        </p:nvSpPr>
        <p:spPr>
          <a:xfrm>
            <a:off x="7635240" y="4572000"/>
            <a:ext cx="3383280" cy="475488"/>
          </a:xfrm>
          <a:prstGeom prst="roundRect">
            <a:avLst>
              <a:gd name="adj" fmla="val 50000"/>
            </a:avLst>
          </a:prstGeom>
          <a:solidFill>
            <a:srgbClr val="FFFFFF"/>
          </a:solidFill>
          <a:ln w="12700">
            <a:solidFill>
              <a:srgbClr val="D9D3F0"/>
            </a:solidFill>
          </a:ln>
          <a:effectLst/>
        </p:spPr>
        <p:txBody>
          <a:bodyPr rtlCol="0" anchor="ctr"/>
          <a:lstStyle/>
          <a:p/>
        </p:txBody>
      </p:sp>
      <p:sp>
        <p:nvSpPr>
          <p:cNvPr id="164" name="Oval 163"/>
          <p:cNvSpPr/>
          <p:nvPr/>
        </p:nvSpPr>
        <p:spPr>
          <a:xfrm>
            <a:off x="7699248" y="4636008"/>
            <a:ext cx="347472" cy="347472"/>
          </a:xfrm>
          <a:prstGeom prst="ellipse">
            <a:avLst/>
          </a:prstGeom>
          <a:solidFill>
            <a:srgbClr val="6D28D9"/>
          </a:solidFill>
          <a:ln>
            <a:noFill/>
          </a:ln>
          <a:effectLst/>
        </p:spPr>
        <p:txBody>
          <a:bodyPr rtlCol="0" anchor="ctr"/>
          <a:lstStyle/>
          <a:p/>
        </p:txBody>
      </p:sp>
      <p:pic>
        <p:nvPicPr>
          <p:cNvPr id="165" name="Picture 164" descr="MdMic_FFFFFF.png"/>
          <p:cNvPicPr>
            <a:picLocks noChangeAspect="1"/>
          </p:cNvPicPr>
          <p:nvPr/>
        </p:nvPicPr>
        <p:blipFill>
          <a:blip r:embed="rId7"/>
          <a:stretch>
            <a:fillRect/>
          </a:stretch>
        </p:blipFill>
        <p:spPr>
          <a:xfrm>
            <a:off x="7768742" y="4705502"/>
            <a:ext cx="208483" cy="208483"/>
          </a:xfrm>
          <a:prstGeom prst="rect">
            <a:avLst/>
          </a:prstGeom>
        </p:spPr>
      </p:pic>
      <p:sp>
        <p:nvSpPr>
          <p:cNvPr id="166" name="TextBox 165"/>
          <p:cNvSpPr txBox="1"/>
          <p:nvPr/>
        </p:nvSpPr>
        <p:spPr>
          <a:xfrm>
            <a:off x="8183880" y="4572000"/>
            <a:ext cx="2743200" cy="475488"/>
          </a:xfrm>
          <a:prstGeom prst="rect">
            <a:avLst/>
          </a:prstGeom>
          <a:noFill/>
        </p:spPr>
        <p:txBody>
          <a:bodyPr wrap="square" lIns="0" rIns="0" tIns="0" bIns="0" anchor="ctr">
            <a:spAutoFit/>
          </a:bodyPr>
          <a:lstStyle/>
          <a:p>
            <a:pPr algn="l"/>
            <a:r>
              <a:rPr sz="1300" b="0" i="1">
                <a:solidFill>
                  <a:srgbClr val="1F2037"/>
                </a:solidFill>
                <a:latin typeface="Calibri"/>
              </a:rPr>
              <a:t>“Did the last run succeed?”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Brownie points slide( differentiation)</a:t>
            </a:r>
            <a:endParaRPr b="1" sz="4400">
              <a:solidFill>
                <a:srgbClr val="704EA6"/>
              </a:solidFill>
            </a:endParaRPr>
          </a:p>
        </p:txBody>
      </p:sp>
      <p:sp>
        <p:nvSpPr>
          <p:cNvPr id="150" name="TextBox 149"/>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THE THREE BONUS CRITERIA — AND WHAT GOES BEYOND THEM</a:t>
            </a:r>
          </a:p>
        </p:txBody>
      </p:sp>
      <p:sp>
        <p:nvSpPr>
          <p:cNvPr id="151" name="Rounded Rectangle 150"/>
          <p:cNvSpPr/>
          <p:nvPr/>
        </p:nvSpPr>
        <p:spPr>
          <a:xfrm>
            <a:off x="932688" y="1828800"/>
            <a:ext cx="3310128" cy="1965960"/>
          </a:xfrm>
          <a:prstGeom prst="roundRect">
            <a:avLst>
              <a:gd name="adj" fmla="val 3720"/>
            </a:avLst>
          </a:prstGeom>
          <a:solidFill>
            <a:srgbClr val="F5F3FC"/>
          </a:solidFill>
          <a:ln>
            <a:noFill/>
          </a:ln>
          <a:effectLst/>
        </p:spPr>
        <p:txBody>
          <a:bodyPr rtlCol="0" anchor="ctr"/>
          <a:lstStyle/>
          <a:p/>
        </p:txBody>
      </p:sp>
      <p:sp>
        <p:nvSpPr>
          <p:cNvPr id="152" name="Rounded Rectangle 151"/>
          <p:cNvSpPr/>
          <p:nvPr/>
        </p:nvSpPr>
        <p:spPr>
          <a:xfrm>
            <a:off x="1161288" y="2029968"/>
            <a:ext cx="566928" cy="329184"/>
          </a:xfrm>
          <a:prstGeom prst="roundRect">
            <a:avLst>
              <a:gd name="adj" fmla="val 50000"/>
            </a:avLst>
          </a:prstGeom>
          <a:solidFill>
            <a:srgbClr val="6D28D9"/>
          </a:solidFill>
          <a:ln>
            <a:noFill/>
          </a:ln>
          <a:effectLst/>
        </p:spPr>
        <p:txBody>
          <a:bodyPr rtlCol="0" anchor="ctr"/>
          <a:lstStyle/>
          <a:p/>
        </p:txBody>
      </p:sp>
      <p:sp>
        <p:nvSpPr>
          <p:cNvPr id="153" name="TextBox 152"/>
          <p:cNvSpPr txBox="1"/>
          <p:nvPr/>
        </p:nvSpPr>
        <p:spPr>
          <a:xfrm>
            <a:off x="1161288"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54" name="TextBox 153"/>
          <p:cNvSpPr txBox="1"/>
          <p:nvPr/>
        </p:nvSpPr>
        <p:spPr>
          <a:xfrm>
            <a:off x="1847088"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Touches the task didn’t need</a:t>
            </a:r>
          </a:p>
        </p:txBody>
      </p:sp>
      <p:sp>
        <p:nvSpPr>
          <p:cNvPr id="155" name="TextBox 154"/>
          <p:cNvSpPr txBox="1"/>
          <p:nvPr/>
        </p:nvSpPr>
        <p:spPr>
          <a:xfrm>
            <a:off x="1161288"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A mis-tap that was undone, an answered call, a Veg filter and a pop-up in our demos were dropped on their own — shown as “ignored: not needed”.</a:t>
            </a:r>
          </a:p>
        </p:txBody>
      </p:sp>
      <p:sp>
        <p:nvSpPr>
          <p:cNvPr id="156" name="Rounded Rectangle 155"/>
          <p:cNvSpPr/>
          <p:nvPr/>
        </p:nvSpPr>
        <p:spPr>
          <a:xfrm>
            <a:off x="4443984" y="1828800"/>
            <a:ext cx="3310128" cy="1965960"/>
          </a:xfrm>
          <a:prstGeom prst="roundRect">
            <a:avLst>
              <a:gd name="adj" fmla="val 3720"/>
            </a:avLst>
          </a:prstGeom>
          <a:solidFill>
            <a:srgbClr val="F5F3FC"/>
          </a:solidFill>
          <a:ln>
            <a:noFill/>
          </a:ln>
          <a:effectLst/>
        </p:spPr>
        <p:txBody>
          <a:bodyPr rtlCol="0" anchor="ctr"/>
          <a:lstStyle/>
          <a:p/>
        </p:txBody>
      </p:sp>
      <p:sp>
        <p:nvSpPr>
          <p:cNvPr id="157" name="Rounded Rectangle 156"/>
          <p:cNvSpPr/>
          <p:nvPr/>
        </p:nvSpPr>
        <p:spPr>
          <a:xfrm>
            <a:off x="4672584" y="2029968"/>
            <a:ext cx="566928" cy="329184"/>
          </a:xfrm>
          <a:prstGeom prst="roundRect">
            <a:avLst>
              <a:gd name="adj" fmla="val 50000"/>
            </a:avLst>
          </a:prstGeom>
          <a:solidFill>
            <a:srgbClr val="6D28D9"/>
          </a:solidFill>
          <a:ln>
            <a:noFill/>
          </a:ln>
          <a:effectLst/>
        </p:spPr>
        <p:txBody>
          <a:bodyPr rtlCol="0" anchor="ctr"/>
          <a:lstStyle/>
          <a:p/>
        </p:txBody>
      </p:sp>
      <p:sp>
        <p:nvSpPr>
          <p:cNvPr id="158" name="TextBox 157"/>
          <p:cNvSpPr txBox="1"/>
          <p:nvPr/>
        </p:nvSpPr>
        <p:spPr>
          <a:xfrm>
            <a:off x="4672584"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+4</a:t>
            </a:r>
          </a:p>
        </p:txBody>
      </p:sp>
      <p:sp>
        <p:nvSpPr>
          <p:cNvPr id="159" name="TextBox 158"/>
          <p:cNvSpPr txBox="1"/>
          <p:nvPr/>
        </p:nvSpPr>
        <p:spPr>
          <a:xfrm>
            <a:off x="5358384"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The same task in a similar app</a:t>
            </a:r>
          </a:p>
        </p:txBody>
      </p:sp>
      <p:sp>
        <p:nvSpPr>
          <p:cNvPr id="160" name="TextBox 159"/>
          <p:cNvSpPr txBox="1"/>
          <p:nvPr/>
        </p:nvSpPr>
        <p:spPr>
          <a:xfrm>
            <a:off x="4672584"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Taught on Amazon, run on Myntra 7/7: it found “Add to Bag”, skipped the “AD” tiles and asked for the size.</a:t>
            </a:r>
          </a:p>
        </p:txBody>
      </p:sp>
      <p:sp>
        <p:nvSpPr>
          <p:cNvPr id="161" name="Rounded Rectangle 160"/>
          <p:cNvSpPr/>
          <p:nvPr/>
        </p:nvSpPr>
        <p:spPr>
          <a:xfrm>
            <a:off x="7955280" y="1828800"/>
            <a:ext cx="3310128" cy="1965960"/>
          </a:xfrm>
          <a:prstGeom prst="roundRect">
            <a:avLst>
              <a:gd name="adj" fmla="val 3720"/>
            </a:avLst>
          </a:prstGeom>
          <a:solidFill>
            <a:srgbClr val="F5F3FC"/>
          </a:solidFill>
          <a:ln>
            <a:noFill/>
          </a:ln>
          <a:effectLst/>
        </p:spPr>
        <p:txBody>
          <a:bodyPr rtlCol="0" anchor="ctr"/>
          <a:lstStyle/>
          <a:p/>
        </p:txBody>
      </p:sp>
      <p:sp>
        <p:nvSpPr>
          <p:cNvPr id="162" name="Rounded Rectangle 161"/>
          <p:cNvSpPr/>
          <p:nvPr/>
        </p:nvSpPr>
        <p:spPr>
          <a:xfrm>
            <a:off x="8183880" y="2029968"/>
            <a:ext cx="566928" cy="329184"/>
          </a:xfrm>
          <a:prstGeom prst="roundRect">
            <a:avLst>
              <a:gd name="adj" fmla="val 50000"/>
            </a:avLst>
          </a:prstGeom>
          <a:solidFill>
            <a:srgbClr val="6D28D9"/>
          </a:solidFill>
          <a:ln>
            <a:noFill/>
          </a:ln>
          <a:effectLst/>
        </p:spPr>
        <p:txBody>
          <a:bodyPr rtlCol="0" anchor="ctr"/>
          <a:lstStyle/>
          <a:p/>
        </p:txBody>
      </p:sp>
      <p:sp>
        <p:nvSpPr>
          <p:cNvPr id="163" name="TextBox 162"/>
          <p:cNvSpPr txBox="1"/>
          <p:nvPr/>
        </p:nvSpPr>
        <p:spPr>
          <a:xfrm>
            <a:off x="8183880"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64" name="TextBox 163"/>
          <p:cNvSpPr txBox="1"/>
          <p:nvPr/>
        </p:nvSpPr>
        <p:spPr>
          <a:xfrm>
            <a:off x="8869680"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A missing value, asked mid-flow</a:t>
            </a:r>
          </a:p>
        </p:txBody>
      </p:sp>
      <p:sp>
        <p:nvSpPr>
          <p:cNvPr id="165" name="TextBox 164"/>
          <p:cNvSpPr txBox="1"/>
          <p:nvPr/>
        </p:nvSpPr>
        <p:spPr>
          <a:xfrm>
            <a:off x="8183880"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“Order pizza.” → “Which restaurant should I order from?”, then “Which pizza?” — and it carries on with the answers.</a:t>
            </a:r>
          </a:p>
        </p:txBody>
      </p:sp>
      <p:sp>
        <p:nvSpPr>
          <p:cNvPr id="166" name="Rounded Rectangle 165"/>
          <p:cNvSpPr/>
          <p:nvPr/>
        </p:nvSpPr>
        <p:spPr>
          <a:xfrm>
            <a:off x="932688" y="4023360"/>
            <a:ext cx="6035040" cy="2103120"/>
          </a:xfrm>
          <a:prstGeom prst="roundRect">
            <a:avLst>
              <a:gd name="adj" fmla="val 3478"/>
            </a:avLst>
          </a:prstGeom>
          <a:solidFill>
            <a:srgbClr val="14142B"/>
          </a:solidFill>
          <a:ln>
            <a:noFill/>
          </a:ln>
          <a:effectLst/>
        </p:spPr>
        <p:txBody>
          <a:bodyPr rtlCol="0" anchor="ctr"/>
          <a:lstStyle/>
          <a:p/>
        </p:txBody>
      </p:sp>
      <p:sp>
        <p:nvSpPr>
          <p:cNvPr id="167" name="TextBox 166"/>
          <p:cNvSpPr txBox="1"/>
          <p:nvPr/>
        </p:nvSpPr>
        <p:spPr>
          <a:xfrm>
            <a:off x="1161288" y="4160520"/>
            <a:ext cx="5577840" cy="320040"/>
          </a:xfrm>
          <a:prstGeom prst="rect">
            <a:avLst/>
          </a:prstGeom>
          <a:noFill/>
        </p:spPr>
        <p:txBody>
          <a:bodyPr wrap="square" lIns="0" rIns="0" tIns="0" bIns="0" anchor="t">
            <a:spAutoFit/>
          </a:bodyPr>
          <a:lstStyle/>
          <a:p>
            <a:pPr algn="l"/>
            <a:r>
              <a:rPr sz="1400" b="1" i="0">
                <a:solidFill>
                  <a:srgbClr val="FFFFFF"/>
                </a:solidFill>
                <a:latin typeface="Arial"/>
              </a:rPr>
              <a:t>Taught on an app it had never seen: GitHub</a:t>
            </a:r>
          </a:p>
        </p:txBody>
      </p:sp>
      <p:sp>
        <p:nvSpPr>
          <p:cNvPr id="168" name="TextBox 167"/>
          <p:cNvSpPr txBox="1"/>
          <p:nvPr/>
        </p:nvSpPr>
        <p:spPr>
          <a:xfrm>
            <a:off x="1161288" y="4498848"/>
            <a:ext cx="5669280" cy="274320"/>
          </a:xfrm>
          <a:prstGeom prst="rect">
            <a:avLst/>
          </a:prstGeom>
          <a:noFill/>
        </p:spPr>
        <p:txBody>
          <a:bodyPr wrap="square" lIns="0" rIns="0" tIns="0" bIns="0" anchor="t">
            <a:spAutoFit/>
          </a:bodyPr>
          <a:lstStyle/>
          <a:p>
            <a:pPr algn="l"/>
            <a:r>
              <a:rPr sz="1150" b="0" i="0">
                <a:solidFill>
                  <a:srgbClr val="D9D3F0"/>
                </a:solidFill>
                <a:latin typeface="Calibri"/>
              </a:rPr>
              <a:t>One demo with pytorch → learned “Open {repository} repository on GitHub”</a:t>
            </a:r>
          </a:p>
        </p:txBody>
      </p:sp>
      <p:pic>
        <p:nvPicPr>
          <p:cNvPr id="169" name="Picture 168" descr="MdCheckCircle_0E9F6E.png"/>
          <p:cNvPicPr>
            <a:picLocks noChangeAspect="1"/>
          </p:cNvPicPr>
          <p:nvPr/>
        </p:nvPicPr>
        <p:blipFill>
          <a:blip r:embed="rId3"/>
          <a:stretch>
            <a:fillRect/>
          </a:stretch>
        </p:blipFill>
        <p:spPr>
          <a:xfrm>
            <a:off x="1161288" y="4919472"/>
            <a:ext cx="237744" cy="237744"/>
          </a:xfrm>
          <a:prstGeom prst="rect">
            <a:avLst/>
          </a:prstGeom>
        </p:spPr>
      </p:pic>
      <p:sp>
        <p:nvSpPr>
          <p:cNvPr id="170" name="TextBox 169"/>
          <p:cNvSpPr txBox="1"/>
          <p:nvPr/>
        </p:nvSpPr>
        <p:spPr>
          <a:xfrm>
            <a:off x="1527048" y="4873752"/>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tensorflow repository on GitHub”  </a:t>
            </a:r>
            <a:r>
              <a:rPr sz="1200" b="0" i="0">
                <a:solidFill>
                  <a:srgbClr val="A7F3D0"/>
                </a:solidFill>
                <a:latin typeface="Calibri"/>
              </a:rPr>
              <a:t>opened · 18 s · no LLM calls</a:t>
            </a:r>
          </a:p>
        </p:txBody>
      </p:sp>
      <p:pic>
        <p:nvPicPr>
          <p:cNvPr id="171" name="Picture 170" descr="MdCheckCircle_0E9F6E.png"/>
          <p:cNvPicPr>
            <a:picLocks noChangeAspect="1"/>
          </p:cNvPicPr>
          <p:nvPr/>
        </p:nvPicPr>
        <p:blipFill>
          <a:blip r:embed="rId3"/>
          <a:stretch>
            <a:fillRect/>
          </a:stretch>
        </p:blipFill>
        <p:spPr>
          <a:xfrm>
            <a:off x="1161288" y="5312664"/>
            <a:ext cx="237744" cy="237744"/>
          </a:xfrm>
          <a:prstGeom prst="rect">
            <a:avLst/>
          </a:prstGeom>
        </p:spPr>
      </p:pic>
      <p:sp>
        <p:nvSpPr>
          <p:cNvPr id="172" name="TextBox 171"/>
          <p:cNvSpPr txBox="1"/>
          <p:nvPr/>
        </p:nvSpPr>
        <p:spPr>
          <a:xfrm>
            <a:off x="1527048" y="5266944"/>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linux repository on github”  </a:t>
            </a:r>
            <a:r>
              <a:rPr sz="1200" b="0" i="0">
                <a:solidFill>
                  <a:srgbClr val="A7F3D0"/>
                </a:solidFill>
                <a:latin typeface="Calibri"/>
              </a:rPr>
              <a:t>torvalds/linux · 17 s · no LLM calls</a:t>
            </a:r>
          </a:p>
        </p:txBody>
      </p:sp>
      <p:pic>
        <p:nvPicPr>
          <p:cNvPr id="173" name="Picture 172" descr="MdCheckCircle_0E9F6E.png"/>
          <p:cNvPicPr>
            <a:picLocks noChangeAspect="1"/>
          </p:cNvPicPr>
          <p:nvPr/>
        </p:nvPicPr>
        <p:blipFill>
          <a:blip r:embed="rId3"/>
          <a:stretch>
            <a:fillRect/>
          </a:stretch>
        </p:blipFill>
        <p:spPr>
          <a:xfrm>
            <a:off x="1161288" y="5705856"/>
            <a:ext cx="237744" cy="237744"/>
          </a:xfrm>
          <a:prstGeom prst="rect">
            <a:avLst/>
          </a:prstGeom>
        </p:spPr>
      </p:pic>
      <p:sp>
        <p:nvSpPr>
          <p:cNvPr id="174" name="TextBox 173"/>
          <p:cNvSpPr txBox="1"/>
          <p:nvPr/>
        </p:nvSpPr>
        <p:spPr>
          <a:xfrm>
            <a:off x="1527048" y="5660136"/>
            <a:ext cx="5394960" cy="347472"/>
          </a:xfrm>
          <a:prstGeom prst="rect">
            <a:avLst/>
          </a:prstGeom>
          <a:noFill/>
        </p:spPr>
        <p:txBody>
          <a:bodyPr wrap="square" lIns="0" rIns="0" tIns="0" bIns="0" anchor="ctr">
            <a:spAutoFit/>
          </a:bodyPr>
          <a:lstStyle/>
          <a:p>
            <a:pPr algn="l"/>
            <a:r>
              <a:rPr sz="1200" b="0" i="1">
                <a:solidFill>
                  <a:srgbClr val="FFFFFF"/>
                </a:solidFill>
                <a:latin typeface="Calibri"/>
              </a:rPr>
              <a:t>“show me the react repo on github”  </a:t>
            </a:r>
            <a:r>
              <a:rPr sz="1200" b="0" i="0">
                <a:solidFill>
                  <a:srgbClr val="A7F3D0"/>
                </a:solidFill>
                <a:latin typeface="Calibri"/>
              </a:rPr>
              <a:t>paraphrase understood · opened</a:t>
            </a:r>
          </a:p>
        </p:txBody>
      </p:sp>
      <p:sp>
        <p:nvSpPr>
          <p:cNvPr id="175" name="Rounded Rectangle 174"/>
          <p:cNvSpPr/>
          <p:nvPr/>
        </p:nvSpPr>
        <p:spPr>
          <a:xfrm>
            <a:off x="7150608" y="4023360"/>
            <a:ext cx="4114800" cy="2103120"/>
          </a:xfrm>
          <a:prstGeom prst="roundRect">
            <a:avLst>
              <a:gd name="adj" fmla="val 3478"/>
            </a:avLst>
          </a:prstGeom>
          <a:solidFill>
            <a:srgbClr val="FFFFFF"/>
          </a:solidFill>
          <a:ln w="12700">
            <a:solidFill>
              <a:srgbClr val="D9D3F0"/>
            </a:solidFill>
          </a:ln>
          <a:effectLst/>
        </p:spPr>
        <p:txBody>
          <a:bodyPr rtlCol="0" anchor="ctr"/>
          <a:lstStyle/>
          <a:p/>
        </p:txBody>
      </p:sp>
      <p:sp>
        <p:nvSpPr>
          <p:cNvPr id="176" name="TextBox 175"/>
          <p:cNvSpPr txBox="1"/>
          <p:nvPr/>
        </p:nvSpPr>
        <p:spPr>
          <a:xfrm>
            <a:off x="7379208" y="4160520"/>
            <a:ext cx="3749039" cy="320040"/>
          </a:xfrm>
          <a:prstGeom prst="rect">
            <a:avLst/>
          </a:prstGeom>
          <a:noFill/>
        </p:spPr>
        <p:txBody>
          <a:bodyPr wrap="square" lIns="0" rIns="0" tIns="0" bIns="0" anchor="t">
            <a:spAutoFit/>
          </a:bodyPr>
          <a:lstStyle/>
          <a:p>
            <a:pPr algn="l"/>
            <a:r>
              <a:rPr sz="1400" b="1" i="0">
                <a:solidFill>
                  <a:srgbClr val="6D28D9"/>
                </a:solidFill>
                <a:latin typeface="Arial"/>
              </a:rPr>
              <a:t>Also</a:t>
            </a:r>
          </a:p>
        </p:txBody>
      </p:sp>
      <p:pic>
        <p:nvPicPr>
          <p:cNvPr id="177" name="Picture 176" descr="MdCheckCircle_6D28D9.png"/>
          <p:cNvPicPr>
            <a:picLocks noChangeAspect="1"/>
          </p:cNvPicPr>
          <p:nvPr/>
        </p:nvPicPr>
        <p:blipFill>
          <a:blip r:embed="rId4"/>
          <a:stretch>
            <a:fillRect/>
          </a:stretch>
        </p:blipFill>
        <p:spPr>
          <a:xfrm>
            <a:off x="7379208" y="4599432"/>
            <a:ext cx="228600" cy="228600"/>
          </a:xfrm>
          <a:prstGeom prst="rect">
            <a:avLst/>
          </a:prstGeom>
        </p:spPr>
      </p:pic>
      <p:sp>
        <p:nvSpPr>
          <p:cNvPr id="178" name="TextBox 177"/>
          <p:cNvSpPr txBox="1"/>
          <p:nvPr/>
        </p:nvSpPr>
        <p:spPr>
          <a:xfrm>
            <a:off x="7717536" y="4553712"/>
            <a:ext cx="3520440" cy="329184"/>
          </a:xfrm>
          <a:prstGeom prst="rect">
            <a:avLst/>
          </a:prstGeom>
          <a:noFill/>
        </p:spPr>
        <p:txBody>
          <a:bodyPr wrap="square" lIns="0" rIns="0" tIns="0" bIns="0" anchor="ctr">
            <a:spAutoFit/>
          </a:bodyPr>
          <a:lstStyle/>
          <a:p>
            <a:pPr algn="l"/>
            <a:r>
              <a:rPr sz="1200" b="0" i="0">
                <a:solidFill>
                  <a:srgbClr val="1F2037"/>
                </a:solidFill>
                <a:latin typeface="Calibri"/>
              </a:rPr>
              <a:t>No per-app code path — not even for our target apps</a:t>
            </a:r>
          </a:p>
        </p:txBody>
      </p:sp>
      <p:pic>
        <p:nvPicPr>
          <p:cNvPr id="179" name="Picture 178" descr="MdCheckCircle_6D28D9.png"/>
          <p:cNvPicPr>
            <a:picLocks noChangeAspect="1"/>
          </p:cNvPicPr>
          <p:nvPr/>
        </p:nvPicPr>
        <p:blipFill>
          <a:blip r:embed="rId4"/>
          <a:stretch>
            <a:fillRect/>
          </a:stretch>
        </p:blipFill>
        <p:spPr>
          <a:xfrm>
            <a:off x="7379208" y="4983480"/>
            <a:ext cx="228600" cy="228600"/>
          </a:xfrm>
          <a:prstGeom prst="rect">
            <a:avLst/>
          </a:prstGeom>
        </p:spPr>
      </p:pic>
      <p:sp>
        <p:nvSpPr>
          <p:cNvPr id="180" name="TextBox 179"/>
          <p:cNvSpPr txBox="1"/>
          <p:nvPr/>
        </p:nvSpPr>
        <p:spPr>
          <a:xfrm>
            <a:off x="7717536" y="4937760"/>
            <a:ext cx="3520440" cy="329184"/>
          </a:xfrm>
          <a:prstGeom prst="rect">
            <a:avLst/>
          </a:prstGeom>
          <a:noFill/>
        </p:spPr>
        <p:txBody>
          <a:bodyPr wrap="square" lIns="0" rIns="0" tIns="0" bIns="0" anchor="ctr">
            <a:spAutoFit/>
          </a:bodyPr>
          <a:lstStyle/>
          <a:p>
            <a:pPr algn="l"/>
            <a:r>
              <a:rPr sz="1200" b="0" i="0">
                <a:solidFill>
                  <a:srgbClr val="1F2037"/>
                </a:solidFill>
                <a:latin typeface="Calibri"/>
              </a:rPr>
              <a:t>App switched to Hindi → stops and says why in 5 s</a:t>
            </a:r>
          </a:p>
        </p:txBody>
      </p:sp>
      <p:pic>
        <p:nvPicPr>
          <p:cNvPr id="181" name="Picture 180" descr="MdCheckCircle_6D28D9.png"/>
          <p:cNvPicPr>
            <a:picLocks noChangeAspect="1"/>
          </p:cNvPicPr>
          <p:nvPr/>
        </p:nvPicPr>
        <p:blipFill>
          <a:blip r:embed="rId4"/>
          <a:stretch>
            <a:fillRect/>
          </a:stretch>
        </p:blipFill>
        <p:spPr>
          <a:xfrm>
            <a:off x="7379208" y="5367528"/>
            <a:ext cx="228600" cy="228600"/>
          </a:xfrm>
          <a:prstGeom prst="rect">
            <a:avLst/>
          </a:prstGeom>
        </p:spPr>
      </p:pic>
      <p:sp>
        <p:nvSpPr>
          <p:cNvPr id="182" name="TextBox 181"/>
          <p:cNvSpPr txBox="1"/>
          <p:nvPr/>
        </p:nvSpPr>
        <p:spPr>
          <a:xfrm>
            <a:off x="7717536" y="5321808"/>
            <a:ext cx="3520440" cy="329184"/>
          </a:xfrm>
          <a:prstGeom prst="rect">
            <a:avLst/>
          </a:prstGeom>
          <a:noFill/>
        </p:spPr>
        <p:txBody>
          <a:bodyPr wrap="square" lIns="0" rIns="0" tIns="0" bIns="0" anchor="ctr">
            <a:spAutoFit/>
          </a:bodyPr>
          <a:lstStyle/>
          <a:p>
            <a:pPr algn="l"/>
            <a:r>
              <a:rPr sz="1200" b="0" i="0">
                <a:solidFill>
                  <a:srgbClr val="1F2037"/>
                </a:solidFill>
                <a:latin typeface="Calibri"/>
              </a:rPr>
              <a:t>Payment and login guard knows Hindi phrases</a:t>
            </a:r>
          </a:p>
        </p:txBody>
      </p:sp>
      <p:pic>
        <p:nvPicPr>
          <p:cNvPr id="183" name="Picture 182" descr="MdCheckCircle_6D28D9.png"/>
          <p:cNvPicPr>
            <a:picLocks noChangeAspect="1"/>
          </p:cNvPicPr>
          <p:nvPr/>
        </p:nvPicPr>
        <p:blipFill>
          <a:blip r:embed="rId4"/>
          <a:stretch>
            <a:fillRect/>
          </a:stretch>
        </p:blipFill>
        <p:spPr>
          <a:xfrm>
            <a:off x="7379208" y="5751576"/>
            <a:ext cx="228600" cy="228600"/>
          </a:xfrm>
          <a:prstGeom prst="rect">
            <a:avLst/>
          </a:prstGeom>
        </p:spPr>
      </p:pic>
      <p:sp>
        <p:nvSpPr>
          <p:cNvPr id="184" name="TextBox 183"/>
          <p:cNvSpPr txBox="1"/>
          <p:nvPr/>
        </p:nvSpPr>
        <p:spPr>
          <a:xfrm>
            <a:off x="7717536" y="5705856"/>
            <a:ext cx="3520440" cy="329184"/>
          </a:xfrm>
          <a:prstGeom prst="rect">
            <a:avLst/>
          </a:prstGeom>
          <a:noFill/>
        </p:spPr>
        <p:txBody>
          <a:bodyPr wrap="square" lIns="0" rIns="0" tIns="0" bIns="0" anchor="ctr">
            <a:spAutoFit/>
          </a:bodyPr>
          <a:lstStyle/>
          <a:p>
            <a:pPr algn="l"/>
            <a:r>
              <a:rPr sz="1200" b="0" i="0">
                <a:solidFill>
                  <a:srgbClr val="1F2037"/>
                </a:solidFill>
                <a:latin typeface="Calibri"/>
              </a:rPr>
              <a:t>Learns from a typed prefix + a tapped suggestion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Checklist- Updated on Public GitHub</a:t>
            </a:r>
            <a:endParaRPr/>
          </a:p>
        </p:txBody>
      </p:sp>
      <p:sp>
        <p:nvSpPr>
          <p:cNvPr id="156" name="Rounded Rectangle 155"/>
          <p:cNvSpPr/>
          <p:nvPr/>
        </p:nvSpPr>
        <p:spPr>
          <a:xfrm>
            <a:off x="932688" y="1691640"/>
            <a:ext cx="10332720" cy="731520"/>
          </a:xfrm>
          <a:prstGeom prst="roundRect">
            <a:avLst>
              <a:gd name="adj" fmla="val 10000"/>
            </a:avLst>
          </a:prstGeom>
          <a:solidFill>
            <a:srgbClr val="F5F3FC"/>
          </a:solidFill>
          <a:ln>
            <a:noFill/>
          </a:ln>
          <a:effectLst/>
        </p:spPr>
        <p:txBody>
          <a:bodyPr rtlCol="0" anchor="ctr"/>
          <a:lstStyle/>
          <a:p/>
        </p:txBody>
      </p:sp>
      <p:sp>
        <p:nvSpPr>
          <p:cNvPr id="157" name="Oval 156"/>
          <p:cNvSpPr/>
          <p:nvPr/>
        </p:nvSpPr>
        <p:spPr>
          <a:xfrm>
            <a:off x="1115568" y="1837944"/>
            <a:ext cx="438912" cy="438912"/>
          </a:xfrm>
          <a:prstGeom prst="ellipse">
            <a:avLst/>
          </a:prstGeom>
          <a:solidFill>
            <a:srgbClr val="0E9F6E"/>
          </a:solidFill>
          <a:ln>
            <a:noFill/>
          </a:ln>
          <a:effectLst/>
        </p:spPr>
        <p:txBody>
          <a:bodyPr rtlCol="0" anchor="ctr"/>
          <a:lstStyle/>
          <a:p/>
        </p:txBody>
      </p:sp>
      <p:sp>
        <p:nvSpPr>
          <p:cNvPr id="158" name="TextBox 157"/>
          <p:cNvSpPr txBox="1"/>
          <p:nvPr/>
        </p:nvSpPr>
        <p:spPr>
          <a:xfrm>
            <a:off x="1115568" y="183794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59" name="TextBox 158"/>
          <p:cNvSpPr txBox="1"/>
          <p:nvPr/>
        </p:nvSpPr>
        <p:spPr>
          <a:xfrm>
            <a:off x="1755648" y="1755648"/>
            <a:ext cx="9326880" cy="621792"/>
          </a:xfrm>
          <a:prstGeom prst="rect">
            <a:avLst/>
          </a:prstGeom>
          <a:noFill/>
        </p:spPr>
        <p:txBody>
          <a:bodyPr wrap="square" lIns="0" rIns="0" tIns="0" bIns="0" anchor="ctr">
            <a:spAutoFit/>
          </a:bodyPr>
          <a:lstStyle/>
          <a:p>
            <a:pPr algn="l"/>
            <a:r>
              <a:rPr sz="1400" b="1" i="0">
                <a:solidFill>
                  <a:srgbClr val="14142B"/>
                </a:solidFill>
                <a:latin typeface="Calibri"/>
              </a:rPr>
              <a:t>Working prototype code — public or shared GitHub repo</a:t>
            </a:r>
          </a:p>
          <a:p>
            <a:pPr algn="l"/>
            <a:r>
              <a:rPr sz="1200" b="0" i="0">
                <a:solidFill>
                  <a:srgbClr val="5B5F77"/>
                </a:solidFill>
                <a:latin typeface="Calibri"/>
              </a:rPr>
              <a:t>github.com/sgoel2be24-cyber/prism-teachable-voice  ·  release tag PRISM_GENAI_HACKATHON_Y2026</a:t>
            </a:r>
          </a:p>
        </p:txBody>
      </p:sp>
      <p:sp>
        <p:nvSpPr>
          <p:cNvPr id="160" name="Rounded Rectangle 159"/>
          <p:cNvSpPr/>
          <p:nvPr/>
        </p:nvSpPr>
        <p:spPr>
          <a:xfrm>
            <a:off x="932688" y="2560320"/>
            <a:ext cx="10332720" cy="731520"/>
          </a:xfrm>
          <a:prstGeom prst="roundRect">
            <a:avLst>
              <a:gd name="adj" fmla="val 10000"/>
            </a:avLst>
          </a:prstGeom>
          <a:solidFill>
            <a:srgbClr val="F5F3FC"/>
          </a:solidFill>
          <a:ln>
            <a:noFill/>
          </a:ln>
          <a:effectLst/>
        </p:spPr>
        <p:txBody>
          <a:bodyPr rtlCol="0" anchor="ctr"/>
          <a:lstStyle/>
          <a:p/>
        </p:txBody>
      </p:sp>
      <p:sp>
        <p:nvSpPr>
          <p:cNvPr id="161" name="Oval 160"/>
          <p:cNvSpPr/>
          <p:nvPr/>
        </p:nvSpPr>
        <p:spPr>
          <a:xfrm>
            <a:off x="1115568" y="2706624"/>
            <a:ext cx="438912" cy="438912"/>
          </a:xfrm>
          <a:prstGeom prst="ellipse">
            <a:avLst/>
          </a:prstGeom>
          <a:solidFill>
            <a:srgbClr val="0E9F6E"/>
          </a:solidFill>
          <a:ln>
            <a:noFill/>
          </a:ln>
          <a:effectLst/>
        </p:spPr>
        <p:txBody>
          <a:bodyPr rtlCol="0" anchor="ctr"/>
          <a:lstStyle/>
          <a:p/>
        </p:txBody>
      </p:sp>
      <p:sp>
        <p:nvSpPr>
          <p:cNvPr id="162" name="TextBox 161"/>
          <p:cNvSpPr txBox="1"/>
          <p:nvPr/>
        </p:nvSpPr>
        <p:spPr>
          <a:xfrm>
            <a:off x="1115568" y="270662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63" name="TextBox 162"/>
          <p:cNvSpPr txBox="1"/>
          <p:nvPr/>
        </p:nvSpPr>
        <p:spPr>
          <a:xfrm>
            <a:off x="1755648" y="2624327"/>
            <a:ext cx="9326880" cy="621792"/>
          </a:xfrm>
          <a:prstGeom prst="rect">
            <a:avLst/>
          </a:prstGeom>
          <a:noFill/>
        </p:spPr>
        <p:txBody>
          <a:bodyPr wrap="square" lIns="0" rIns="0" tIns="0" bIns="0" anchor="ctr">
            <a:spAutoFit/>
          </a:bodyPr>
          <a:lstStyle/>
          <a:p>
            <a:pPr algn="l"/>
            <a:r>
              <a:rPr sz="1400" b="1" i="0">
                <a:solidFill>
                  <a:srgbClr val="14142B"/>
                </a:solidFill>
                <a:latin typeface="Calibri"/>
              </a:rPr>
              <a:t>README with reproducible setup instructions</a:t>
            </a:r>
          </a:p>
          <a:p>
            <a:pPr algn="l"/>
            <a:r>
              <a:rPr sz="1200" b="0" i="0">
                <a:solidFill>
                  <a:srgbClr val="5B5F77"/>
                </a:solidFill>
                <a:latin typeface="Calibri"/>
              </a:rPr>
              <a:t>README with setup steps, a Dockerfile that builds the APK, and the installable APK in the GitHub release</a:t>
            </a:r>
          </a:p>
        </p:txBody>
      </p:sp>
      <p:sp>
        <p:nvSpPr>
          <p:cNvPr id="164" name="Rounded Rectangle 163"/>
          <p:cNvSpPr/>
          <p:nvPr/>
        </p:nvSpPr>
        <p:spPr>
          <a:xfrm>
            <a:off x="932688" y="3429000"/>
            <a:ext cx="10332720" cy="731520"/>
          </a:xfrm>
          <a:prstGeom prst="roundRect">
            <a:avLst>
              <a:gd name="adj" fmla="val 10000"/>
            </a:avLst>
          </a:prstGeom>
          <a:solidFill>
            <a:srgbClr val="F5F3FC"/>
          </a:solidFill>
          <a:ln>
            <a:noFill/>
          </a:ln>
          <a:effectLst/>
        </p:spPr>
        <p:txBody>
          <a:bodyPr rtlCol="0" anchor="ctr"/>
          <a:lstStyle/>
          <a:p/>
        </p:txBody>
      </p:sp>
      <p:sp>
        <p:nvSpPr>
          <p:cNvPr id="165" name="Oval 164"/>
          <p:cNvSpPr/>
          <p:nvPr/>
        </p:nvSpPr>
        <p:spPr>
          <a:xfrm>
            <a:off x="1115568" y="3575304"/>
            <a:ext cx="438912" cy="438912"/>
          </a:xfrm>
          <a:prstGeom prst="ellipse">
            <a:avLst/>
          </a:prstGeom>
          <a:solidFill>
            <a:srgbClr val="0E9F6E"/>
          </a:solidFill>
          <a:ln>
            <a:noFill/>
          </a:ln>
          <a:effectLst/>
        </p:spPr>
        <p:txBody>
          <a:bodyPr rtlCol="0" anchor="ctr"/>
          <a:lstStyle/>
          <a:p/>
        </p:txBody>
      </p:sp>
      <p:sp>
        <p:nvSpPr>
          <p:cNvPr id="166" name="TextBox 165"/>
          <p:cNvSpPr txBox="1"/>
          <p:nvPr/>
        </p:nvSpPr>
        <p:spPr>
          <a:xfrm>
            <a:off x="1115568" y="357530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67" name="TextBox 166"/>
          <p:cNvSpPr txBox="1"/>
          <p:nvPr/>
        </p:nvSpPr>
        <p:spPr>
          <a:xfrm>
            <a:off x="1755648" y="3493008"/>
            <a:ext cx="9326880" cy="621792"/>
          </a:xfrm>
          <a:prstGeom prst="rect">
            <a:avLst/>
          </a:prstGeom>
          <a:noFill/>
        </p:spPr>
        <p:txBody>
          <a:bodyPr wrap="square" lIns="0" rIns="0" tIns="0" bIns="0" anchor="ctr">
            <a:spAutoFit/>
          </a:bodyPr>
          <a:lstStyle/>
          <a:p>
            <a:pPr algn="l"/>
            <a:r>
              <a:rPr sz="1400" b="1" i="0">
                <a:solidFill>
                  <a:srgbClr val="14142B"/>
                </a:solidFill>
                <a:latin typeface="Calibri"/>
              </a:rPr>
              <a:t>Demo video, max 5 minutes (YouTube or Drive link)</a:t>
            </a:r>
          </a:p>
          <a:p>
            <a:pPr algn="l"/>
            <a:r>
              <a:rPr sz="1200" b="0" i="0">
                <a:solidFill>
                  <a:srgbClr val="5B5F77"/>
                </a:solidFill>
                <a:latin typeface="Calibri"/>
              </a:rPr>
              <a:t>One unedited take in the order the theme asks for; the link is in the README and the form</a:t>
            </a:r>
          </a:p>
        </p:txBody>
      </p:sp>
      <p:sp>
        <p:nvSpPr>
          <p:cNvPr id="168" name="Rounded Rectangle 167"/>
          <p:cNvSpPr/>
          <p:nvPr/>
        </p:nvSpPr>
        <p:spPr>
          <a:xfrm>
            <a:off x="932688" y="4297679"/>
            <a:ext cx="10332720" cy="731520"/>
          </a:xfrm>
          <a:prstGeom prst="roundRect">
            <a:avLst>
              <a:gd name="adj" fmla="val 10000"/>
            </a:avLst>
          </a:prstGeom>
          <a:solidFill>
            <a:srgbClr val="F5F3FC"/>
          </a:solidFill>
          <a:ln>
            <a:noFill/>
          </a:ln>
          <a:effectLst/>
        </p:spPr>
        <p:txBody>
          <a:bodyPr rtlCol="0" anchor="ctr"/>
          <a:lstStyle/>
          <a:p/>
        </p:txBody>
      </p:sp>
      <p:sp>
        <p:nvSpPr>
          <p:cNvPr id="169" name="Oval 168"/>
          <p:cNvSpPr/>
          <p:nvPr/>
        </p:nvSpPr>
        <p:spPr>
          <a:xfrm>
            <a:off x="1115568" y="4443983"/>
            <a:ext cx="438912" cy="438912"/>
          </a:xfrm>
          <a:prstGeom prst="ellipse">
            <a:avLst/>
          </a:prstGeom>
          <a:solidFill>
            <a:srgbClr val="0E9F6E"/>
          </a:solidFill>
          <a:ln>
            <a:noFill/>
          </a:ln>
          <a:effectLst/>
        </p:spPr>
        <p:txBody>
          <a:bodyPr rtlCol="0" anchor="ctr"/>
          <a:lstStyle/>
          <a:p/>
        </p:txBody>
      </p:sp>
      <p:sp>
        <p:nvSpPr>
          <p:cNvPr id="170" name="TextBox 169"/>
          <p:cNvSpPr txBox="1"/>
          <p:nvPr/>
        </p:nvSpPr>
        <p:spPr>
          <a:xfrm>
            <a:off x="1115568" y="4443983"/>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71" name="TextBox 170"/>
          <p:cNvSpPr txBox="1"/>
          <p:nvPr/>
        </p:nvSpPr>
        <p:spPr>
          <a:xfrm>
            <a:off x="1755648" y="4361688"/>
            <a:ext cx="9326880" cy="621792"/>
          </a:xfrm>
          <a:prstGeom prst="rect">
            <a:avLst/>
          </a:prstGeom>
          <a:noFill/>
        </p:spPr>
        <p:txBody>
          <a:bodyPr wrap="square" lIns="0" rIns="0" tIns="0" bIns="0" anchor="ctr">
            <a:spAutoFit/>
          </a:bodyPr>
          <a:lstStyle/>
          <a:p>
            <a:pPr algn="l"/>
            <a:r>
              <a:rPr sz="1400" b="1" i="0">
                <a:solidFill>
                  <a:srgbClr val="14142B"/>
                </a:solidFill>
                <a:latin typeface="Calibri"/>
              </a:rPr>
              <a:t>Presentation file (PPT or PDF)</a:t>
            </a:r>
          </a:p>
          <a:p>
            <a:pPr algn="l"/>
            <a:r>
              <a:rPr sz="1200" b="0" i="0">
                <a:solidFill>
                  <a:srgbClr val="5B5F77"/>
                </a:solidFill>
                <a:latin typeface="Calibri"/>
              </a:rPr>
              <a:t>TIET_Update_Submission_ppt.pptx, in the repository</a:t>
            </a:r>
          </a:p>
        </p:txBody>
      </p:sp>
      <p:sp>
        <p:nvSpPr>
          <p:cNvPr id="172" name="Rounded Rectangle 171"/>
          <p:cNvSpPr/>
          <p:nvPr/>
        </p:nvSpPr>
        <p:spPr>
          <a:xfrm>
            <a:off x="932688" y="5166360"/>
            <a:ext cx="10332720" cy="731520"/>
          </a:xfrm>
          <a:prstGeom prst="roundRect">
            <a:avLst>
              <a:gd name="adj" fmla="val 10000"/>
            </a:avLst>
          </a:prstGeom>
          <a:solidFill>
            <a:srgbClr val="F5F3FC"/>
          </a:solidFill>
          <a:ln>
            <a:noFill/>
          </a:ln>
          <a:effectLst/>
        </p:spPr>
        <p:txBody>
          <a:bodyPr rtlCol="0" anchor="ctr"/>
          <a:lstStyle/>
          <a:p/>
        </p:txBody>
      </p:sp>
      <p:sp>
        <p:nvSpPr>
          <p:cNvPr id="173" name="Oval 172"/>
          <p:cNvSpPr/>
          <p:nvPr/>
        </p:nvSpPr>
        <p:spPr>
          <a:xfrm>
            <a:off x="1115568" y="5312664"/>
            <a:ext cx="438912" cy="438912"/>
          </a:xfrm>
          <a:prstGeom prst="ellipse">
            <a:avLst/>
          </a:prstGeom>
          <a:solidFill>
            <a:srgbClr val="0E9F6E"/>
          </a:solidFill>
          <a:ln>
            <a:noFill/>
          </a:ln>
          <a:effectLst/>
        </p:spPr>
        <p:txBody>
          <a:bodyPr rtlCol="0" anchor="ctr"/>
          <a:lstStyle/>
          <a:p/>
        </p:txBody>
      </p:sp>
      <p:sp>
        <p:nvSpPr>
          <p:cNvPr id="174" name="TextBox 173"/>
          <p:cNvSpPr txBox="1"/>
          <p:nvPr/>
        </p:nvSpPr>
        <p:spPr>
          <a:xfrm>
            <a:off x="1115568" y="5312664"/>
            <a:ext cx="438912" cy="438912"/>
          </a:xfrm>
          <a:prstGeom prst="rect">
            <a:avLst/>
          </a:prstGeom>
          <a:noFill/>
        </p:spPr>
        <p:txBody>
          <a:bodyPr wrap="square" lIns="0" rIns="0" tIns="0" bIns="0" anchor="ctr">
            <a:spAutoFit/>
          </a:bodyPr>
          <a:lstStyle/>
          <a:p>
            <a:pPr algn="ctr"/>
            <a:r>
              <a:rPr sz="1600" b="1" i="0">
                <a:solidFill>
                  <a:srgbClr val="FFFFFF"/>
                </a:solidFill>
                <a:latin typeface="Arial"/>
              </a:rPr>
              <a:t>Y</a:t>
            </a:r>
          </a:p>
        </p:txBody>
      </p:sp>
      <p:sp>
        <p:nvSpPr>
          <p:cNvPr id="175" name="TextBox 174"/>
          <p:cNvSpPr txBox="1"/>
          <p:nvPr/>
        </p:nvSpPr>
        <p:spPr>
          <a:xfrm>
            <a:off x="1755648" y="5230368"/>
            <a:ext cx="9326880" cy="621792"/>
          </a:xfrm>
          <a:prstGeom prst="rect">
            <a:avLst/>
          </a:prstGeom>
          <a:noFill/>
        </p:spPr>
        <p:txBody>
          <a:bodyPr wrap="square" lIns="0" rIns="0" tIns="0" bIns="0" anchor="ctr">
            <a:spAutoFit/>
          </a:bodyPr>
          <a:lstStyle/>
          <a:p>
            <a:pPr algn="l"/>
            <a:r>
              <a:rPr sz="1400" b="1" i="0">
                <a:solidFill>
                  <a:srgbClr val="14142B"/>
                </a:solidFill>
                <a:latin typeface="Calibri"/>
              </a:rPr>
              <a:t>Architecture, target apps and known limitations (Theme 3)</a:t>
            </a:r>
          </a:p>
          <a:p>
            <a:pPr algn="l"/>
            <a:r>
              <a:rPr sz="1200" b="0" i="0">
                <a:solidFill>
                  <a:srgbClr val="5B5F77"/>
                </a:solidFill>
                <a:latin typeface="Calibri"/>
              </a:rPr>
              <a:t>docs/architecture.md with diagrams; target apps and limitations in the README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2"/>
          <p:cNvSpPr txBox="1"/>
          <p:nvPr/>
        </p:nvSpPr>
        <p:spPr>
          <a:xfrm>
            <a:off x="1046181" y="3730214"/>
            <a:ext cx="67665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4600"/>
              <a:buFont typeface="Arial"/>
              <a:buNone/>
            </a:pPr>
            <a:r>
              <a:rPr b="1" i="0" lang="en-US" sz="4600" u="none" cap="none" strike="noStrike">
                <a:solidFill>
                  <a:srgbClr val="14142B"/>
                </a:solidFill>
                <a:latin typeface="Arial"/>
                <a:ea typeface="Arial"/>
                <a:cs typeface="Arial"/>
                <a:sym typeface="Arial"/>
              </a:rPr>
              <a:t>Thank you</a:t>
            </a:r>
            <a:endParaRPr b="0" i="0" sz="4600" u="none" cap="none" strike="noStrike">
              <a:solidFill>
                <a:schemeClr val="dk1"/>
              </a:solidFill>
              <a:latin typeface="Calibri"/>
              <a:ea typeface="Calibri"/>
              <a:cs typeface="Calibri"/>
              <a:sym typeface="Calibri"/>
            </a:endParaRPr>
          </a:p>
        </p:txBody>
      </p:sp>
      <p:sp>
        <p:nvSpPr>
          <p:cNvPr id="163" name="Google Shape;163;p12"/>
          <p:cNvSpPr txBox="1"/>
          <p:nvPr/>
        </p:nvSpPr>
        <p:spPr>
          <a:xfrm>
            <a:off x="777240" y="5897880"/>
            <a:ext cx="10607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3637E"/>
              </a:buClr>
              <a:buSzPts val="1100"/>
              <a:buFont typeface="Calibri"/>
              <a:buNone/>
            </a:pPr>
            <a:r>
              <a:rPr b="0" i="0" lang="en-US" sz="1100" u="none" cap="none" strike="noStrike">
                <a:solidFill>
                  <a:srgbClr val="63637E"/>
                </a:solidFill>
                <a:latin typeface="Calibri"/>
                <a:ea typeface="Calibri"/>
                <a:cs typeface="Calibri"/>
                <a:sym typeface="Calibri"/>
              </a:rPr>
              <a:t>Organised by the Language AI Team and the PRISM Team, Samsung R&amp;D Institute India</a:t>
            </a:r>
            <a:endParaRPr b="0" i="0" sz="1100" u="none" cap="none" strike="noStrike">
              <a:solidFill>
                <a:schemeClr val="dk1"/>
              </a:solidFill>
              <a:latin typeface="Calibri"/>
              <a:ea typeface="Calibri"/>
              <a:cs typeface="Calibri"/>
              <a:sym typeface="Calibri"/>
            </a:endParaRPr>
          </a:p>
        </p:txBody>
      </p:sp>
      <p:sp>
        <p:nvSpPr>
          <p:cNvPr id="164" name="TextBox 163"/>
          <p:cNvSpPr txBox="1"/>
          <p:nvPr/>
        </p:nvSpPr>
        <p:spPr>
          <a:xfrm>
            <a:off x="1042415" y="4617720"/>
            <a:ext cx="8686800" cy="822960"/>
          </a:xfrm>
          <a:prstGeom prst="rect">
            <a:avLst/>
          </a:prstGeom>
          <a:noFill/>
        </p:spPr>
        <p:txBody>
          <a:bodyPr wrap="square" lIns="0" rIns="0" tIns="0" bIns="0" anchor="t">
            <a:spAutoFit/>
          </a:bodyPr>
          <a:lstStyle/>
          <a:p>
            <a:pPr algn="l">
              <a:spcAft>
                <a:spcPts val="400"/>
              </a:spcAft>
            </a:pPr>
            <a:r>
              <a:rPr sz="1500" b="1" i="0">
                <a:solidFill>
                  <a:srgbClr val="14142B"/>
                </a:solidFill>
                <a:latin typeface="Calibri"/>
              </a:rPr>
              <a:t>Team Update · TIET — </a:t>
            </a:r>
            <a:r>
              <a:rPr sz="1500" b="0" i="0">
                <a:solidFill>
                  <a:srgbClr val="14142B"/>
                </a:solidFill>
                <a:latin typeface="Calibri"/>
              </a:rPr>
              <a:t>Shikhar Goel, Ishpreet Singh</a:t>
            </a:r>
          </a:p>
          <a:p>
            <a:pPr algn="l">
              <a:spcAft>
                <a:spcPts val="400"/>
              </a:spcAft>
            </a:pPr>
            <a:r>
              <a:rPr sz="1300" b="0" i="0">
                <a:solidFill>
                  <a:srgbClr val="6D28D9"/>
                </a:solidFill>
                <a:latin typeface="Calibri"/>
              </a:rPr>
              <a:t>github.com/sgoel2be24-cyber/prism-teachable-voice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704EA6"/>
                </a:solidFill>
                <a:latin typeface="Calibri"/>
              </a:rPr>
              <a:t>Architecture Diagram</a:t>
            </a:r>
          </a:p>
        </p:txBody>
      </p:sp>
      <p:sp>
        <p:nvSpPr>
          <p:cNvPr id="3" name="Rounded Rectangle 2"/>
          <p:cNvSpPr/>
          <p:nvPr/>
        </p:nvSpPr>
        <p:spPr>
          <a:xfrm>
            <a:off x="886968" y="1572768"/>
            <a:ext cx="10424160" cy="3840480"/>
          </a:xfrm>
          <a:prstGeom prst="roundRect">
            <a:avLst>
              <a:gd name="adj" fmla="val 3333"/>
            </a:avLst>
          </a:prstGeom>
          <a:solidFill>
            <a:srgbClr val="F5F3FC"/>
          </a:solidFill>
          <a:ln w="12700">
            <a:solidFill>
              <a:srgbClr val="D9D3F0"/>
            </a:solidFill>
          </a:ln>
          <a:effectLst/>
        </p:spPr>
        <p:txBody>
          <a:bodyPr rtlCol="0" anchor="ctr"/>
          <a:lstStyle/>
          <a:p/>
        </p:txBody>
      </p:sp>
      <p:sp>
        <p:nvSpPr>
          <p:cNvPr id="4" name="TextBox 3"/>
          <p:cNvSpPr txBox="1"/>
          <p:nvPr/>
        </p:nvSpPr>
        <p:spPr>
          <a:xfrm>
            <a:off x="1115568" y="1682496"/>
            <a:ext cx="6400800" cy="274320"/>
          </a:xfrm>
          <a:prstGeom prst="rect">
            <a:avLst/>
          </a:prstGeom>
          <a:noFill/>
        </p:spPr>
        <p:txBody>
          <a:bodyPr wrap="square" lIns="0" rIns="0" tIns="0" bIns="0" anchor="t">
            <a:spAutoFit/>
          </a:bodyPr>
          <a:lstStyle/>
          <a:p>
            <a:pPr algn="l"/>
            <a:r>
              <a:rPr sz="1050" b="1" i="0">
                <a:solidFill>
                  <a:srgbClr val="5B5F77"/>
                </a:solidFill>
                <a:latin typeface="Arial"/>
              </a:rPr>
              <a:t>ON THE PHONE  ·  ANDROID ACCESSIBILITY SERVICE</a:t>
            </a:r>
          </a:p>
        </p:txBody>
      </p:sp>
      <p:sp>
        <p:nvSpPr>
          <p:cNvPr id="5" name="TextBox 4"/>
          <p:cNvSpPr txBox="1"/>
          <p:nvPr/>
        </p:nvSpPr>
        <p:spPr>
          <a:xfrm>
            <a:off x="1133856" y="2002536"/>
            <a:ext cx="2743200" cy="274320"/>
          </a:xfrm>
          <a:prstGeom prst="rect">
            <a:avLst/>
          </a:prstGeom>
          <a:noFill/>
        </p:spPr>
        <p:txBody>
          <a:bodyPr wrap="square" lIns="0" rIns="0" tIns="0" bIns="0" anchor="t">
            <a:spAutoFit/>
          </a:bodyPr>
          <a:lstStyle/>
          <a:p>
            <a:pPr algn="l"/>
            <a:r>
              <a:rPr sz="1300" b="1" i="0">
                <a:solidFill>
                  <a:srgbClr val="14142B"/>
                </a:solidFill>
                <a:latin typeface="Arial"/>
              </a:rPr>
              <a:t>Teach once</a:t>
            </a:r>
          </a:p>
        </p:txBody>
      </p:sp>
      <p:sp>
        <p:nvSpPr>
          <p:cNvPr id="6" name="Rounded Rectangle 5"/>
          <p:cNvSpPr/>
          <p:nvPr/>
        </p:nvSpPr>
        <p:spPr>
          <a:xfrm>
            <a:off x="1133856" y="23317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7" name="TextBox 6"/>
          <p:cNvSpPr txBox="1"/>
          <p:nvPr/>
        </p:nvSpPr>
        <p:spPr>
          <a:xfrm>
            <a:off x="1197864" y="23682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Voice command</a:t>
            </a:r>
          </a:p>
          <a:p>
            <a:pPr algn="ctr"/>
            <a:r>
              <a:rPr sz="950" b="0" i="0">
                <a:solidFill>
                  <a:srgbClr val="5B5F77"/>
                </a:solidFill>
                <a:latin typeface="Calibri"/>
              </a:rPr>
              <a:t>phone’s speech recogniser</a:t>
            </a:r>
          </a:p>
        </p:txBody>
      </p:sp>
      <p:cxnSp>
        <p:nvCxnSpPr>
          <p:cNvPr id="8" name="Connector 7"/>
          <p:cNvCxnSpPr/>
          <p:nvPr/>
        </p:nvCxnSpPr>
        <p:spPr>
          <a:xfrm>
            <a:off x="2642616" y="2766060"/>
            <a:ext cx="210312" cy="0"/>
          </a:xfrm>
          <a:prstGeom prst="line">
            <a:avLst/>
          </a:prstGeom>
          <a:ln w="15875">
            <a:solidFill>
              <a:srgbClr val="5B5F77"/>
            </a:solidFill>
            <a:tailEnd type="triangle" w="med" len="med"/>
          </a:ln>
        </p:spPr>
      </p:cxnSp>
      <p:sp>
        <p:nvSpPr>
          <p:cNvPr id="9" name="Rounded Rectangle 8"/>
          <p:cNvSpPr/>
          <p:nvPr/>
        </p:nvSpPr>
        <p:spPr>
          <a:xfrm>
            <a:off x="2880360" y="23317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10" name="TextBox 9"/>
          <p:cNvSpPr txBox="1"/>
          <p:nvPr/>
        </p:nvSpPr>
        <p:spPr>
          <a:xfrm>
            <a:off x="2944368" y="23682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Recorder</a:t>
            </a:r>
          </a:p>
          <a:p>
            <a:pPr algn="ctr"/>
            <a:r>
              <a:rPr sz="950" b="0" i="0">
                <a:solidFill>
                  <a:srgbClr val="5B5F77"/>
                </a:solidFill>
                <a:latin typeface="Calibri"/>
              </a:rPr>
              <a:t>tap-capture overlay + UI-tree snapshot per tap</a:t>
            </a:r>
          </a:p>
        </p:txBody>
      </p:sp>
      <p:cxnSp>
        <p:nvCxnSpPr>
          <p:cNvPr id="11" name="Connector 10"/>
          <p:cNvCxnSpPr/>
          <p:nvPr/>
        </p:nvCxnSpPr>
        <p:spPr>
          <a:xfrm>
            <a:off x="4389120" y="2766060"/>
            <a:ext cx="210312" cy="0"/>
          </a:xfrm>
          <a:prstGeom prst="line">
            <a:avLst/>
          </a:prstGeom>
          <a:ln w="15875">
            <a:solidFill>
              <a:srgbClr val="5B5F77"/>
            </a:solidFill>
            <a:tailEnd type="triangle" w="med" len="med"/>
          </a:ln>
        </p:spPr>
      </p:cxnSp>
      <p:sp>
        <p:nvSpPr>
          <p:cNvPr id="12" name="Rounded Rectangle 11"/>
          <p:cNvSpPr/>
          <p:nvPr/>
        </p:nvSpPr>
        <p:spPr>
          <a:xfrm>
            <a:off x="4626864" y="23317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13" name="TextBox 12"/>
          <p:cNvSpPr txBox="1"/>
          <p:nvPr/>
        </p:nvSpPr>
        <p:spPr>
          <a:xfrm>
            <a:off x="4690872" y="23682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Generaliser</a:t>
            </a:r>
          </a:p>
          <a:p>
            <a:pPr algn="ctr"/>
            <a:r>
              <a:rPr sz="950" b="0" i="0">
                <a:solidFill>
                  <a:srgbClr val="5B5F77"/>
                </a:solidFill>
                <a:latin typeface="Calibri"/>
              </a:rPr>
              <a:t>slots from command words, card anchors</a:t>
            </a:r>
          </a:p>
        </p:txBody>
      </p:sp>
      <p:cxnSp>
        <p:nvCxnSpPr>
          <p:cNvPr id="14" name="Connector 13"/>
          <p:cNvCxnSpPr/>
          <p:nvPr/>
        </p:nvCxnSpPr>
        <p:spPr>
          <a:xfrm>
            <a:off x="6135624" y="2766060"/>
            <a:ext cx="210312" cy="0"/>
          </a:xfrm>
          <a:prstGeom prst="line">
            <a:avLst/>
          </a:prstGeom>
          <a:ln w="15875">
            <a:solidFill>
              <a:srgbClr val="5B5F77"/>
            </a:solidFill>
            <a:tailEnd type="triangle" w="med" len="med"/>
          </a:ln>
        </p:spPr>
      </p:cxnSp>
      <p:sp>
        <p:nvSpPr>
          <p:cNvPr id="15" name="Rounded Rectangle 14"/>
          <p:cNvSpPr/>
          <p:nvPr/>
        </p:nvSpPr>
        <p:spPr>
          <a:xfrm>
            <a:off x="6373368" y="23317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16" name="TextBox 15"/>
          <p:cNvSpPr txBox="1"/>
          <p:nvPr/>
        </p:nvSpPr>
        <p:spPr>
          <a:xfrm>
            <a:off x="6437376" y="23682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Refine</a:t>
            </a:r>
          </a:p>
          <a:p>
            <a:pPr algn="ctr"/>
            <a:r>
              <a:rPr sz="950" b="0" i="0">
                <a:solidFill>
                  <a:srgbClr val="5B5F77"/>
                </a:solidFill>
                <a:latin typeface="Calibri"/>
              </a:rPr>
              <a:t>slot names, step intents, noise, goals</a:t>
            </a:r>
          </a:p>
        </p:txBody>
      </p:sp>
      <p:sp>
        <p:nvSpPr>
          <p:cNvPr id="17" name="Rounded Rectangle 16"/>
          <p:cNvSpPr/>
          <p:nvPr/>
        </p:nvSpPr>
        <p:spPr>
          <a:xfrm>
            <a:off x="7397496" y="2212848"/>
            <a:ext cx="420624" cy="219456"/>
          </a:xfrm>
          <a:prstGeom prst="roundRect">
            <a:avLst>
              <a:gd name="adj" fmla="val 50000"/>
            </a:avLst>
          </a:prstGeom>
          <a:solidFill>
            <a:srgbClr val="6D28D9"/>
          </a:solidFill>
          <a:ln>
            <a:noFill/>
          </a:ln>
          <a:effectLst/>
        </p:spPr>
        <p:txBody>
          <a:bodyPr rtlCol="0" anchor="ctr"/>
          <a:lstStyle/>
          <a:p/>
        </p:txBody>
      </p:sp>
      <p:sp>
        <p:nvSpPr>
          <p:cNvPr id="18" name="TextBox 17"/>
          <p:cNvSpPr txBox="1"/>
          <p:nvPr/>
        </p:nvSpPr>
        <p:spPr>
          <a:xfrm>
            <a:off x="7397496" y="2212848"/>
            <a:ext cx="420624" cy="219456"/>
          </a:xfrm>
          <a:prstGeom prst="rect">
            <a:avLst/>
          </a:prstGeom>
          <a:noFill/>
        </p:spPr>
        <p:txBody>
          <a:bodyPr wrap="square" lIns="0" rIns="0" tIns="0" bIns="0" anchor="ctr">
            <a:spAutoFit/>
          </a:bodyPr>
          <a:lstStyle/>
          <a:p>
            <a:pPr algn="ctr"/>
            <a:r>
              <a:rPr sz="850" b="1" i="0">
                <a:solidFill>
                  <a:srgbClr val="FFFFFF"/>
                </a:solidFill>
                <a:latin typeface="Arial"/>
              </a:rPr>
              <a:t>LLM</a:t>
            </a:r>
          </a:p>
        </p:txBody>
      </p:sp>
      <p:cxnSp>
        <p:nvCxnSpPr>
          <p:cNvPr id="19" name="Connector 18"/>
          <p:cNvCxnSpPr/>
          <p:nvPr/>
        </p:nvCxnSpPr>
        <p:spPr>
          <a:xfrm>
            <a:off x="7882127" y="2766060"/>
            <a:ext cx="210313" cy="0"/>
          </a:xfrm>
          <a:prstGeom prst="line">
            <a:avLst/>
          </a:prstGeom>
          <a:ln w="15875">
            <a:solidFill>
              <a:srgbClr val="5B5F77"/>
            </a:solidFill>
            <a:tailEnd type="triangle" w="med" len="med"/>
          </a:ln>
        </p:spPr>
      </p:cxnSp>
      <p:sp>
        <p:nvSpPr>
          <p:cNvPr id="20" name="Rounded Rectangle 19"/>
          <p:cNvSpPr/>
          <p:nvPr/>
        </p:nvSpPr>
        <p:spPr>
          <a:xfrm>
            <a:off x="8119872" y="23317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21" name="TextBox 20"/>
          <p:cNvSpPr txBox="1"/>
          <p:nvPr/>
        </p:nvSpPr>
        <p:spPr>
          <a:xfrm>
            <a:off x="8183880" y="23682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User review</a:t>
            </a:r>
          </a:p>
          <a:p>
            <a:pPr algn="ctr"/>
            <a:r>
              <a:rPr sz="950" b="0" i="0">
                <a:solidFill>
                  <a:srgbClr val="5B5F77"/>
                </a:solidFill>
                <a:latin typeface="Calibri"/>
              </a:rPr>
              <a:t>steps shown in words; delete / re-teach</a:t>
            </a:r>
          </a:p>
        </p:txBody>
      </p:sp>
      <p:cxnSp>
        <p:nvCxnSpPr>
          <p:cNvPr id="22" name="Connector 21"/>
          <p:cNvCxnSpPr/>
          <p:nvPr/>
        </p:nvCxnSpPr>
        <p:spPr>
          <a:xfrm>
            <a:off x="9628632" y="2766060"/>
            <a:ext cx="210312" cy="0"/>
          </a:xfrm>
          <a:prstGeom prst="line">
            <a:avLst/>
          </a:prstGeom>
          <a:ln w="15875">
            <a:solidFill>
              <a:srgbClr val="5B5F77"/>
            </a:solidFill>
            <a:tailEnd type="triangle" w="med" len="med"/>
          </a:ln>
        </p:spPr>
      </p:cxnSp>
      <p:sp>
        <p:nvSpPr>
          <p:cNvPr id="23" name="Rounded Rectangle 22"/>
          <p:cNvSpPr/>
          <p:nvPr/>
        </p:nvSpPr>
        <p:spPr>
          <a:xfrm>
            <a:off x="9866376" y="2331720"/>
            <a:ext cx="1481328" cy="868680"/>
          </a:xfrm>
          <a:prstGeom prst="roundRect">
            <a:avLst>
              <a:gd name="adj" fmla="val 8421"/>
            </a:avLst>
          </a:prstGeom>
          <a:solidFill>
            <a:srgbClr val="14142B"/>
          </a:solidFill>
          <a:ln>
            <a:noFill/>
          </a:ln>
          <a:effectLst/>
        </p:spPr>
        <p:txBody>
          <a:bodyPr rtlCol="0" anchor="ctr"/>
          <a:lstStyle/>
          <a:p/>
        </p:txBody>
      </p:sp>
      <p:sp>
        <p:nvSpPr>
          <p:cNvPr id="24" name="TextBox 23"/>
          <p:cNvSpPr txBox="1"/>
          <p:nvPr/>
        </p:nvSpPr>
        <p:spPr>
          <a:xfrm>
            <a:off x="9930384" y="2368296"/>
            <a:ext cx="1353312" cy="795528"/>
          </a:xfrm>
          <a:prstGeom prst="rect">
            <a:avLst/>
          </a:prstGeom>
          <a:noFill/>
        </p:spPr>
        <p:txBody>
          <a:bodyPr wrap="square" lIns="0" rIns="0" tIns="0" bIns="0" anchor="ctr">
            <a:spAutoFit/>
          </a:bodyPr>
          <a:lstStyle/>
          <a:p>
            <a:pPr algn="ctr"/>
            <a:r>
              <a:rPr sz="1200" b="1" i="0">
                <a:solidFill>
                  <a:srgbClr val="FFFFFF"/>
                </a:solidFill>
                <a:latin typeface="Calibri"/>
              </a:rPr>
              <a:t>Recipe store</a:t>
            </a:r>
          </a:p>
          <a:p>
            <a:pPr algn="ctr"/>
            <a:r>
              <a:rPr sz="950" b="0" i="0">
                <a:solidFill>
                  <a:srgbClr val="D9D3F0"/>
                </a:solidFill>
                <a:latin typeface="Calibri"/>
              </a:rPr>
              <a:t>JSON on the phone</a:t>
            </a:r>
          </a:p>
        </p:txBody>
      </p:sp>
      <p:sp>
        <p:nvSpPr>
          <p:cNvPr id="25" name="TextBox 24"/>
          <p:cNvSpPr txBox="1"/>
          <p:nvPr/>
        </p:nvSpPr>
        <p:spPr>
          <a:xfrm>
            <a:off x="1133856" y="3831335"/>
            <a:ext cx="2743200" cy="274320"/>
          </a:xfrm>
          <a:prstGeom prst="rect">
            <a:avLst/>
          </a:prstGeom>
          <a:noFill/>
        </p:spPr>
        <p:txBody>
          <a:bodyPr wrap="square" lIns="0" rIns="0" tIns="0" bIns="0" anchor="t">
            <a:spAutoFit/>
          </a:bodyPr>
          <a:lstStyle/>
          <a:p>
            <a:pPr algn="l"/>
            <a:r>
              <a:rPr sz="1300" b="1" i="0">
                <a:solidFill>
                  <a:srgbClr val="14142B"/>
                </a:solidFill>
                <a:latin typeface="Arial"/>
              </a:rPr>
              <a:t>Run on command</a:t>
            </a:r>
          </a:p>
        </p:txBody>
      </p:sp>
      <p:sp>
        <p:nvSpPr>
          <p:cNvPr id="26" name="Rounded Rectangle 25"/>
          <p:cNvSpPr/>
          <p:nvPr/>
        </p:nvSpPr>
        <p:spPr>
          <a:xfrm>
            <a:off x="1133856" y="41605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27" name="TextBox 26"/>
          <p:cNvSpPr txBox="1"/>
          <p:nvPr/>
        </p:nvSpPr>
        <p:spPr>
          <a:xfrm>
            <a:off x="1197864" y="41970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Voice command</a:t>
            </a:r>
          </a:p>
          <a:p>
            <a:pPr algn="ctr"/>
            <a:r>
              <a:rPr sz="950" b="0" i="0">
                <a:solidFill>
                  <a:srgbClr val="5B5F77"/>
                </a:solidFill>
                <a:latin typeface="Calibri"/>
              </a:rPr>
              <a:t>or typed</a:t>
            </a:r>
          </a:p>
        </p:txBody>
      </p:sp>
      <p:cxnSp>
        <p:nvCxnSpPr>
          <p:cNvPr id="28" name="Connector 27"/>
          <p:cNvCxnSpPr/>
          <p:nvPr/>
        </p:nvCxnSpPr>
        <p:spPr>
          <a:xfrm>
            <a:off x="2642616" y="4594859"/>
            <a:ext cx="210312" cy="0"/>
          </a:xfrm>
          <a:prstGeom prst="line">
            <a:avLst/>
          </a:prstGeom>
          <a:ln w="15875">
            <a:solidFill>
              <a:srgbClr val="5B5F77"/>
            </a:solidFill>
            <a:tailEnd type="triangle" w="med" len="med"/>
          </a:ln>
        </p:spPr>
      </p:cxnSp>
      <p:sp>
        <p:nvSpPr>
          <p:cNvPr id="29" name="Rounded Rectangle 28"/>
          <p:cNvSpPr/>
          <p:nvPr/>
        </p:nvSpPr>
        <p:spPr>
          <a:xfrm>
            <a:off x="2880360" y="41605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30" name="TextBox 29"/>
          <p:cNvSpPr txBox="1"/>
          <p:nvPr/>
        </p:nvSpPr>
        <p:spPr>
          <a:xfrm>
            <a:off x="2944368" y="41970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Matcher</a:t>
            </a:r>
          </a:p>
          <a:p>
            <a:pPr algn="ctr"/>
            <a:r>
              <a:rPr sz="950" b="0" i="0">
                <a:solidFill>
                  <a:srgbClr val="5B5F77"/>
                </a:solidFill>
                <a:latin typeface="Calibri"/>
              </a:rPr>
              <a:t>exact / template offline, else LLM → flow + slots + app</a:t>
            </a:r>
          </a:p>
        </p:txBody>
      </p:sp>
      <p:sp>
        <p:nvSpPr>
          <p:cNvPr id="31" name="Rounded Rectangle 30"/>
          <p:cNvSpPr/>
          <p:nvPr/>
        </p:nvSpPr>
        <p:spPr>
          <a:xfrm>
            <a:off x="3904488" y="4041648"/>
            <a:ext cx="420624" cy="219456"/>
          </a:xfrm>
          <a:prstGeom prst="roundRect">
            <a:avLst>
              <a:gd name="adj" fmla="val 50000"/>
            </a:avLst>
          </a:prstGeom>
          <a:solidFill>
            <a:srgbClr val="6D28D9"/>
          </a:solidFill>
          <a:ln>
            <a:noFill/>
          </a:ln>
          <a:effectLst/>
        </p:spPr>
        <p:txBody>
          <a:bodyPr rtlCol="0" anchor="ctr"/>
          <a:lstStyle/>
          <a:p/>
        </p:txBody>
      </p:sp>
      <p:sp>
        <p:nvSpPr>
          <p:cNvPr id="32" name="TextBox 31"/>
          <p:cNvSpPr txBox="1"/>
          <p:nvPr/>
        </p:nvSpPr>
        <p:spPr>
          <a:xfrm>
            <a:off x="3904488" y="4041648"/>
            <a:ext cx="420624" cy="219456"/>
          </a:xfrm>
          <a:prstGeom prst="rect">
            <a:avLst/>
          </a:prstGeom>
          <a:noFill/>
        </p:spPr>
        <p:txBody>
          <a:bodyPr wrap="square" lIns="0" rIns="0" tIns="0" bIns="0" anchor="ctr">
            <a:spAutoFit/>
          </a:bodyPr>
          <a:lstStyle/>
          <a:p>
            <a:pPr algn="ctr"/>
            <a:r>
              <a:rPr sz="850" b="1" i="0">
                <a:solidFill>
                  <a:srgbClr val="FFFFFF"/>
                </a:solidFill>
                <a:latin typeface="Arial"/>
              </a:rPr>
              <a:t>LLM</a:t>
            </a:r>
          </a:p>
        </p:txBody>
      </p:sp>
      <p:cxnSp>
        <p:nvCxnSpPr>
          <p:cNvPr id="33" name="Connector 32"/>
          <p:cNvCxnSpPr/>
          <p:nvPr/>
        </p:nvCxnSpPr>
        <p:spPr>
          <a:xfrm>
            <a:off x="4389120" y="4594859"/>
            <a:ext cx="210312" cy="0"/>
          </a:xfrm>
          <a:prstGeom prst="line">
            <a:avLst/>
          </a:prstGeom>
          <a:ln w="15875">
            <a:solidFill>
              <a:srgbClr val="5B5F77"/>
            </a:solidFill>
            <a:tailEnd type="triangle" w="med" len="med"/>
          </a:ln>
        </p:spPr>
      </p:cxnSp>
      <p:sp>
        <p:nvSpPr>
          <p:cNvPr id="34" name="Rounded Rectangle 33"/>
          <p:cNvSpPr/>
          <p:nvPr/>
        </p:nvSpPr>
        <p:spPr>
          <a:xfrm>
            <a:off x="4626864" y="41605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35" name="TextBox 34"/>
          <p:cNvSpPr txBox="1"/>
          <p:nvPr/>
        </p:nvSpPr>
        <p:spPr>
          <a:xfrm>
            <a:off x="4690872" y="41970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Executor</a:t>
            </a:r>
          </a:p>
          <a:p>
            <a:pPr algn="ctr"/>
            <a:r>
              <a:rPr sz="950" b="0" i="0">
                <a:solidFill>
                  <a:srgbClr val="5B5F77"/>
                </a:solidFill>
                <a:latin typeface="Calibri"/>
              </a:rPr>
              <a:t>fast path → scroll / search → LLM action → ask</a:t>
            </a:r>
          </a:p>
        </p:txBody>
      </p:sp>
      <p:sp>
        <p:nvSpPr>
          <p:cNvPr id="36" name="Rounded Rectangle 35"/>
          <p:cNvSpPr/>
          <p:nvPr/>
        </p:nvSpPr>
        <p:spPr>
          <a:xfrm>
            <a:off x="5650992" y="4041648"/>
            <a:ext cx="420624" cy="219456"/>
          </a:xfrm>
          <a:prstGeom prst="roundRect">
            <a:avLst>
              <a:gd name="adj" fmla="val 50000"/>
            </a:avLst>
          </a:prstGeom>
          <a:solidFill>
            <a:srgbClr val="6D28D9"/>
          </a:solidFill>
          <a:ln>
            <a:noFill/>
          </a:ln>
          <a:effectLst/>
        </p:spPr>
        <p:txBody>
          <a:bodyPr rtlCol="0" anchor="ctr"/>
          <a:lstStyle/>
          <a:p/>
        </p:txBody>
      </p:sp>
      <p:sp>
        <p:nvSpPr>
          <p:cNvPr id="37" name="TextBox 36"/>
          <p:cNvSpPr txBox="1"/>
          <p:nvPr/>
        </p:nvSpPr>
        <p:spPr>
          <a:xfrm>
            <a:off x="5650992" y="4041648"/>
            <a:ext cx="420624" cy="219456"/>
          </a:xfrm>
          <a:prstGeom prst="rect">
            <a:avLst/>
          </a:prstGeom>
          <a:noFill/>
        </p:spPr>
        <p:txBody>
          <a:bodyPr wrap="square" lIns="0" rIns="0" tIns="0" bIns="0" anchor="ctr">
            <a:spAutoFit/>
          </a:bodyPr>
          <a:lstStyle/>
          <a:p>
            <a:pPr algn="ctr"/>
            <a:r>
              <a:rPr sz="850" b="1" i="0">
                <a:solidFill>
                  <a:srgbClr val="FFFFFF"/>
                </a:solidFill>
                <a:latin typeface="Arial"/>
              </a:rPr>
              <a:t>LLM</a:t>
            </a:r>
          </a:p>
        </p:txBody>
      </p:sp>
      <p:cxnSp>
        <p:nvCxnSpPr>
          <p:cNvPr id="38" name="Connector 37"/>
          <p:cNvCxnSpPr/>
          <p:nvPr/>
        </p:nvCxnSpPr>
        <p:spPr>
          <a:xfrm>
            <a:off x="6135624" y="4594859"/>
            <a:ext cx="210312" cy="0"/>
          </a:xfrm>
          <a:prstGeom prst="line">
            <a:avLst/>
          </a:prstGeom>
          <a:ln w="15875">
            <a:solidFill>
              <a:srgbClr val="5B5F77"/>
            </a:solidFill>
            <a:tailEnd type="triangle" w="med" len="med"/>
          </a:ln>
        </p:spPr>
      </p:cxnSp>
      <p:sp>
        <p:nvSpPr>
          <p:cNvPr id="39" name="Rounded Rectangle 38"/>
          <p:cNvSpPr/>
          <p:nvPr/>
        </p:nvSpPr>
        <p:spPr>
          <a:xfrm>
            <a:off x="6373368" y="41605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40" name="TextBox 39"/>
          <p:cNvSpPr txBox="1"/>
          <p:nvPr/>
        </p:nvSpPr>
        <p:spPr>
          <a:xfrm>
            <a:off x="6437376" y="41970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Checks</a:t>
            </a:r>
          </a:p>
          <a:p>
            <a:pPr algn="ctr"/>
            <a:r>
              <a:rPr sz="950" b="0" i="0">
                <a:solidFill>
                  <a:srgbClr val="5B5F77"/>
                </a:solidFill>
                <a:latin typeface="Calibri"/>
              </a:rPr>
              <a:t>cart count, the right dish, not an advert</a:t>
            </a:r>
          </a:p>
        </p:txBody>
      </p:sp>
      <p:cxnSp>
        <p:nvCxnSpPr>
          <p:cNvPr id="41" name="Connector 40"/>
          <p:cNvCxnSpPr/>
          <p:nvPr/>
        </p:nvCxnSpPr>
        <p:spPr>
          <a:xfrm>
            <a:off x="7882127" y="4594859"/>
            <a:ext cx="210313" cy="0"/>
          </a:xfrm>
          <a:prstGeom prst="line">
            <a:avLst/>
          </a:prstGeom>
          <a:ln w="15875">
            <a:solidFill>
              <a:srgbClr val="5B5F77"/>
            </a:solidFill>
            <a:tailEnd type="triangle" w="med" len="med"/>
          </a:ln>
        </p:spPr>
      </p:cxnSp>
      <p:sp>
        <p:nvSpPr>
          <p:cNvPr id="42" name="Rounded Rectangle 41"/>
          <p:cNvSpPr/>
          <p:nvPr/>
        </p:nvSpPr>
        <p:spPr>
          <a:xfrm>
            <a:off x="8119872" y="4160520"/>
            <a:ext cx="1481328" cy="868680"/>
          </a:xfrm>
          <a:prstGeom prst="roundRect">
            <a:avLst>
              <a:gd name="adj" fmla="val 8421"/>
            </a:avLst>
          </a:prstGeom>
          <a:solidFill>
            <a:srgbClr val="FFFFFF"/>
          </a:solidFill>
          <a:ln w="12700">
            <a:solidFill>
              <a:srgbClr val="C9C3E6"/>
            </a:solidFill>
          </a:ln>
          <a:effectLst/>
        </p:spPr>
        <p:txBody>
          <a:bodyPr rtlCol="0" anchor="ctr"/>
          <a:lstStyle/>
          <a:p/>
        </p:txBody>
      </p:sp>
      <p:sp>
        <p:nvSpPr>
          <p:cNvPr id="43" name="TextBox 42"/>
          <p:cNvSpPr txBox="1"/>
          <p:nvPr/>
        </p:nvSpPr>
        <p:spPr>
          <a:xfrm>
            <a:off x="8183880" y="4197096"/>
            <a:ext cx="1353312" cy="795528"/>
          </a:xfrm>
          <a:prstGeom prst="rect">
            <a:avLst/>
          </a:prstGeom>
          <a:noFill/>
        </p:spPr>
        <p:txBody>
          <a:bodyPr wrap="square" lIns="0" rIns="0" tIns="0" bIns="0" anchor="ctr">
            <a:spAutoFit/>
          </a:bodyPr>
          <a:lstStyle/>
          <a:p>
            <a:pPr algn="ctr"/>
            <a:r>
              <a:rPr sz="1200" b="1" i="0">
                <a:solidFill>
                  <a:srgbClr val="14142B"/>
                </a:solidFill>
                <a:latin typeface="Calibri"/>
              </a:rPr>
              <a:t>Guard</a:t>
            </a:r>
          </a:p>
          <a:p>
            <a:pPr algn="ctr"/>
            <a:r>
              <a:rPr sz="950" b="0" i="0">
                <a:solidFill>
                  <a:srgbClr val="5B5F77"/>
                </a:solidFill>
                <a:latin typeface="Calibri"/>
              </a:rPr>
              <a:t>payment, login, OTP, password, closed shop</a:t>
            </a:r>
          </a:p>
        </p:txBody>
      </p:sp>
      <p:cxnSp>
        <p:nvCxnSpPr>
          <p:cNvPr id="44" name="Connector 43"/>
          <p:cNvCxnSpPr/>
          <p:nvPr/>
        </p:nvCxnSpPr>
        <p:spPr>
          <a:xfrm>
            <a:off x="9628632" y="4594859"/>
            <a:ext cx="210312" cy="0"/>
          </a:xfrm>
          <a:prstGeom prst="line">
            <a:avLst/>
          </a:prstGeom>
          <a:ln w="15875">
            <a:solidFill>
              <a:srgbClr val="5B5F77"/>
            </a:solidFill>
            <a:tailEnd type="triangle" w="med" len="med"/>
          </a:ln>
        </p:spPr>
      </p:cxnSp>
      <p:sp>
        <p:nvSpPr>
          <p:cNvPr id="45" name="Rounded Rectangle 44"/>
          <p:cNvSpPr/>
          <p:nvPr/>
        </p:nvSpPr>
        <p:spPr>
          <a:xfrm>
            <a:off x="9866376" y="4160520"/>
            <a:ext cx="1481328" cy="868680"/>
          </a:xfrm>
          <a:prstGeom prst="roundRect">
            <a:avLst>
              <a:gd name="adj" fmla="val 8421"/>
            </a:avLst>
          </a:prstGeom>
          <a:solidFill>
            <a:srgbClr val="6D28D9"/>
          </a:solidFill>
          <a:ln>
            <a:noFill/>
          </a:ln>
          <a:effectLst/>
        </p:spPr>
        <p:txBody>
          <a:bodyPr rtlCol="0" anchor="ctr"/>
          <a:lstStyle/>
          <a:p/>
        </p:txBody>
      </p:sp>
      <p:sp>
        <p:nvSpPr>
          <p:cNvPr id="46" name="TextBox 45"/>
          <p:cNvSpPr txBox="1"/>
          <p:nvPr/>
        </p:nvSpPr>
        <p:spPr>
          <a:xfrm>
            <a:off x="9930384" y="4197096"/>
            <a:ext cx="1353312" cy="795528"/>
          </a:xfrm>
          <a:prstGeom prst="rect">
            <a:avLst/>
          </a:prstGeom>
          <a:noFill/>
        </p:spPr>
        <p:txBody>
          <a:bodyPr wrap="square" lIns="0" rIns="0" tIns="0" bIns="0" anchor="ctr">
            <a:spAutoFit/>
          </a:bodyPr>
          <a:lstStyle/>
          <a:p>
            <a:pPr algn="ctr"/>
            <a:r>
              <a:rPr sz="1200" b="1" i="0">
                <a:solidFill>
                  <a:srgbClr val="FFFFFF"/>
                </a:solidFill>
                <a:latin typeface="Calibri"/>
              </a:rPr>
              <a:t>Done / hand back</a:t>
            </a:r>
          </a:p>
          <a:p>
            <a:pPr algn="ctr"/>
            <a:r>
              <a:rPr sz="950" b="0" i="0">
                <a:solidFill>
                  <a:srgbClr val="D9D3F0"/>
                </a:solidFill>
                <a:latin typeface="Calibri"/>
              </a:rPr>
              <a:t>spoken reply + run log</a:t>
            </a:r>
          </a:p>
        </p:txBody>
      </p:sp>
      <p:cxnSp>
        <p:nvCxnSpPr>
          <p:cNvPr id="47" name="Connector 46"/>
          <p:cNvCxnSpPr/>
          <p:nvPr/>
        </p:nvCxnSpPr>
        <p:spPr>
          <a:xfrm>
            <a:off x="10607040" y="3200400"/>
            <a:ext cx="0" cy="448056"/>
          </a:xfrm>
          <a:prstGeom prst="line">
            <a:avLst/>
          </a:prstGeom>
          <a:ln w="15875">
            <a:solidFill>
              <a:srgbClr val="14142B"/>
            </a:solidFill>
            <a:prstDash val="dash"/>
          </a:ln>
        </p:spPr>
      </p:cxnSp>
      <p:cxnSp>
        <p:nvCxnSpPr>
          <p:cNvPr id="48" name="Connector 47"/>
          <p:cNvCxnSpPr/>
          <p:nvPr/>
        </p:nvCxnSpPr>
        <p:spPr>
          <a:xfrm flipH="1">
            <a:off x="5367528" y="3648456"/>
            <a:ext cx="5239512" cy="0"/>
          </a:xfrm>
          <a:prstGeom prst="line">
            <a:avLst/>
          </a:prstGeom>
          <a:ln w="15875">
            <a:solidFill>
              <a:srgbClr val="14142B"/>
            </a:solidFill>
            <a:prstDash val="dash"/>
          </a:ln>
        </p:spPr>
      </p:cxnSp>
      <p:cxnSp>
        <p:nvCxnSpPr>
          <p:cNvPr id="49" name="Connector 48"/>
          <p:cNvCxnSpPr/>
          <p:nvPr/>
        </p:nvCxnSpPr>
        <p:spPr>
          <a:xfrm>
            <a:off x="5367528" y="3648456"/>
            <a:ext cx="0" cy="493776"/>
          </a:xfrm>
          <a:prstGeom prst="line">
            <a:avLst/>
          </a:prstGeom>
          <a:ln w="15875">
            <a:solidFill>
              <a:srgbClr val="14142B"/>
            </a:solidFill>
            <a:prstDash val="dash"/>
            <a:tailEnd type="triangle" w="med" len="med"/>
          </a:ln>
        </p:spPr>
      </p:cxnSp>
      <p:sp>
        <p:nvSpPr>
          <p:cNvPr id="50" name="Rounded Rectangle 49"/>
          <p:cNvSpPr/>
          <p:nvPr/>
        </p:nvSpPr>
        <p:spPr>
          <a:xfrm>
            <a:off x="886968" y="5577840"/>
            <a:ext cx="10424160" cy="548640"/>
          </a:xfrm>
          <a:prstGeom prst="roundRect">
            <a:avLst>
              <a:gd name="adj" fmla="val 16666"/>
            </a:avLst>
          </a:prstGeom>
          <a:solidFill>
            <a:srgbClr val="FFFFFF"/>
          </a:solidFill>
          <a:ln w="12700">
            <a:solidFill>
              <a:srgbClr val="6D28D9"/>
            </a:solidFill>
            <a:prstDash val="dash"/>
          </a:ln>
          <a:effectLst/>
        </p:spPr>
        <p:txBody>
          <a:bodyPr rtlCol="0" anchor="ctr"/>
          <a:lstStyle/>
          <a:p/>
        </p:txBody>
      </p:sp>
      <p:sp>
        <p:nvSpPr>
          <p:cNvPr id="51" name="Oval 50"/>
          <p:cNvSpPr/>
          <p:nvPr/>
        </p:nvSpPr>
        <p:spPr>
          <a:xfrm>
            <a:off x="1024128" y="5632704"/>
            <a:ext cx="438912" cy="438912"/>
          </a:xfrm>
          <a:prstGeom prst="ellipse">
            <a:avLst/>
          </a:prstGeom>
          <a:solidFill>
            <a:srgbClr val="6D28D9"/>
          </a:solidFill>
          <a:ln>
            <a:noFill/>
          </a:ln>
          <a:effectLst/>
        </p:spPr>
        <p:txBody>
          <a:bodyPr rtlCol="0" anchor="ctr"/>
          <a:lstStyle/>
          <a:p/>
        </p:txBody>
      </p:sp>
      <p:pic>
        <p:nvPicPr>
          <p:cNvPr id="52" name="Picture 51" descr="MdCloudQueue_FFFFFF.png"/>
          <p:cNvPicPr>
            <a:picLocks noChangeAspect="1"/>
          </p:cNvPicPr>
          <p:nvPr/>
        </p:nvPicPr>
        <p:blipFill>
          <a:blip r:embed="rId2"/>
          <a:stretch>
            <a:fillRect/>
          </a:stretch>
        </p:blipFill>
        <p:spPr>
          <a:xfrm>
            <a:off x="1120688" y="5729264"/>
            <a:ext cx="245790" cy="245790"/>
          </a:xfrm>
          <a:prstGeom prst="rect">
            <a:avLst/>
          </a:prstGeom>
        </p:spPr>
      </p:pic>
      <p:sp>
        <p:nvSpPr>
          <p:cNvPr id="53" name="TextBox 52"/>
          <p:cNvSpPr txBox="1"/>
          <p:nvPr/>
        </p:nvSpPr>
        <p:spPr>
          <a:xfrm>
            <a:off x="1618488" y="5577840"/>
            <a:ext cx="9509760" cy="548640"/>
          </a:xfrm>
          <a:prstGeom prst="rect">
            <a:avLst/>
          </a:prstGeom>
          <a:noFill/>
        </p:spPr>
        <p:txBody>
          <a:bodyPr wrap="square" lIns="0" rIns="0" tIns="0" bIns="0" anchor="ctr">
            <a:spAutoFit/>
          </a:bodyPr>
          <a:lstStyle/>
          <a:p>
            <a:pPr algn="l"/>
            <a:r>
              <a:rPr sz="1250" b="1" i="0">
                <a:solidFill>
                  <a:srgbClr val="14142B"/>
                </a:solidFill>
                <a:latin typeface="Calibri"/>
              </a:rPr>
              <a:t>Fireworks AI · gpt-oss-120b  </a:t>
            </a:r>
            <a:r>
              <a:rPr sz="1250" b="0" i="0">
                <a:solidFill>
                  <a:srgbClr val="5B5F77"/>
                </a:solidFill>
                <a:latin typeface="Calibri"/>
              </a:rPr>
              <a:t>— the only network call: refine a demo once, understand a paraphrase, choose one action on an unfamiliar screen. About 1–2 s 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704EA6"/>
                </a:solidFill>
                <a:latin typeface="Calibri"/>
              </a:rPr>
              <a:t>How it works</a:t>
            </a:r>
          </a:p>
        </p:txBody>
      </p:sp>
      <p:sp>
        <p:nvSpPr>
          <p:cNvPr id="3" name="TextBox 2"/>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SPEECH TO INTENT · UI-TREE CAPTURE · GENERALISATION · SLOT EXTRACTION · REPLAY</a:t>
            </a:r>
          </a:p>
        </p:txBody>
      </p:sp>
      <p:sp>
        <p:nvSpPr>
          <p:cNvPr id="4" name="Oval 3"/>
          <p:cNvSpPr/>
          <p:nvPr/>
        </p:nvSpPr>
        <p:spPr>
          <a:xfrm>
            <a:off x="932688" y="1901952"/>
            <a:ext cx="548640" cy="548640"/>
          </a:xfrm>
          <a:prstGeom prst="ellipse">
            <a:avLst/>
          </a:prstGeom>
          <a:solidFill>
            <a:srgbClr val="14142B"/>
          </a:solidFill>
          <a:ln>
            <a:noFill/>
          </a:ln>
          <a:effectLst/>
        </p:spPr>
        <p:txBody>
          <a:bodyPr rtlCol="0" anchor="ctr"/>
          <a:lstStyle/>
          <a:p/>
        </p:txBody>
      </p:sp>
      <p:pic>
        <p:nvPicPr>
          <p:cNvPr id="5" name="Picture 4" descr="MdRecordVoiceOver_FFFFFF.png"/>
          <p:cNvPicPr>
            <a:picLocks noChangeAspect="1"/>
          </p:cNvPicPr>
          <p:nvPr/>
        </p:nvPicPr>
        <p:blipFill>
          <a:blip r:embed="rId2"/>
          <a:stretch>
            <a:fillRect/>
          </a:stretch>
        </p:blipFill>
        <p:spPr>
          <a:xfrm>
            <a:off x="1053388" y="2022652"/>
            <a:ext cx="307238" cy="307238"/>
          </a:xfrm>
          <a:prstGeom prst="rect">
            <a:avLst/>
          </a:prstGeom>
        </p:spPr>
      </p:pic>
      <p:sp>
        <p:nvSpPr>
          <p:cNvPr id="6" name="TextBox 5"/>
          <p:cNvSpPr txBox="1"/>
          <p:nvPr/>
        </p:nvSpPr>
        <p:spPr>
          <a:xfrm>
            <a:off x="1664208" y="1901952"/>
            <a:ext cx="2103120" cy="548640"/>
          </a:xfrm>
          <a:prstGeom prst="rect">
            <a:avLst/>
          </a:prstGeom>
          <a:noFill/>
        </p:spPr>
        <p:txBody>
          <a:bodyPr wrap="square" lIns="0" rIns="0" tIns="0" bIns="0" anchor="ctr">
            <a:spAutoFit/>
          </a:bodyPr>
          <a:lstStyle/>
          <a:p>
            <a:pPr algn="l"/>
            <a:r>
              <a:rPr sz="1500" b="1" i="0">
                <a:solidFill>
                  <a:srgbClr val="14142B"/>
                </a:solidFill>
                <a:latin typeface="Arial"/>
              </a:rPr>
              <a:t>Speech → intent</a:t>
            </a:r>
          </a:p>
        </p:txBody>
      </p:sp>
      <p:sp>
        <p:nvSpPr>
          <p:cNvPr id="7" name="TextBox 6"/>
          <p:cNvSpPr txBox="1"/>
          <p:nvPr/>
        </p:nvSpPr>
        <p:spPr>
          <a:xfrm>
            <a:off x="3858768" y="1810512"/>
            <a:ext cx="7406640" cy="749808"/>
          </a:xfrm>
          <a:prstGeom prst="rect">
            <a:avLst/>
          </a:prstGeom>
          <a:noFill/>
        </p:spPr>
        <p:txBody>
          <a:bodyPr wrap="square" lIns="0" rIns="0" tIns="0" bIns="0" anchor="ctr">
            <a:spAutoFit/>
          </a:bodyPr>
          <a:lstStyle/>
          <a:p>
            <a:pPr algn="l"/>
            <a:r>
              <a:rPr sz="1250" b="0" i="0">
                <a:solidFill>
                  <a:srgbClr val="5B5F77"/>
                </a:solidFill>
                <a:latin typeface="Calibri"/>
              </a:rPr>
              <a:t>The phone’s recogniser (English, India) gives text. Exact and template matches run offline in milliseconds; paraphrases, Hinglish, missing values and “did the last run succeed?” go to the LLM, which returns flow, slot values, app and confidence as JSON.</a:t>
            </a:r>
          </a:p>
        </p:txBody>
      </p:sp>
      <p:cxnSp>
        <p:nvCxnSpPr>
          <p:cNvPr id="8" name="Connector 7"/>
          <p:cNvCxnSpPr/>
          <p:nvPr/>
        </p:nvCxnSpPr>
        <p:spPr>
          <a:xfrm>
            <a:off x="1664208" y="2660904"/>
            <a:ext cx="9601200" cy="0"/>
          </a:xfrm>
          <a:prstGeom prst="line">
            <a:avLst/>
          </a:prstGeom>
          <a:ln w="9525">
            <a:solidFill>
              <a:srgbClr val="D9D3F0"/>
            </a:solidFill>
          </a:ln>
        </p:spPr>
      </p:cxnSp>
      <p:sp>
        <p:nvSpPr>
          <p:cNvPr id="9" name="Oval 8"/>
          <p:cNvSpPr/>
          <p:nvPr/>
        </p:nvSpPr>
        <p:spPr>
          <a:xfrm>
            <a:off x="932688" y="2788920"/>
            <a:ext cx="548640" cy="548640"/>
          </a:xfrm>
          <a:prstGeom prst="ellipse">
            <a:avLst/>
          </a:prstGeom>
          <a:solidFill>
            <a:srgbClr val="14142B"/>
          </a:solidFill>
          <a:ln>
            <a:noFill/>
          </a:ln>
          <a:effectLst/>
        </p:spPr>
        <p:txBody>
          <a:bodyPr rtlCol="0" anchor="ctr"/>
          <a:lstStyle/>
          <a:p/>
        </p:txBody>
      </p:sp>
      <p:pic>
        <p:nvPicPr>
          <p:cNvPr id="10" name="Picture 9" descr="MdAccountTree_FFFFFF.png"/>
          <p:cNvPicPr>
            <a:picLocks noChangeAspect="1"/>
          </p:cNvPicPr>
          <p:nvPr/>
        </p:nvPicPr>
        <p:blipFill>
          <a:blip r:embed="rId3"/>
          <a:stretch>
            <a:fillRect/>
          </a:stretch>
        </p:blipFill>
        <p:spPr>
          <a:xfrm>
            <a:off x="1053388" y="2909620"/>
            <a:ext cx="307238" cy="307238"/>
          </a:xfrm>
          <a:prstGeom prst="rect">
            <a:avLst/>
          </a:prstGeom>
        </p:spPr>
      </p:pic>
      <p:sp>
        <p:nvSpPr>
          <p:cNvPr id="11" name="TextBox 10"/>
          <p:cNvSpPr txBox="1"/>
          <p:nvPr/>
        </p:nvSpPr>
        <p:spPr>
          <a:xfrm>
            <a:off x="1664208" y="2788920"/>
            <a:ext cx="2103120" cy="548640"/>
          </a:xfrm>
          <a:prstGeom prst="rect">
            <a:avLst/>
          </a:prstGeom>
          <a:noFill/>
        </p:spPr>
        <p:txBody>
          <a:bodyPr wrap="square" lIns="0" rIns="0" tIns="0" bIns="0" anchor="ctr">
            <a:spAutoFit/>
          </a:bodyPr>
          <a:lstStyle/>
          <a:p>
            <a:pPr algn="l"/>
            <a:r>
              <a:rPr sz="1500" b="1" i="0">
                <a:solidFill>
                  <a:srgbClr val="14142B"/>
                </a:solidFill>
                <a:latin typeface="Arial"/>
              </a:rPr>
              <a:t>UI-tree capture</a:t>
            </a:r>
          </a:p>
        </p:txBody>
      </p:sp>
      <p:sp>
        <p:nvSpPr>
          <p:cNvPr id="12" name="TextBox 11"/>
          <p:cNvSpPr txBox="1"/>
          <p:nvPr/>
        </p:nvSpPr>
        <p:spPr>
          <a:xfrm>
            <a:off x="3858768" y="2697480"/>
            <a:ext cx="7406640" cy="749808"/>
          </a:xfrm>
          <a:prstGeom prst="rect">
            <a:avLst/>
          </a:prstGeom>
          <a:noFill/>
        </p:spPr>
        <p:txBody>
          <a:bodyPr wrap="square" lIns="0" rIns="0" tIns="0" bIns="0" anchor="ctr">
            <a:spAutoFit/>
          </a:bodyPr>
          <a:lstStyle/>
          <a:p>
            <a:pPr algn="l"/>
            <a:r>
              <a:rPr sz="1250" b="0" i="0">
                <a:solidFill>
                  <a:srgbClr val="5B5F77"/>
                </a:solidFill>
                <a:latin typeface="Calibri"/>
              </a:rPr>
              <a:t>Just before each demo tap reaches the app, every window’s accessibility tree is snapshotted and the touch is hit-tested the way Android dispatches it — so taps are captured on Jetpack Compose screens and web views that report none.</a:t>
            </a:r>
          </a:p>
        </p:txBody>
      </p:sp>
      <p:cxnSp>
        <p:nvCxnSpPr>
          <p:cNvPr id="13" name="Connector 12"/>
          <p:cNvCxnSpPr/>
          <p:nvPr/>
        </p:nvCxnSpPr>
        <p:spPr>
          <a:xfrm>
            <a:off x="1664208" y="3547872"/>
            <a:ext cx="9601200" cy="0"/>
          </a:xfrm>
          <a:prstGeom prst="line">
            <a:avLst/>
          </a:prstGeom>
          <a:ln w="9525">
            <a:solidFill>
              <a:srgbClr val="D9D3F0"/>
            </a:solidFill>
          </a:ln>
        </p:spPr>
      </p:cxnSp>
      <p:sp>
        <p:nvSpPr>
          <p:cNvPr id="14" name="Oval 13"/>
          <p:cNvSpPr/>
          <p:nvPr/>
        </p:nvSpPr>
        <p:spPr>
          <a:xfrm>
            <a:off x="932688" y="3675887"/>
            <a:ext cx="548640" cy="548640"/>
          </a:xfrm>
          <a:prstGeom prst="ellipse">
            <a:avLst/>
          </a:prstGeom>
          <a:solidFill>
            <a:srgbClr val="14142B"/>
          </a:solidFill>
          <a:ln>
            <a:noFill/>
          </a:ln>
          <a:effectLst/>
        </p:spPr>
        <p:txBody>
          <a:bodyPr rtlCol="0" anchor="ctr"/>
          <a:lstStyle/>
          <a:p/>
        </p:txBody>
      </p:sp>
      <p:pic>
        <p:nvPicPr>
          <p:cNvPr id="15" name="Picture 14" descr="MdAutoFixHigh_FFFFFF.png"/>
          <p:cNvPicPr>
            <a:picLocks noChangeAspect="1"/>
          </p:cNvPicPr>
          <p:nvPr/>
        </p:nvPicPr>
        <p:blipFill>
          <a:blip r:embed="rId4"/>
          <a:stretch>
            <a:fillRect/>
          </a:stretch>
        </p:blipFill>
        <p:spPr>
          <a:xfrm>
            <a:off x="1053388" y="3796588"/>
            <a:ext cx="307238" cy="307238"/>
          </a:xfrm>
          <a:prstGeom prst="rect">
            <a:avLst/>
          </a:prstGeom>
        </p:spPr>
      </p:pic>
      <p:sp>
        <p:nvSpPr>
          <p:cNvPr id="16" name="TextBox 15"/>
          <p:cNvSpPr txBox="1"/>
          <p:nvPr/>
        </p:nvSpPr>
        <p:spPr>
          <a:xfrm>
            <a:off x="1664208" y="3675887"/>
            <a:ext cx="2103120" cy="548640"/>
          </a:xfrm>
          <a:prstGeom prst="rect">
            <a:avLst/>
          </a:prstGeom>
          <a:noFill/>
        </p:spPr>
        <p:txBody>
          <a:bodyPr wrap="square" lIns="0" rIns="0" tIns="0" bIns="0" anchor="ctr">
            <a:spAutoFit/>
          </a:bodyPr>
          <a:lstStyle/>
          <a:p>
            <a:pPr algn="l"/>
            <a:r>
              <a:rPr sz="1500" b="1" i="0">
                <a:solidFill>
                  <a:srgbClr val="14142B"/>
                </a:solidFill>
                <a:latin typeface="Arial"/>
              </a:rPr>
              <a:t>Generalisation</a:t>
            </a:r>
          </a:p>
        </p:txBody>
      </p:sp>
      <p:sp>
        <p:nvSpPr>
          <p:cNvPr id="17" name="TextBox 16"/>
          <p:cNvSpPr txBox="1"/>
          <p:nvPr/>
        </p:nvSpPr>
        <p:spPr>
          <a:xfrm>
            <a:off x="3858768" y="3584448"/>
            <a:ext cx="7406640" cy="749808"/>
          </a:xfrm>
          <a:prstGeom prst="rect">
            <a:avLst/>
          </a:prstGeom>
          <a:noFill/>
        </p:spPr>
        <p:txBody>
          <a:bodyPr wrap="square" lIns="0" rIns="0" tIns="0" bIns="0" anchor="ctr">
            <a:spAutoFit/>
          </a:bodyPr>
          <a:lstStyle/>
          <a:p>
            <a:pPr algn="l"/>
            <a:r>
              <a:rPr sz="1250" b="0" i="0">
                <a:solidFill>
                  <a:srgbClr val="5B5F77"/>
                </a:solidFill>
                <a:latin typeface="Calibri"/>
              </a:rPr>
              <a:t>Each step keeps the element, the card it sits in (“ADD next to Margherita”), its position and a plain-language intent. Mis-taps, an answered call and a filter the task didn’t need are marked as noise.</a:t>
            </a:r>
          </a:p>
        </p:txBody>
      </p:sp>
      <p:cxnSp>
        <p:nvCxnSpPr>
          <p:cNvPr id="18" name="Connector 17"/>
          <p:cNvCxnSpPr/>
          <p:nvPr/>
        </p:nvCxnSpPr>
        <p:spPr>
          <a:xfrm>
            <a:off x="1664208" y="4434840"/>
            <a:ext cx="9601200" cy="0"/>
          </a:xfrm>
          <a:prstGeom prst="line">
            <a:avLst/>
          </a:prstGeom>
          <a:ln w="9525">
            <a:solidFill>
              <a:srgbClr val="D9D3F0"/>
            </a:solidFill>
          </a:ln>
        </p:spPr>
      </p:cxnSp>
      <p:sp>
        <p:nvSpPr>
          <p:cNvPr id="19" name="Oval 18"/>
          <p:cNvSpPr/>
          <p:nvPr/>
        </p:nvSpPr>
        <p:spPr>
          <a:xfrm>
            <a:off x="932688" y="4562856"/>
            <a:ext cx="548640" cy="548640"/>
          </a:xfrm>
          <a:prstGeom prst="ellipse">
            <a:avLst/>
          </a:prstGeom>
          <a:solidFill>
            <a:srgbClr val="14142B"/>
          </a:solidFill>
          <a:ln>
            <a:noFill/>
          </a:ln>
          <a:effectLst/>
        </p:spPr>
        <p:txBody>
          <a:bodyPr rtlCol="0" anchor="ctr"/>
          <a:lstStyle/>
          <a:p/>
        </p:txBody>
      </p:sp>
      <p:pic>
        <p:nvPicPr>
          <p:cNvPr id="20" name="Picture 19" descr="MdTextFields_FFFFFF.png"/>
          <p:cNvPicPr>
            <a:picLocks noChangeAspect="1"/>
          </p:cNvPicPr>
          <p:nvPr/>
        </p:nvPicPr>
        <p:blipFill>
          <a:blip r:embed="rId5"/>
          <a:stretch>
            <a:fillRect/>
          </a:stretch>
        </p:blipFill>
        <p:spPr>
          <a:xfrm>
            <a:off x="1053388" y="4683556"/>
            <a:ext cx="307238" cy="307238"/>
          </a:xfrm>
          <a:prstGeom prst="rect">
            <a:avLst/>
          </a:prstGeom>
        </p:spPr>
      </p:pic>
      <p:sp>
        <p:nvSpPr>
          <p:cNvPr id="21" name="TextBox 20"/>
          <p:cNvSpPr txBox="1"/>
          <p:nvPr/>
        </p:nvSpPr>
        <p:spPr>
          <a:xfrm>
            <a:off x="1664208" y="4562856"/>
            <a:ext cx="2103120" cy="548640"/>
          </a:xfrm>
          <a:prstGeom prst="rect">
            <a:avLst/>
          </a:prstGeom>
          <a:noFill/>
        </p:spPr>
        <p:txBody>
          <a:bodyPr wrap="square" lIns="0" rIns="0" tIns="0" bIns="0" anchor="ctr">
            <a:spAutoFit/>
          </a:bodyPr>
          <a:lstStyle/>
          <a:p>
            <a:pPr algn="l"/>
            <a:r>
              <a:rPr sz="1500" b="1" i="0">
                <a:solidFill>
                  <a:srgbClr val="14142B"/>
                </a:solidFill>
                <a:latin typeface="Arial"/>
              </a:rPr>
              <a:t>Slot extraction</a:t>
            </a:r>
          </a:p>
        </p:txBody>
      </p:sp>
      <p:sp>
        <p:nvSpPr>
          <p:cNvPr id="22" name="TextBox 21"/>
          <p:cNvSpPr txBox="1"/>
          <p:nvPr/>
        </p:nvSpPr>
        <p:spPr>
          <a:xfrm>
            <a:off x="3858768" y="4471416"/>
            <a:ext cx="7406640" cy="749808"/>
          </a:xfrm>
          <a:prstGeom prst="rect">
            <a:avLst/>
          </a:prstGeom>
          <a:noFill/>
        </p:spPr>
        <p:txBody>
          <a:bodyPr wrap="square" lIns="0" rIns="0" tIns="0" bIns="0" anchor="ctr">
            <a:spAutoFit/>
          </a:bodyPr>
          <a:lstStyle/>
          <a:p>
            <a:pPr algn="l"/>
            <a:r>
              <a:rPr sz="1250" b="0" i="0">
                <a:solidFill>
                  <a:srgbClr val="5B5F77"/>
                </a:solidFill>
                <a:latin typeface="Calibri"/>
              </a:rPr>
              <a:t>A command word that reappears in typed text (even a typed prefix plus a tapped suggestion), a tapped label or the tapped card becomes a slot. The LLM adds goals the demo didn’t show — quantity, delivery address.</a:t>
            </a:r>
          </a:p>
        </p:txBody>
      </p:sp>
      <p:cxnSp>
        <p:nvCxnSpPr>
          <p:cNvPr id="23" name="Connector 22"/>
          <p:cNvCxnSpPr/>
          <p:nvPr/>
        </p:nvCxnSpPr>
        <p:spPr>
          <a:xfrm>
            <a:off x="1664208" y="5321808"/>
            <a:ext cx="9601200" cy="0"/>
          </a:xfrm>
          <a:prstGeom prst="line">
            <a:avLst/>
          </a:prstGeom>
          <a:ln w="9525">
            <a:solidFill>
              <a:srgbClr val="D9D3F0"/>
            </a:solidFill>
          </a:ln>
        </p:spPr>
      </p:cxnSp>
      <p:sp>
        <p:nvSpPr>
          <p:cNvPr id="24" name="Oval 23"/>
          <p:cNvSpPr/>
          <p:nvPr/>
        </p:nvSpPr>
        <p:spPr>
          <a:xfrm>
            <a:off x="932688" y="5449823"/>
            <a:ext cx="548640" cy="548640"/>
          </a:xfrm>
          <a:prstGeom prst="ellipse">
            <a:avLst/>
          </a:prstGeom>
          <a:solidFill>
            <a:srgbClr val="6D28D9"/>
          </a:solidFill>
          <a:ln>
            <a:noFill/>
          </a:ln>
          <a:effectLst/>
        </p:spPr>
        <p:txBody>
          <a:bodyPr rtlCol="0" anchor="ctr"/>
          <a:lstStyle/>
          <a:p/>
        </p:txBody>
      </p:sp>
      <p:pic>
        <p:nvPicPr>
          <p:cNvPr id="25" name="Picture 24" descr="MdReplay_FFFFFF.png"/>
          <p:cNvPicPr>
            <a:picLocks noChangeAspect="1"/>
          </p:cNvPicPr>
          <p:nvPr/>
        </p:nvPicPr>
        <p:blipFill>
          <a:blip r:embed="rId6"/>
          <a:stretch>
            <a:fillRect/>
          </a:stretch>
        </p:blipFill>
        <p:spPr>
          <a:xfrm>
            <a:off x="1053388" y="5570524"/>
            <a:ext cx="307238" cy="307238"/>
          </a:xfrm>
          <a:prstGeom prst="rect">
            <a:avLst/>
          </a:prstGeom>
        </p:spPr>
      </p:pic>
      <p:sp>
        <p:nvSpPr>
          <p:cNvPr id="26" name="TextBox 25"/>
          <p:cNvSpPr txBox="1"/>
          <p:nvPr/>
        </p:nvSpPr>
        <p:spPr>
          <a:xfrm>
            <a:off x="1664208" y="5449823"/>
            <a:ext cx="2103120" cy="548640"/>
          </a:xfrm>
          <a:prstGeom prst="rect">
            <a:avLst/>
          </a:prstGeom>
          <a:noFill/>
        </p:spPr>
        <p:txBody>
          <a:bodyPr wrap="square" lIns="0" rIns="0" tIns="0" bIns="0" anchor="ctr">
            <a:spAutoFit/>
          </a:bodyPr>
          <a:lstStyle/>
          <a:p>
            <a:pPr algn="l"/>
            <a:r>
              <a:rPr sz="1500" b="1" i="0">
                <a:solidFill>
                  <a:srgbClr val="14142B"/>
                </a:solidFill>
                <a:latin typeface="Arial"/>
              </a:rPr>
              <a:t>Replay</a:t>
            </a:r>
          </a:p>
        </p:txBody>
      </p:sp>
      <p:sp>
        <p:nvSpPr>
          <p:cNvPr id="27" name="TextBox 26"/>
          <p:cNvSpPr txBox="1"/>
          <p:nvPr/>
        </p:nvSpPr>
        <p:spPr>
          <a:xfrm>
            <a:off x="3858768" y="5358383"/>
            <a:ext cx="7406640" cy="749808"/>
          </a:xfrm>
          <a:prstGeom prst="rect">
            <a:avLst/>
          </a:prstGeom>
          <a:noFill/>
        </p:spPr>
        <p:txBody>
          <a:bodyPr wrap="square" lIns="0" rIns="0" tIns="0" bIns="0" anchor="ctr">
            <a:spAutoFit/>
          </a:bodyPr>
          <a:lstStyle/>
          <a:p>
            <a:pPr algn="l"/>
            <a:r>
              <a:rPr sz="1250" b="0" i="0">
                <a:solidFill>
                  <a:srgbClr val="5B5F77"/>
                </a:solidFill>
                <a:latin typeface="Calibri"/>
              </a:rPr>
              <a:t>A scored matcher finds each step’s element on the live screen by label, id, card and position. Only when nothing is clearly ahead does the LLM choose one action; every step needs proof on screen before the next.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704EA6"/>
                </a:solidFill>
                <a:latin typeface="Calibri"/>
              </a:rPr>
              <a:t>Replay engine, proof and safety</a:t>
            </a:r>
          </a:p>
        </p:txBody>
      </p:sp>
      <p:sp>
        <p:nvSpPr>
          <p:cNvPr id="3" name="TextBox 2"/>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CHEAPEST STEP FIRST; THE MODEL ONLY WHEN NEEDED</a:t>
            </a:r>
          </a:p>
        </p:txBody>
      </p:sp>
      <p:sp>
        <p:nvSpPr>
          <p:cNvPr id="4" name="Rectangle 3"/>
          <p:cNvSpPr/>
          <p:nvPr/>
        </p:nvSpPr>
        <p:spPr>
          <a:xfrm>
            <a:off x="932688" y="5212080"/>
            <a:ext cx="896112" cy="777240"/>
          </a:xfrm>
          <a:prstGeom prst="rect">
            <a:avLst/>
          </a:prstGeom>
          <a:solidFill>
            <a:srgbClr val="0E9F6E"/>
          </a:solidFill>
          <a:ln>
            <a:noFill/>
          </a:ln>
          <a:effectLst/>
        </p:spPr>
        <p:txBody>
          <a:bodyPr rtlCol="0" anchor="ctr"/>
          <a:lstStyle/>
          <a:p/>
        </p:txBody>
      </p:sp>
      <p:sp>
        <p:nvSpPr>
          <p:cNvPr id="5" name="TextBox 4"/>
          <p:cNvSpPr txBox="1"/>
          <p:nvPr/>
        </p:nvSpPr>
        <p:spPr>
          <a:xfrm>
            <a:off x="932688" y="5266944"/>
            <a:ext cx="896112" cy="320040"/>
          </a:xfrm>
          <a:prstGeom prst="rect">
            <a:avLst/>
          </a:prstGeom>
          <a:noFill/>
        </p:spPr>
        <p:txBody>
          <a:bodyPr wrap="square" lIns="0" rIns="0" tIns="0" bIns="0" anchor="t">
            <a:spAutoFit/>
          </a:bodyPr>
          <a:lstStyle/>
          <a:p>
            <a:pPr algn="ctr"/>
            <a:r>
              <a:rPr sz="1600" b="1" i="0">
                <a:solidFill>
                  <a:srgbClr val="FFFFFF"/>
                </a:solidFill>
                <a:latin typeface="Arial"/>
              </a:rPr>
              <a:t>1</a:t>
            </a:r>
          </a:p>
        </p:txBody>
      </p:sp>
      <p:sp>
        <p:nvSpPr>
          <p:cNvPr id="6" name="TextBox 5"/>
          <p:cNvSpPr txBox="1"/>
          <p:nvPr/>
        </p:nvSpPr>
        <p:spPr>
          <a:xfrm>
            <a:off x="905256" y="4343400"/>
            <a:ext cx="950976" cy="822960"/>
          </a:xfrm>
          <a:prstGeom prst="rect">
            <a:avLst/>
          </a:prstGeom>
          <a:noFill/>
        </p:spPr>
        <p:txBody>
          <a:bodyPr wrap="square" lIns="0" rIns="0" tIns="0" bIns="0" anchor="b">
            <a:spAutoFit/>
          </a:bodyPr>
          <a:lstStyle/>
          <a:p>
            <a:pPr algn="ctr"/>
            <a:r>
              <a:rPr sz="1050" b="1" i="0">
                <a:solidFill>
                  <a:srgbClr val="14142B"/>
                </a:solidFill>
                <a:latin typeface="Calibri"/>
              </a:rPr>
              <a:t>Fast path</a:t>
            </a:r>
          </a:p>
          <a:p>
            <a:pPr algn="ctr"/>
            <a:r>
              <a:rPr sz="900" b="0" i="0">
                <a:solidFill>
                  <a:srgbClr val="5B5F77"/>
                </a:solidFill>
                <a:latin typeface="Calibri"/>
              </a:rPr>
              <a:t>scored match, no network</a:t>
            </a:r>
          </a:p>
        </p:txBody>
      </p:sp>
      <p:sp>
        <p:nvSpPr>
          <p:cNvPr id="7" name="Rectangle 6"/>
          <p:cNvSpPr/>
          <p:nvPr/>
        </p:nvSpPr>
        <p:spPr>
          <a:xfrm>
            <a:off x="1892808" y="4828031"/>
            <a:ext cx="896112" cy="1161288"/>
          </a:xfrm>
          <a:prstGeom prst="rect">
            <a:avLst/>
          </a:prstGeom>
          <a:solidFill>
            <a:srgbClr val="14142B"/>
          </a:solidFill>
          <a:ln>
            <a:noFill/>
          </a:ln>
          <a:effectLst/>
        </p:spPr>
        <p:txBody>
          <a:bodyPr rtlCol="0" anchor="ctr"/>
          <a:lstStyle/>
          <a:p/>
        </p:txBody>
      </p:sp>
      <p:sp>
        <p:nvSpPr>
          <p:cNvPr id="8" name="TextBox 7"/>
          <p:cNvSpPr txBox="1"/>
          <p:nvPr/>
        </p:nvSpPr>
        <p:spPr>
          <a:xfrm>
            <a:off x="1892808" y="4882895"/>
            <a:ext cx="896112" cy="320040"/>
          </a:xfrm>
          <a:prstGeom prst="rect">
            <a:avLst/>
          </a:prstGeom>
          <a:noFill/>
        </p:spPr>
        <p:txBody>
          <a:bodyPr wrap="square" lIns="0" rIns="0" tIns="0" bIns="0" anchor="t">
            <a:spAutoFit/>
          </a:bodyPr>
          <a:lstStyle/>
          <a:p>
            <a:pPr algn="ctr"/>
            <a:r>
              <a:rPr sz="1600" b="1" i="0">
                <a:solidFill>
                  <a:srgbClr val="FFFFFF"/>
                </a:solidFill>
                <a:latin typeface="Arial"/>
              </a:rPr>
              <a:t>2</a:t>
            </a:r>
          </a:p>
        </p:txBody>
      </p:sp>
      <p:sp>
        <p:nvSpPr>
          <p:cNvPr id="9" name="TextBox 8"/>
          <p:cNvSpPr txBox="1"/>
          <p:nvPr/>
        </p:nvSpPr>
        <p:spPr>
          <a:xfrm>
            <a:off x="1865376" y="3959351"/>
            <a:ext cx="950976" cy="822960"/>
          </a:xfrm>
          <a:prstGeom prst="rect">
            <a:avLst/>
          </a:prstGeom>
          <a:noFill/>
        </p:spPr>
        <p:txBody>
          <a:bodyPr wrap="square" lIns="0" rIns="0" tIns="0" bIns="0" anchor="b">
            <a:spAutoFit/>
          </a:bodyPr>
          <a:lstStyle/>
          <a:p>
            <a:pPr algn="ctr"/>
            <a:r>
              <a:rPr sz="1050" b="1" i="0">
                <a:solidFill>
                  <a:srgbClr val="14142B"/>
                </a:solidFill>
                <a:latin typeface="Calibri"/>
              </a:rPr>
              <a:t>Scroll, search the page</a:t>
            </a:r>
          </a:p>
          <a:p>
            <a:pPr algn="ctr"/>
            <a:r>
              <a:rPr sz="900" b="0" i="0">
                <a:solidFill>
                  <a:srgbClr val="5B5F77"/>
                </a:solidFill>
                <a:latin typeface="Calibri"/>
              </a:rPr>
              <a:t>swipes; the menu’s own search</a:t>
            </a:r>
          </a:p>
        </p:txBody>
      </p:sp>
      <p:sp>
        <p:nvSpPr>
          <p:cNvPr id="10" name="Rectangle 9"/>
          <p:cNvSpPr/>
          <p:nvPr/>
        </p:nvSpPr>
        <p:spPr>
          <a:xfrm>
            <a:off x="2852928" y="4443983"/>
            <a:ext cx="896112" cy="1545336"/>
          </a:xfrm>
          <a:prstGeom prst="rect">
            <a:avLst/>
          </a:prstGeom>
          <a:solidFill>
            <a:srgbClr val="14142B"/>
          </a:solidFill>
          <a:ln>
            <a:noFill/>
          </a:ln>
          <a:effectLst/>
        </p:spPr>
        <p:txBody>
          <a:bodyPr rtlCol="0" anchor="ctr"/>
          <a:lstStyle/>
          <a:p/>
        </p:txBody>
      </p:sp>
      <p:sp>
        <p:nvSpPr>
          <p:cNvPr id="11" name="TextBox 10"/>
          <p:cNvSpPr txBox="1"/>
          <p:nvPr/>
        </p:nvSpPr>
        <p:spPr>
          <a:xfrm>
            <a:off x="2852928" y="4498847"/>
            <a:ext cx="896112" cy="320040"/>
          </a:xfrm>
          <a:prstGeom prst="rect">
            <a:avLst/>
          </a:prstGeom>
          <a:noFill/>
        </p:spPr>
        <p:txBody>
          <a:bodyPr wrap="square" lIns="0" rIns="0" tIns="0" bIns="0" anchor="t">
            <a:spAutoFit/>
          </a:bodyPr>
          <a:lstStyle/>
          <a:p>
            <a:pPr algn="ctr"/>
            <a:r>
              <a:rPr sz="1600" b="1" i="0">
                <a:solidFill>
                  <a:srgbClr val="FFFFFF"/>
                </a:solidFill>
                <a:latin typeface="Arial"/>
              </a:rPr>
              <a:t>3</a:t>
            </a:r>
          </a:p>
        </p:txBody>
      </p:sp>
      <p:sp>
        <p:nvSpPr>
          <p:cNvPr id="12" name="TextBox 11"/>
          <p:cNvSpPr txBox="1"/>
          <p:nvPr/>
        </p:nvSpPr>
        <p:spPr>
          <a:xfrm>
            <a:off x="2825496" y="3575303"/>
            <a:ext cx="950976" cy="822960"/>
          </a:xfrm>
          <a:prstGeom prst="rect">
            <a:avLst/>
          </a:prstGeom>
          <a:noFill/>
        </p:spPr>
        <p:txBody>
          <a:bodyPr wrap="square" lIns="0" rIns="0" tIns="0" bIns="0" anchor="b">
            <a:spAutoFit/>
          </a:bodyPr>
          <a:lstStyle/>
          <a:p>
            <a:pPr algn="ctr"/>
            <a:r>
              <a:rPr sz="1050" b="1" i="0">
                <a:solidFill>
                  <a:srgbClr val="14142B"/>
                </a:solidFill>
                <a:latin typeface="Calibri"/>
              </a:rPr>
              <a:t>Open the first real result</a:t>
            </a:r>
          </a:p>
          <a:p>
            <a:pPr algn="ctr"/>
            <a:r>
              <a:rPr sz="900" b="0" i="0">
                <a:solidFill>
                  <a:srgbClr val="5B5F77"/>
                </a:solidFill>
                <a:latin typeface="Calibri"/>
              </a:rPr>
              <a:t>another app; skips Sponsored / AD</a:t>
            </a:r>
          </a:p>
        </p:txBody>
      </p:sp>
      <p:sp>
        <p:nvSpPr>
          <p:cNvPr id="13" name="Rectangle 12"/>
          <p:cNvSpPr/>
          <p:nvPr/>
        </p:nvSpPr>
        <p:spPr>
          <a:xfrm>
            <a:off x="3813048" y="4059935"/>
            <a:ext cx="896112" cy="1929384"/>
          </a:xfrm>
          <a:prstGeom prst="rect">
            <a:avLst/>
          </a:prstGeom>
          <a:solidFill>
            <a:srgbClr val="2B2560"/>
          </a:solidFill>
          <a:ln>
            <a:noFill/>
          </a:ln>
          <a:effectLst/>
        </p:spPr>
        <p:txBody>
          <a:bodyPr rtlCol="0" anchor="ctr"/>
          <a:lstStyle/>
          <a:p/>
        </p:txBody>
      </p:sp>
      <p:sp>
        <p:nvSpPr>
          <p:cNvPr id="14" name="TextBox 13"/>
          <p:cNvSpPr txBox="1"/>
          <p:nvPr/>
        </p:nvSpPr>
        <p:spPr>
          <a:xfrm>
            <a:off x="3813048" y="4114799"/>
            <a:ext cx="896112" cy="320040"/>
          </a:xfrm>
          <a:prstGeom prst="rect">
            <a:avLst/>
          </a:prstGeom>
          <a:noFill/>
        </p:spPr>
        <p:txBody>
          <a:bodyPr wrap="square" lIns="0" rIns="0" tIns="0" bIns="0" anchor="t">
            <a:spAutoFit/>
          </a:bodyPr>
          <a:lstStyle/>
          <a:p>
            <a:pPr algn="ctr"/>
            <a:r>
              <a:rPr sz="1600" b="1" i="0">
                <a:solidFill>
                  <a:srgbClr val="FFFFFF"/>
                </a:solidFill>
                <a:latin typeface="Arial"/>
              </a:rPr>
              <a:t>4</a:t>
            </a:r>
          </a:p>
        </p:txBody>
      </p:sp>
      <p:sp>
        <p:nvSpPr>
          <p:cNvPr id="15" name="TextBox 14"/>
          <p:cNvSpPr txBox="1"/>
          <p:nvPr/>
        </p:nvSpPr>
        <p:spPr>
          <a:xfrm>
            <a:off x="3785615" y="3191255"/>
            <a:ext cx="950976" cy="822960"/>
          </a:xfrm>
          <a:prstGeom prst="rect">
            <a:avLst/>
          </a:prstGeom>
          <a:noFill/>
        </p:spPr>
        <p:txBody>
          <a:bodyPr wrap="square" lIns="0" rIns="0" tIns="0" bIns="0" anchor="b">
            <a:spAutoFit/>
          </a:bodyPr>
          <a:lstStyle/>
          <a:p>
            <a:pPr algn="ctr"/>
            <a:r>
              <a:rPr sz="1050" b="1" i="0">
                <a:solidFill>
                  <a:srgbClr val="14142B"/>
                </a:solidFill>
                <a:latin typeface="Calibri"/>
              </a:rPr>
              <a:t>LLM picks one action</a:t>
            </a:r>
          </a:p>
          <a:p>
            <a:pPr algn="ctr"/>
            <a:r>
              <a:rPr sz="900" b="0" i="0">
                <a:solidFill>
                  <a:srgbClr val="5B5F77"/>
                </a:solidFill>
                <a:latin typeface="Calibri"/>
              </a:rPr>
              <a:t>dismiss a pop-up, pick an outlet</a:t>
            </a:r>
          </a:p>
        </p:txBody>
      </p:sp>
      <p:sp>
        <p:nvSpPr>
          <p:cNvPr id="16" name="Rectangle 15"/>
          <p:cNvSpPr/>
          <p:nvPr/>
        </p:nvSpPr>
        <p:spPr>
          <a:xfrm>
            <a:off x="4773168" y="3675887"/>
            <a:ext cx="896112" cy="2313432"/>
          </a:xfrm>
          <a:prstGeom prst="rect">
            <a:avLst/>
          </a:prstGeom>
          <a:solidFill>
            <a:srgbClr val="6D28D9"/>
          </a:solidFill>
          <a:ln>
            <a:noFill/>
          </a:ln>
          <a:effectLst/>
        </p:spPr>
        <p:txBody>
          <a:bodyPr rtlCol="0" anchor="ctr"/>
          <a:lstStyle/>
          <a:p/>
        </p:txBody>
      </p:sp>
      <p:sp>
        <p:nvSpPr>
          <p:cNvPr id="17" name="TextBox 16"/>
          <p:cNvSpPr txBox="1"/>
          <p:nvPr/>
        </p:nvSpPr>
        <p:spPr>
          <a:xfrm>
            <a:off x="4773168" y="3730751"/>
            <a:ext cx="896112" cy="320040"/>
          </a:xfrm>
          <a:prstGeom prst="rect">
            <a:avLst/>
          </a:prstGeom>
          <a:noFill/>
        </p:spPr>
        <p:txBody>
          <a:bodyPr wrap="square" lIns="0" rIns="0" tIns="0" bIns="0" anchor="t">
            <a:spAutoFit/>
          </a:bodyPr>
          <a:lstStyle/>
          <a:p>
            <a:pPr algn="ctr"/>
            <a:r>
              <a:rPr sz="1600" b="1" i="0">
                <a:solidFill>
                  <a:srgbClr val="FFFFFF"/>
                </a:solidFill>
                <a:latin typeface="Arial"/>
              </a:rPr>
              <a:t>5</a:t>
            </a:r>
          </a:p>
        </p:txBody>
      </p:sp>
      <p:sp>
        <p:nvSpPr>
          <p:cNvPr id="18" name="TextBox 17"/>
          <p:cNvSpPr txBox="1"/>
          <p:nvPr/>
        </p:nvSpPr>
        <p:spPr>
          <a:xfrm>
            <a:off x="4745736" y="2807207"/>
            <a:ext cx="950976" cy="822960"/>
          </a:xfrm>
          <a:prstGeom prst="rect">
            <a:avLst/>
          </a:prstGeom>
          <a:noFill/>
        </p:spPr>
        <p:txBody>
          <a:bodyPr wrap="square" lIns="0" rIns="0" tIns="0" bIns="0" anchor="b">
            <a:spAutoFit/>
          </a:bodyPr>
          <a:lstStyle/>
          <a:p>
            <a:pPr algn="ctr"/>
            <a:r>
              <a:rPr sz="1050" b="1" i="0">
                <a:solidFill>
                  <a:srgbClr val="14142B"/>
                </a:solidFill>
                <a:latin typeface="Calibri"/>
              </a:rPr>
              <a:t>Ask one question</a:t>
            </a:r>
          </a:p>
          <a:p>
            <a:pPr algn="ctr"/>
            <a:r>
              <a:rPr sz="900" b="0" i="0">
                <a:solidFill>
                  <a:srgbClr val="5B5F77"/>
                </a:solidFill>
                <a:latin typeface="Calibri"/>
              </a:rPr>
              <a:t>“Which restaurant?” “Which size?”</a:t>
            </a:r>
          </a:p>
        </p:txBody>
      </p:sp>
      <p:sp>
        <p:nvSpPr>
          <p:cNvPr id="19" name="Rectangle 18"/>
          <p:cNvSpPr/>
          <p:nvPr/>
        </p:nvSpPr>
        <p:spPr>
          <a:xfrm>
            <a:off x="5733288" y="3291839"/>
            <a:ext cx="896112" cy="2697480"/>
          </a:xfrm>
          <a:prstGeom prst="rect">
            <a:avLst/>
          </a:prstGeom>
          <a:solidFill>
            <a:srgbClr val="6D28D9"/>
          </a:solidFill>
          <a:ln>
            <a:noFill/>
          </a:ln>
          <a:effectLst/>
        </p:spPr>
        <p:txBody>
          <a:bodyPr rtlCol="0" anchor="ctr"/>
          <a:lstStyle/>
          <a:p/>
        </p:txBody>
      </p:sp>
      <p:sp>
        <p:nvSpPr>
          <p:cNvPr id="20" name="TextBox 19"/>
          <p:cNvSpPr txBox="1"/>
          <p:nvPr/>
        </p:nvSpPr>
        <p:spPr>
          <a:xfrm>
            <a:off x="5733288" y="3346703"/>
            <a:ext cx="896112" cy="320040"/>
          </a:xfrm>
          <a:prstGeom prst="rect">
            <a:avLst/>
          </a:prstGeom>
          <a:noFill/>
        </p:spPr>
        <p:txBody>
          <a:bodyPr wrap="square" lIns="0" rIns="0" tIns="0" bIns="0" anchor="t">
            <a:spAutoFit/>
          </a:bodyPr>
          <a:lstStyle/>
          <a:p>
            <a:pPr algn="ctr"/>
            <a:r>
              <a:rPr sz="1600" b="1" i="0">
                <a:solidFill>
                  <a:srgbClr val="FFFFFF"/>
                </a:solidFill>
                <a:latin typeface="Arial"/>
              </a:rPr>
              <a:t>6</a:t>
            </a:r>
          </a:p>
        </p:txBody>
      </p:sp>
      <p:sp>
        <p:nvSpPr>
          <p:cNvPr id="21" name="TextBox 20"/>
          <p:cNvSpPr txBox="1"/>
          <p:nvPr/>
        </p:nvSpPr>
        <p:spPr>
          <a:xfrm>
            <a:off x="5705855" y="2423159"/>
            <a:ext cx="950976" cy="822960"/>
          </a:xfrm>
          <a:prstGeom prst="rect">
            <a:avLst/>
          </a:prstGeom>
          <a:noFill/>
        </p:spPr>
        <p:txBody>
          <a:bodyPr wrap="square" lIns="0" rIns="0" tIns="0" bIns="0" anchor="b">
            <a:spAutoFit/>
          </a:bodyPr>
          <a:lstStyle/>
          <a:p>
            <a:pPr algn="ctr"/>
            <a:r>
              <a:rPr sz="1050" b="1" i="0">
                <a:solidFill>
                  <a:srgbClr val="14142B"/>
                </a:solidFill>
                <a:latin typeface="Calibri"/>
              </a:rPr>
              <a:t>Hand back</a:t>
            </a:r>
          </a:p>
          <a:p>
            <a:pPr algn="ctr"/>
            <a:r>
              <a:rPr sz="900" b="0" i="0">
                <a:solidFill>
                  <a:srgbClr val="5B5F77"/>
                </a:solidFill>
                <a:latin typeface="Calibri"/>
              </a:rPr>
              <a:t>“…before paying. Your turn.”</a:t>
            </a:r>
          </a:p>
        </p:txBody>
      </p:sp>
      <p:sp>
        <p:nvSpPr>
          <p:cNvPr id="22" name="TextBox 21"/>
          <p:cNvSpPr txBox="1"/>
          <p:nvPr/>
        </p:nvSpPr>
        <p:spPr>
          <a:xfrm>
            <a:off x="932688" y="6044183"/>
            <a:ext cx="5760720" cy="228600"/>
          </a:xfrm>
          <a:prstGeom prst="rect">
            <a:avLst/>
          </a:prstGeom>
          <a:noFill/>
        </p:spPr>
        <p:txBody>
          <a:bodyPr wrap="square" lIns="0" rIns="0" tIns="0" bIns="0" anchor="t">
            <a:spAutoFit/>
          </a:bodyPr>
          <a:lstStyle/>
          <a:p>
            <a:pPr algn="r"/>
            <a:r>
              <a:rPr sz="1000" b="0" i="1">
                <a:solidFill>
                  <a:srgbClr val="5B5F77"/>
                </a:solidFill>
                <a:latin typeface="Calibri"/>
              </a:rPr>
              <a:t>cost and latency  →</a:t>
            </a:r>
          </a:p>
        </p:txBody>
      </p:sp>
      <p:sp>
        <p:nvSpPr>
          <p:cNvPr id="23" name="Rounded Rectangle 22"/>
          <p:cNvSpPr/>
          <p:nvPr/>
        </p:nvSpPr>
        <p:spPr>
          <a:xfrm>
            <a:off x="6995160" y="1481328"/>
            <a:ext cx="4270248" cy="2240280"/>
          </a:xfrm>
          <a:prstGeom prst="roundRect">
            <a:avLst>
              <a:gd name="adj" fmla="val 3265"/>
            </a:avLst>
          </a:prstGeom>
          <a:solidFill>
            <a:srgbClr val="F5F3FC"/>
          </a:solidFill>
          <a:ln>
            <a:noFill/>
          </a:ln>
          <a:effectLst/>
        </p:spPr>
        <p:txBody>
          <a:bodyPr rtlCol="0" anchor="ctr"/>
          <a:lstStyle/>
          <a:p/>
        </p:txBody>
      </p:sp>
      <p:sp>
        <p:nvSpPr>
          <p:cNvPr id="24" name="TextBox 23"/>
          <p:cNvSpPr txBox="1"/>
          <p:nvPr/>
        </p:nvSpPr>
        <p:spPr>
          <a:xfrm>
            <a:off x="7223760" y="1600200"/>
            <a:ext cx="3840480" cy="320040"/>
          </a:xfrm>
          <a:prstGeom prst="rect">
            <a:avLst/>
          </a:prstGeom>
          <a:noFill/>
        </p:spPr>
        <p:txBody>
          <a:bodyPr wrap="square" lIns="0" rIns="0" tIns="0" bIns="0" anchor="t">
            <a:spAutoFit/>
          </a:bodyPr>
          <a:lstStyle/>
          <a:p>
            <a:pPr algn="l"/>
            <a:r>
              <a:rPr sz="1500" b="1" i="0">
                <a:solidFill>
                  <a:srgbClr val="0E9F6E"/>
                </a:solidFill>
                <a:latin typeface="Arial"/>
              </a:rPr>
              <a:t>Proof before “done”</a:t>
            </a:r>
          </a:p>
        </p:txBody>
      </p:sp>
      <p:pic>
        <p:nvPicPr>
          <p:cNvPr id="25" name="Picture 24" descr="MdCheckCircle_0E9F6E.png"/>
          <p:cNvPicPr>
            <a:picLocks noChangeAspect="1"/>
          </p:cNvPicPr>
          <p:nvPr/>
        </p:nvPicPr>
        <p:blipFill>
          <a:blip r:embed="rId2"/>
          <a:stretch>
            <a:fillRect/>
          </a:stretch>
        </p:blipFill>
        <p:spPr>
          <a:xfrm>
            <a:off x="7223760" y="2029968"/>
            <a:ext cx="237744" cy="237744"/>
          </a:xfrm>
          <a:prstGeom prst="rect">
            <a:avLst/>
          </a:prstGeom>
        </p:spPr>
      </p:pic>
      <p:sp>
        <p:nvSpPr>
          <p:cNvPr id="26" name="TextBox 25"/>
          <p:cNvSpPr txBox="1"/>
          <p:nvPr/>
        </p:nvSpPr>
        <p:spPr>
          <a:xfrm>
            <a:off x="7589520" y="1993392"/>
            <a:ext cx="3566160" cy="329184"/>
          </a:xfrm>
          <a:prstGeom prst="rect">
            <a:avLst/>
          </a:prstGeom>
          <a:noFill/>
        </p:spPr>
        <p:txBody>
          <a:bodyPr wrap="square" lIns="0" rIns="0" tIns="0" bIns="0" anchor="ctr">
            <a:spAutoFit/>
          </a:bodyPr>
          <a:lstStyle/>
          <a:p>
            <a:pPr algn="l"/>
            <a:r>
              <a:rPr sz="1250" b="0" i="0">
                <a:solidFill>
                  <a:srgbClr val="1F2037"/>
                </a:solidFill>
                <a:latin typeface="Calibri"/>
              </a:rPr>
              <a:t>The cart or bag count went up</a:t>
            </a:r>
          </a:p>
        </p:txBody>
      </p:sp>
      <p:pic>
        <p:nvPicPr>
          <p:cNvPr id="27" name="Picture 26" descr="MdCheckCircle_0E9F6E.png"/>
          <p:cNvPicPr>
            <a:picLocks noChangeAspect="1"/>
          </p:cNvPicPr>
          <p:nvPr/>
        </p:nvPicPr>
        <p:blipFill>
          <a:blip r:embed="rId2"/>
          <a:stretch>
            <a:fillRect/>
          </a:stretch>
        </p:blipFill>
        <p:spPr>
          <a:xfrm>
            <a:off x="7223760" y="2432304"/>
            <a:ext cx="237744" cy="237744"/>
          </a:xfrm>
          <a:prstGeom prst="rect">
            <a:avLst/>
          </a:prstGeom>
        </p:spPr>
      </p:pic>
      <p:sp>
        <p:nvSpPr>
          <p:cNvPr id="28" name="TextBox 27"/>
          <p:cNvSpPr txBox="1"/>
          <p:nvPr/>
        </p:nvSpPr>
        <p:spPr>
          <a:xfrm>
            <a:off x="7589520" y="2395728"/>
            <a:ext cx="3566160" cy="329184"/>
          </a:xfrm>
          <a:prstGeom prst="rect">
            <a:avLst/>
          </a:prstGeom>
          <a:noFill/>
        </p:spPr>
        <p:txBody>
          <a:bodyPr wrap="square" lIns="0" rIns="0" tIns="0" bIns="0" anchor="ctr">
            <a:spAutoFit/>
          </a:bodyPr>
          <a:lstStyle/>
          <a:p>
            <a:pPr algn="l"/>
            <a:r>
              <a:rPr sz="1250" b="0" i="0">
                <a:solidFill>
                  <a:srgbClr val="1F2037"/>
                </a:solidFill>
                <a:latin typeface="Calibri"/>
              </a:rPr>
              <a:t>The item’s card now shows − 1 +</a:t>
            </a:r>
          </a:p>
        </p:txBody>
      </p:sp>
      <p:pic>
        <p:nvPicPr>
          <p:cNvPr id="29" name="Picture 28" descr="MdCheckCircle_0E9F6E.png"/>
          <p:cNvPicPr>
            <a:picLocks noChangeAspect="1"/>
          </p:cNvPicPr>
          <p:nvPr/>
        </p:nvPicPr>
        <p:blipFill>
          <a:blip r:embed="rId2"/>
          <a:stretch>
            <a:fillRect/>
          </a:stretch>
        </p:blipFill>
        <p:spPr>
          <a:xfrm>
            <a:off x="7223760" y="2834640"/>
            <a:ext cx="237744" cy="237744"/>
          </a:xfrm>
          <a:prstGeom prst="rect">
            <a:avLst/>
          </a:prstGeom>
        </p:spPr>
      </p:pic>
      <p:sp>
        <p:nvSpPr>
          <p:cNvPr id="30" name="TextBox 29"/>
          <p:cNvSpPr txBox="1"/>
          <p:nvPr/>
        </p:nvSpPr>
        <p:spPr>
          <a:xfrm>
            <a:off x="7589520" y="2798064"/>
            <a:ext cx="3566160" cy="329184"/>
          </a:xfrm>
          <a:prstGeom prst="rect">
            <a:avLst/>
          </a:prstGeom>
          <a:noFill/>
        </p:spPr>
        <p:txBody>
          <a:bodyPr wrap="square" lIns="0" rIns="0" tIns="0" bIns="0" anchor="ctr">
            <a:spAutoFit/>
          </a:bodyPr>
          <a:lstStyle/>
          <a:p>
            <a:pPr algn="l"/>
            <a:r>
              <a:rPr sz="1250" b="0" i="0">
                <a:solidFill>
                  <a:srgbClr val="1F2037"/>
                </a:solidFill>
                <a:latin typeface="Calibri"/>
              </a:rPr>
              <a:t>The options sheet names the dish asked for</a:t>
            </a:r>
          </a:p>
        </p:txBody>
      </p:sp>
      <p:pic>
        <p:nvPicPr>
          <p:cNvPr id="31" name="Picture 30" descr="MdCheckCircle_0E9F6E.png"/>
          <p:cNvPicPr>
            <a:picLocks noChangeAspect="1"/>
          </p:cNvPicPr>
          <p:nvPr/>
        </p:nvPicPr>
        <p:blipFill>
          <a:blip r:embed="rId2"/>
          <a:stretch>
            <a:fillRect/>
          </a:stretch>
        </p:blipFill>
        <p:spPr>
          <a:xfrm>
            <a:off x="7223760" y="3236976"/>
            <a:ext cx="237744" cy="237744"/>
          </a:xfrm>
          <a:prstGeom prst="rect">
            <a:avLst/>
          </a:prstGeom>
        </p:spPr>
      </p:pic>
      <p:sp>
        <p:nvSpPr>
          <p:cNvPr id="32" name="TextBox 31"/>
          <p:cNvSpPr txBox="1"/>
          <p:nvPr/>
        </p:nvSpPr>
        <p:spPr>
          <a:xfrm>
            <a:off x="7589520" y="3200400"/>
            <a:ext cx="3566160" cy="329184"/>
          </a:xfrm>
          <a:prstGeom prst="rect">
            <a:avLst/>
          </a:prstGeom>
          <a:noFill/>
        </p:spPr>
        <p:txBody>
          <a:bodyPr wrap="square" lIns="0" rIns="0" tIns="0" bIns="0" anchor="ctr">
            <a:spAutoFit/>
          </a:bodyPr>
          <a:lstStyle/>
          <a:p>
            <a:pPr algn="l"/>
            <a:r>
              <a:rPr sz="1250" b="0" i="0">
                <a:solidFill>
                  <a:srgbClr val="1F2037"/>
                </a:solidFill>
                <a:latin typeface="Calibri"/>
              </a:rPr>
              <a:t>“First result” skips Sponsored / AD cards</a:t>
            </a:r>
          </a:p>
        </p:txBody>
      </p:sp>
      <p:sp>
        <p:nvSpPr>
          <p:cNvPr id="33" name="Rounded Rectangle 32"/>
          <p:cNvSpPr/>
          <p:nvPr/>
        </p:nvSpPr>
        <p:spPr>
          <a:xfrm>
            <a:off x="6995160" y="3840480"/>
            <a:ext cx="4270248" cy="2286000"/>
          </a:xfrm>
          <a:prstGeom prst="roundRect">
            <a:avLst>
              <a:gd name="adj" fmla="val 3200"/>
            </a:avLst>
          </a:prstGeom>
          <a:solidFill>
            <a:srgbClr val="14142B"/>
          </a:solidFill>
          <a:ln>
            <a:noFill/>
          </a:ln>
          <a:effectLst/>
        </p:spPr>
        <p:txBody>
          <a:bodyPr rtlCol="0" anchor="ctr"/>
          <a:lstStyle/>
          <a:p/>
        </p:txBody>
      </p:sp>
      <p:sp>
        <p:nvSpPr>
          <p:cNvPr id="34" name="TextBox 33"/>
          <p:cNvSpPr txBox="1"/>
          <p:nvPr/>
        </p:nvSpPr>
        <p:spPr>
          <a:xfrm>
            <a:off x="7223760" y="3959352"/>
            <a:ext cx="3840480" cy="320040"/>
          </a:xfrm>
          <a:prstGeom prst="rect">
            <a:avLst/>
          </a:prstGeom>
          <a:noFill/>
        </p:spPr>
        <p:txBody>
          <a:bodyPr wrap="square" lIns="0" rIns="0" tIns="0" bIns="0" anchor="t">
            <a:spAutoFit/>
          </a:bodyPr>
          <a:lstStyle/>
          <a:p>
            <a:pPr algn="l"/>
            <a:r>
              <a:rPr sz="1500" b="1" i="0">
                <a:solidFill>
                  <a:srgbClr val="C4B5FD"/>
                </a:solidFill>
                <a:latin typeface="Arial"/>
              </a:rPr>
              <a:t>Always hands back</a:t>
            </a:r>
          </a:p>
        </p:txBody>
      </p:sp>
      <p:pic>
        <p:nvPicPr>
          <p:cNvPr id="35" name="Picture 34" descr="MdBlock_E5484D.png"/>
          <p:cNvPicPr>
            <a:picLocks noChangeAspect="1"/>
          </p:cNvPicPr>
          <p:nvPr/>
        </p:nvPicPr>
        <p:blipFill>
          <a:blip r:embed="rId3"/>
          <a:stretch>
            <a:fillRect/>
          </a:stretch>
        </p:blipFill>
        <p:spPr>
          <a:xfrm>
            <a:off x="7223760" y="4398264"/>
            <a:ext cx="237744" cy="237744"/>
          </a:xfrm>
          <a:prstGeom prst="rect">
            <a:avLst/>
          </a:prstGeom>
        </p:spPr>
      </p:pic>
      <p:sp>
        <p:nvSpPr>
          <p:cNvPr id="36" name="TextBox 35"/>
          <p:cNvSpPr txBox="1"/>
          <p:nvPr/>
        </p:nvSpPr>
        <p:spPr>
          <a:xfrm>
            <a:off x="7589520" y="4352544"/>
            <a:ext cx="3611880" cy="402336"/>
          </a:xfrm>
          <a:prstGeom prst="rect">
            <a:avLst/>
          </a:prstGeom>
          <a:noFill/>
        </p:spPr>
        <p:txBody>
          <a:bodyPr wrap="square" lIns="0" rIns="0" tIns="0" bIns="0" anchor="ctr">
            <a:spAutoFit/>
          </a:bodyPr>
          <a:lstStyle/>
          <a:p>
            <a:pPr algn="l"/>
            <a:r>
              <a:rPr sz="1250" b="1" i="0">
                <a:solidFill>
                  <a:srgbClr val="FFFFFF"/>
                </a:solidFill>
                <a:latin typeface="Calibri"/>
              </a:rPr>
              <a:t>Pay, Place order, Proceed to buy  </a:t>
            </a:r>
            <a:r>
              <a:rPr sz="1150" b="0" i="0">
                <a:solidFill>
                  <a:srgbClr val="D9D3F0"/>
                </a:solidFill>
                <a:latin typeface="Calibri"/>
              </a:rPr>
              <a:t>never tapped</a:t>
            </a:r>
          </a:p>
        </p:txBody>
      </p:sp>
      <p:pic>
        <p:nvPicPr>
          <p:cNvPr id="37" name="Picture 36" descr="MdBlock_E5484D.png"/>
          <p:cNvPicPr>
            <a:picLocks noChangeAspect="1"/>
          </p:cNvPicPr>
          <p:nvPr/>
        </p:nvPicPr>
        <p:blipFill>
          <a:blip r:embed="rId3"/>
          <a:stretch>
            <a:fillRect/>
          </a:stretch>
        </p:blipFill>
        <p:spPr>
          <a:xfrm>
            <a:off x="7223760" y="4828031"/>
            <a:ext cx="237744" cy="237744"/>
          </a:xfrm>
          <a:prstGeom prst="rect">
            <a:avLst/>
          </a:prstGeom>
        </p:spPr>
      </p:pic>
      <p:sp>
        <p:nvSpPr>
          <p:cNvPr id="38" name="TextBox 37"/>
          <p:cNvSpPr txBox="1"/>
          <p:nvPr/>
        </p:nvSpPr>
        <p:spPr>
          <a:xfrm>
            <a:off x="7589520" y="4782312"/>
            <a:ext cx="3611880" cy="402336"/>
          </a:xfrm>
          <a:prstGeom prst="rect">
            <a:avLst/>
          </a:prstGeom>
          <a:noFill/>
        </p:spPr>
        <p:txBody>
          <a:bodyPr wrap="square" lIns="0" rIns="0" tIns="0" bIns="0" anchor="ctr">
            <a:spAutoFit/>
          </a:bodyPr>
          <a:lstStyle/>
          <a:p>
            <a:pPr algn="l"/>
            <a:r>
              <a:rPr sz="1250" b="1" i="0">
                <a:solidFill>
                  <a:srgbClr val="FFFFFF"/>
                </a:solidFill>
                <a:latin typeface="Calibri"/>
              </a:rPr>
              <a:t>Login, OTP, password screens  </a:t>
            </a:r>
            <a:r>
              <a:rPr sz="1150" b="0" i="0">
                <a:solidFill>
                  <a:srgbClr val="D9D3F0"/>
                </a:solidFill>
                <a:latin typeface="Calibri"/>
              </a:rPr>
              <a:t>never touched</a:t>
            </a:r>
          </a:p>
        </p:txBody>
      </p:sp>
      <p:pic>
        <p:nvPicPr>
          <p:cNvPr id="39" name="Picture 38" descr="MdBlock_E5484D.png"/>
          <p:cNvPicPr>
            <a:picLocks noChangeAspect="1"/>
          </p:cNvPicPr>
          <p:nvPr/>
        </p:nvPicPr>
        <p:blipFill>
          <a:blip r:embed="rId3"/>
          <a:stretch>
            <a:fillRect/>
          </a:stretch>
        </p:blipFill>
        <p:spPr>
          <a:xfrm>
            <a:off x="7223760" y="5257799"/>
            <a:ext cx="237744" cy="237744"/>
          </a:xfrm>
          <a:prstGeom prst="rect">
            <a:avLst/>
          </a:prstGeom>
        </p:spPr>
      </p:pic>
      <p:sp>
        <p:nvSpPr>
          <p:cNvPr id="40" name="TextBox 39"/>
          <p:cNvSpPr txBox="1"/>
          <p:nvPr/>
        </p:nvSpPr>
        <p:spPr>
          <a:xfrm>
            <a:off x="7589520" y="5212079"/>
            <a:ext cx="3611880" cy="402336"/>
          </a:xfrm>
          <a:prstGeom prst="rect">
            <a:avLst/>
          </a:prstGeom>
          <a:noFill/>
        </p:spPr>
        <p:txBody>
          <a:bodyPr wrap="square" lIns="0" rIns="0" tIns="0" bIns="0" anchor="ctr">
            <a:spAutoFit/>
          </a:bodyPr>
          <a:lstStyle/>
          <a:p>
            <a:pPr algn="l"/>
            <a:r>
              <a:rPr sz="1250" b="1" i="0">
                <a:solidFill>
                  <a:srgbClr val="FFFFFF"/>
                </a:solidFill>
                <a:latin typeface="Calibri"/>
              </a:rPr>
              <a:t>Signed out, or the app now in Hindi  </a:t>
            </a:r>
            <a:r>
              <a:rPr sz="1150" b="0" i="0">
                <a:solidFill>
                  <a:srgbClr val="D9D3F0"/>
                </a:solidFill>
                <a:latin typeface="Calibri"/>
              </a:rPr>
              <a:t>says why within 5 s, taps nothing</a:t>
            </a:r>
          </a:p>
        </p:txBody>
      </p:sp>
      <p:pic>
        <p:nvPicPr>
          <p:cNvPr id="41" name="Picture 40" descr="MdBlock_E5484D.png"/>
          <p:cNvPicPr>
            <a:picLocks noChangeAspect="1"/>
          </p:cNvPicPr>
          <p:nvPr/>
        </p:nvPicPr>
        <p:blipFill>
          <a:blip r:embed="rId3"/>
          <a:stretch>
            <a:fillRect/>
          </a:stretch>
        </p:blipFill>
        <p:spPr>
          <a:xfrm>
            <a:off x="7223760" y="5687568"/>
            <a:ext cx="237744" cy="237744"/>
          </a:xfrm>
          <a:prstGeom prst="rect">
            <a:avLst/>
          </a:prstGeom>
        </p:spPr>
      </p:pic>
      <p:sp>
        <p:nvSpPr>
          <p:cNvPr id="42" name="TextBox 41"/>
          <p:cNvSpPr txBox="1"/>
          <p:nvPr/>
        </p:nvSpPr>
        <p:spPr>
          <a:xfrm>
            <a:off x="7589520" y="5641848"/>
            <a:ext cx="3611880" cy="402336"/>
          </a:xfrm>
          <a:prstGeom prst="rect">
            <a:avLst/>
          </a:prstGeom>
          <a:noFill/>
        </p:spPr>
        <p:txBody>
          <a:bodyPr wrap="square" lIns="0" rIns="0" tIns="0" bIns="0" anchor="ctr">
            <a:spAutoFit/>
          </a:bodyPr>
          <a:lstStyle/>
          <a:p>
            <a:pPr algn="l"/>
            <a:r>
              <a:rPr sz="1250" b="1" i="0">
                <a:solidFill>
                  <a:srgbClr val="FFFFFF"/>
                </a:solidFill>
                <a:latin typeface="Calibri"/>
              </a:rPr>
              <a:t>Replace or clear a cart  </a:t>
            </a:r>
            <a:r>
              <a:rPr sz="1150" b="0" i="0">
                <a:solidFill>
                  <a:srgbClr val="D9D3F0"/>
                </a:solidFill>
                <a:latin typeface="Calibri"/>
              </a:rPr>
              <a:t>asks the user first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704EA6"/>
                </a:solidFill>
                <a:latin typeface="Calibri"/>
              </a:rPr>
              <a:t>Results on a real phone</a:t>
            </a:r>
          </a:p>
        </p:txBody>
      </p:sp>
      <p:sp>
        <p:nvSpPr>
          <p:cNvPr id="3" name="TextBox 2"/>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MEASURED COLD-START RUNS, NOT A SCRIPTED DEMO</a:t>
            </a:r>
          </a:p>
        </p:txBody>
      </p:sp>
      <p:sp>
        <p:nvSpPr>
          <p:cNvPr id="4" name="Rounded Rectangle 3"/>
          <p:cNvSpPr/>
          <p:nvPr/>
        </p:nvSpPr>
        <p:spPr>
          <a:xfrm>
            <a:off x="932688" y="1828800"/>
            <a:ext cx="2432304" cy="2103120"/>
          </a:xfrm>
          <a:prstGeom prst="roundRect">
            <a:avLst>
              <a:gd name="adj" fmla="val 3478"/>
            </a:avLst>
          </a:prstGeom>
          <a:solidFill>
            <a:srgbClr val="14142B"/>
          </a:solidFill>
          <a:ln>
            <a:noFill/>
          </a:ln>
          <a:effectLst/>
        </p:spPr>
        <p:txBody>
          <a:bodyPr rtlCol="0" anchor="ctr"/>
          <a:lstStyle/>
          <a:p/>
        </p:txBody>
      </p:sp>
      <p:sp>
        <p:nvSpPr>
          <p:cNvPr id="5" name="TextBox 4"/>
          <p:cNvSpPr txBox="1"/>
          <p:nvPr/>
        </p:nvSpPr>
        <p:spPr>
          <a:xfrm>
            <a:off x="1133856" y="1965960"/>
            <a:ext cx="2157984" cy="777240"/>
          </a:xfrm>
          <a:prstGeom prst="rect">
            <a:avLst/>
          </a:prstGeom>
          <a:noFill/>
        </p:spPr>
        <p:txBody>
          <a:bodyPr wrap="square" lIns="0" rIns="0" tIns="0" bIns="0" anchor="t">
            <a:spAutoFit/>
          </a:bodyPr>
          <a:lstStyle/>
          <a:p>
            <a:pPr algn="l"/>
            <a:r>
              <a:rPr sz="4000" b="1" i="0">
                <a:solidFill>
                  <a:srgbClr val="A7F3D0"/>
                </a:solidFill>
                <a:latin typeface="Arial"/>
              </a:rPr>
              <a:t>8 / 8</a:t>
            </a:r>
          </a:p>
        </p:txBody>
      </p:sp>
      <p:sp>
        <p:nvSpPr>
          <p:cNvPr id="6" name="TextBox 5"/>
          <p:cNvSpPr txBox="1"/>
          <p:nvPr/>
        </p:nvSpPr>
        <p:spPr>
          <a:xfrm>
            <a:off x="1133856" y="2743200"/>
            <a:ext cx="2157984" cy="347472"/>
          </a:xfrm>
          <a:prstGeom prst="rect">
            <a:avLst/>
          </a:prstGeom>
          <a:noFill/>
        </p:spPr>
        <p:txBody>
          <a:bodyPr wrap="square" lIns="0" rIns="0" tIns="0" bIns="0" anchor="t">
            <a:spAutoFit/>
          </a:bodyPr>
          <a:lstStyle/>
          <a:p>
            <a:pPr algn="l"/>
            <a:r>
              <a:rPr sz="1400" b="1" i="0">
                <a:solidFill>
                  <a:srgbClr val="FFFFFF"/>
                </a:solidFill>
                <a:latin typeface="Arial"/>
              </a:rPr>
              <a:t>Judges’ sentence</a:t>
            </a:r>
          </a:p>
        </p:txBody>
      </p:sp>
      <p:sp>
        <p:nvSpPr>
          <p:cNvPr id="7" name="TextBox 6"/>
          <p:cNvSpPr txBox="1"/>
          <p:nvPr/>
        </p:nvSpPr>
        <p:spPr>
          <a:xfrm>
            <a:off x="1133856" y="3108960"/>
            <a:ext cx="2112264" cy="731520"/>
          </a:xfrm>
          <a:prstGeom prst="rect">
            <a:avLst/>
          </a:prstGeom>
          <a:noFill/>
        </p:spPr>
        <p:txBody>
          <a:bodyPr wrap="square" lIns="0" rIns="0" tIns="0" bIns="0" anchor="t">
            <a:spAutoFit/>
          </a:bodyPr>
          <a:lstStyle/>
          <a:p>
            <a:pPr algn="l"/>
            <a:r>
              <a:rPr sz="1200" b="0" i="0">
                <a:solidFill>
                  <a:srgbClr val="D9D3F0"/>
                </a:solidFill>
                <a:latin typeface="Calibri"/>
              </a:rPr>
              <a:t>Zomato, stops before paying · 0 LLM calls · 31–47 s</a:t>
            </a:r>
          </a:p>
        </p:txBody>
      </p:sp>
      <p:sp>
        <p:nvSpPr>
          <p:cNvPr id="8" name="Rounded Rectangle 7"/>
          <p:cNvSpPr/>
          <p:nvPr/>
        </p:nvSpPr>
        <p:spPr>
          <a:xfrm>
            <a:off x="3566160" y="1828800"/>
            <a:ext cx="2432304" cy="2103120"/>
          </a:xfrm>
          <a:prstGeom prst="roundRect">
            <a:avLst>
              <a:gd name="adj" fmla="val 3478"/>
            </a:avLst>
          </a:prstGeom>
          <a:solidFill>
            <a:srgbClr val="14142B"/>
          </a:solidFill>
          <a:ln>
            <a:noFill/>
          </a:ln>
          <a:effectLst/>
        </p:spPr>
        <p:txBody>
          <a:bodyPr rtlCol="0" anchor="ctr"/>
          <a:lstStyle/>
          <a:p/>
        </p:txBody>
      </p:sp>
      <p:sp>
        <p:nvSpPr>
          <p:cNvPr id="9" name="TextBox 8"/>
          <p:cNvSpPr txBox="1"/>
          <p:nvPr/>
        </p:nvSpPr>
        <p:spPr>
          <a:xfrm>
            <a:off x="3767328" y="1965960"/>
            <a:ext cx="2157984" cy="777240"/>
          </a:xfrm>
          <a:prstGeom prst="rect">
            <a:avLst/>
          </a:prstGeom>
          <a:noFill/>
        </p:spPr>
        <p:txBody>
          <a:bodyPr wrap="square" lIns="0" rIns="0" tIns="0" bIns="0" anchor="t">
            <a:spAutoFit/>
          </a:bodyPr>
          <a:lstStyle/>
          <a:p>
            <a:pPr algn="l"/>
            <a:r>
              <a:rPr sz="4000" b="1" i="0">
                <a:solidFill>
                  <a:srgbClr val="A7F3D0"/>
                </a:solidFill>
                <a:latin typeface="Arial"/>
              </a:rPr>
              <a:t>14 / 14</a:t>
            </a:r>
          </a:p>
        </p:txBody>
      </p:sp>
      <p:sp>
        <p:nvSpPr>
          <p:cNvPr id="10" name="TextBox 9"/>
          <p:cNvSpPr txBox="1"/>
          <p:nvPr/>
        </p:nvSpPr>
        <p:spPr>
          <a:xfrm>
            <a:off x="3767328" y="2743200"/>
            <a:ext cx="2157984" cy="347472"/>
          </a:xfrm>
          <a:prstGeom prst="rect">
            <a:avLst/>
          </a:prstGeom>
          <a:noFill/>
        </p:spPr>
        <p:txBody>
          <a:bodyPr wrap="square" lIns="0" rIns="0" tIns="0" bIns="0" anchor="t">
            <a:spAutoFit/>
          </a:bodyPr>
          <a:lstStyle/>
          <a:p>
            <a:pPr algn="l"/>
            <a:r>
              <a:rPr sz="1400" b="1" i="0">
                <a:solidFill>
                  <a:srgbClr val="FFFFFF"/>
                </a:solidFill>
                <a:latin typeface="Arial"/>
              </a:rPr>
              <a:t>Amazon, taught by hand</a:t>
            </a:r>
          </a:p>
        </p:txBody>
      </p:sp>
      <p:sp>
        <p:nvSpPr>
          <p:cNvPr id="11" name="TextBox 10"/>
          <p:cNvSpPr txBox="1"/>
          <p:nvPr/>
        </p:nvSpPr>
        <p:spPr>
          <a:xfrm>
            <a:off x="3767328" y="3108960"/>
            <a:ext cx="2112264" cy="731520"/>
          </a:xfrm>
          <a:prstGeom prst="rect">
            <a:avLst/>
          </a:prstGeom>
          <a:noFill/>
        </p:spPr>
        <p:txBody>
          <a:bodyPr wrap="square" lIns="0" rIns="0" tIns="0" bIns="0" anchor="t">
            <a:spAutoFit/>
          </a:bodyPr>
          <a:lstStyle/>
          <a:p>
            <a:pPr algn="l"/>
            <a:r>
              <a:rPr sz="1200" b="0" i="0">
                <a:solidFill>
                  <a:srgbClr val="D9D3F0"/>
                </a:solidFill>
                <a:latin typeface="Calibri"/>
              </a:rPr>
              <a:t>first non-sponsored result · incl. Hinglish and paraphrases</a:t>
            </a:r>
          </a:p>
        </p:txBody>
      </p:sp>
      <p:sp>
        <p:nvSpPr>
          <p:cNvPr id="12" name="Rounded Rectangle 11"/>
          <p:cNvSpPr/>
          <p:nvPr/>
        </p:nvSpPr>
        <p:spPr>
          <a:xfrm>
            <a:off x="6199632" y="1828800"/>
            <a:ext cx="2432304" cy="2103120"/>
          </a:xfrm>
          <a:prstGeom prst="roundRect">
            <a:avLst>
              <a:gd name="adj" fmla="val 3478"/>
            </a:avLst>
          </a:prstGeom>
          <a:solidFill>
            <a:srgbClr val="6D28D9"/>
          </a:solidFill>
          <a:ln>
            <a:noFill/>
          </a:ln>
          <a:effectLst/>
        </p:spPr>
        <p:txBody>
          <a:bodyPr rtlCol="0" anchor="ctr"/>
          <a:lstStyle/>
          <a:p/>
        </p:txBody>
      </p:sp>
      <p:sp>
        <p:nvSpPr>
          <p:cNvPr id="13" name="TextBox 12"/>
          <p:cNvSpPr txBox="1"/>
          <p:nvPr/>
        </p:nvSpPr>
        <p:spPr>
          <a:xfrm>
            <a:off x="6400800" y="1965960"/>
            <a:ext cx="2157984" cy="777240"/>
          </a:xfrm>
          <a:prstGeom prst="rect">
            <a:avLst/>
          </a:prstGeom>
          <a:noFill/>
        </p:spPr>
        <p:txBody>
          <a:bodyPr wrap="square" lIns="0" rIns="0" tIns="0" bIns="0" anchor="t">
            <a:spAutoFit/>
          </a:bodyPr>
          <a:lstStyle/>
          <a:p>
            <a:pPr algn="l"/>
            <a:r>
              <a:rPr sz="4000" b="1" i="0">
                <a:solidFill>
                  <a:srgbClr val="FFFFFF"/>
                </a:solidFill>
                <a:latin typeface="Arial"/>
              </a:rPr>
              <a:t>7 / 7</a:t>
            </a:r>
          </a:p>
        </p:txBody>
      </p:sp>
      <p:sp>
        <p:nvSpPr>
          <p:cNvPr id="14" name="TextBox 13"/>
          <p:cNvSpPr txBox="1"/>
          <p:nvPr/>
        </p:nvSpPr>
        <p:spPr>
          <a:xfrm>
            <a:off x="6400800" y="2743200"/>
            <a:ext cx="2157984" cy="347472"/>
          </a:xfrm>
          <a:prstGeom prst="rect">
            <a:avLst/>
          </a:prstGeom>
          <a:noFill/>
        </p:spPr>
        <p:txBody>
          <a:bodyPr wrap="square" lIns="0" rIns="0" tIns="0" bIns="0" anchor="t">
            <a:spAutoFit/>
          </a:bodyPr>
          <a:lstStyle/>
          <a:p>
            <a:pPr algn="l"/>
            <a:r>
              <a:rPr sz="1400" b="1" i="0">
                <a:solidFill>
                  <a:srgbClr val="FFFFFF"/>
                </a:solidFill>
                <a:latin typeface="Arial"/>
              </a:rPr>
              <a:t>Myntra (Amazon task)</a:t>
            </a:r>
          </a:p>
        </p:txBody>
      </p:sp>
      <p:sp>
        <p:nvSpPr>
          <p:cNvPr id="15" name="TextBox 14"/>
          <p:cNvSpPr txBox="1"/>
          <p:nvPr/>
        </p:nvSpPr>
        <p:spPr>
          <a:xfrm>
            <a:off x="6400800" y="3108960"/>
            <a:ext cx="2112264" cy="731520"/>
          </a:xfrm>
          <a:prstGeom prst="rect">
            <a:avLst/>
          </a:prstGeom>
          <a:noFill/>
        </p:spPr>
        <p:txBody>
          <a:bodyPr wrap="square" lIns="0" rIns="0" tIns="0" bIns="0" anchor="t">
            <a:spAutoFit/>
          </a:bodyPr>
          <a:lstStyle/>
          <a:p>
            <a:pPr algn="l"/>
            <a:r>
              <a:rPr sz="1200" b="0" i="0">
                <a:solidFill>
                  <a:srgbClr val="D9D3F0"/>
                </a:solidFill>
                <a:latin typeface="Calibri"/>
              </a:rPr>
              <a:t>skipped “AD” tiles · asked the size every time</a:t>
            </a:r>
          </a:p>
        </p:txBody>
      </p:sp>
      <p:sp>
        <p:nvSpPr>
          <p:cNvPr id="16" name="Rounded Rectangle 15"/>
          <p:cNvSpPr/>
          <p:nvPr/>
        </p:nvSpPr>
        <p:spPr>
          <a:xfrm>
            <a:off x="8833104" y="1828800"/>
            <a:ext cx="2432304" cy="2103120"/>
          </a:xfrm>
          <a:prstGeom prst="roundRect">
            <a:avLst>
              <a:gd name="adj" fmla="val 3478"/>
            </a:avLst>
          </a:prstGeom>
          <a:solidFill>
            <a:srgbClr val="14142B"/>
          </a:solidFill>
          <a:ln>
            <a:noFill/>
          </a:ln>
          <a:effectLst/>
        </p:spPr>
        <p:txBody>
          <a:bodyPr rtlCol="0" anchor="ctr"/>
          <a:lstStyle/>
          <a:p/>
        </p:txBody>
      </p:sp>
      <p:sp>
        <p:nvSpPr>
          <p:cNvPr id="17" name="TextBox 16"/>
          <p:cNvSpPr txBox="1"/>
          <p:nvPr/>
        </p:nvSpPr>
        <p:spPr>
          <a:xfrm>
            <a:off x="9034272" y="1965960"/>
            <a:ext cx="2157984" cy="777240"/>
          </a:xfrm>
          <a:prstGeom prst="rect">
            <a:avLst/>
          </a:prstGeom>
          <a:noFill/>
        </p:spPr>
        <p:txBody>
          <a:bodyPr wrap="square" lIns="0" rIns="0" tIns="0" bIns="0" anchor="t">
            <a:spAutoFit/>
          </a:bodyPr>
          <a:lstStyle/>
          <a:p>
            <a:pPr algn="l"/>
            <a:r>
              <a:rPr sz="4000" b="1" i="0">
                <a:solidFill>
                  <a:srgbClr val="A7F3D0"/>
                </a:solidFill>
                <a:latin typeface="Arial"/>
              </a:rPr>
              <a:t>18 / 18</a:t>
            </a:r>
          </a:p>
        </p:txBody>
      </p:sp>
      <p:sp>
        <p:nvSpPr>
          <p:cNvPr id="18" name="TextBox 17"/>
          <p:cNvSpPr txBox="1"/>
          <p:nvPr/>
        </p:nvSpPr>
        <p:spPr>
          <a:xfrm>
            <a:off x="9034272" y="2743200"/>
            <a:ext cx="2157984" cy="347472"/>
          </a:xfrm>
          <a:prstGeom prst="rect">
            <a:avLst/>
          </a:prstGeom>
          <a:noFill/>
        </p:spPr>
        <p:txBody>
          <a:bodyPr wrap="square" lIns="0" rIns="0" tIns="0" bIns="0" anchor="t">
            <a:spAutoFit/>
          </a:bodyPr>
          <a:lstStyle/>
          <a:p>
            <a:pPr algn="l"/>
            <a:r>
              <a:rPr sz="1400" b="1" i="0">
                <a:solidFill>
                  <a:srgbClr val="FFFFFF"/>
                </a:solidFill>
                <a:latin typeface="Arial"/>
              </a:rPr>
              <a:t>Commands understood</a:t>
            </a:r>
          </a:p>
        </p:txBody>
      </p:sp>
      <p:sp>
        <p:nvSpPr>
          <p:cNvPr id="19" name="TextBox 18"/>
          <p:cNvSpPr txBox="1"/>
          <p:nvPr/>
        </p:nvSpPr>
        <p:spPr>
          <a:xfrm>
            <a:off x="9034272" y="3108960"/>
            <a:ext cx="2112264" cy="731520"/>
          </a:xfrm>
          <a:prstGeom prst="rect">
            <a:avLst/>
          </a:prstGeom>
          <a:noFill/>
        </p:spPr>
        <p:txBody>
          <a:bodyPr wrap="square" lIns="0" rIns="0" tIns="0" bIns="0" anchor="t">
            <a:spAutoFit/>
          </a:bodyPr>
          <a:lstStyle/>
          <a:p>
            <a:pPr algn="l"/>
            <a:r>
              <a:rPr sz="1200" b="0" i="0">
                <a:solidFill>
                  <a:srgbClr val="D9D3F0"/>
                </a:solidFill>
                <a:latin typeface="Calibri"/>
              </a:rPr>
              <a:t>Amazon test set · median 1.1 s</a:t>
            </a:r>
          </a:p>
        </p:txBody>
      </p:sp>
      <p:pic>
        <p:nvPicPr>
          <p:cNvPr id="20" name="Picture 19" descr="MdCheckCircle_0E9F6E.png"/>
          <p:cNvPicPr>
            <a:picLocks noChangeAspect="1"/>
          </p:cNvPicPr>
          <p:nvPr/>
        </p:nvPicPr>
        <p:blipFill>
          <a:blip r:embed="rId2"/>
          <a:stretch>
            <a:fillRect/>
          </a:stretch>
        </p:blipFill>
        <p:spPr>
          <a:xfrm>
            <a:off x="932688" y="4242816"/>
            <a:ext cx="274320" cy="274320"/>
          </a:xfrm>
          <a:prstGeom prst="rect">
            <a:avLst/>
          </a:prstGeom>
        </p:spPr>
      </p:pic>
      <p:sp>
        <p:nvSpPr>
          <p:cNvPr id="21" name="TextBox 20"/>
          <p:cNvSpPr txBox="1"/>
          <p:nvPr/>
        </p:nvSpPr>
        <p:spPr>
          <a:xfrm>
            <a:off x="1344168" y="4206240"/>
            <a:ext cx="4754880" cy="685800"/>
          </a:xfrm>
          <a:prstGeom prst="rect">
            <a:avLst/>
          </a:prstGeom>
          <a:noFill/>
        </p:spPr>
        <p:txBody>
          <a:bodyPr wrap="square" lIns="0" rIns="0" tIns="0" bIns="0" anchor="t">
            <a:spAutoFit/>
          </a:bodyPr>
          <a:lstStyle/>
          <a:p>
            <a:pPr algn="l"/>
            <a:r>
              <a:rPr sz="1350" b="1" i="0">
                <a:solidFill>
                  <a:srgbClr val="14142B"/>
                </a:solidFill>
                <a:latin typeface="Calibri"/>
              </a:rPr>
              <a:t>Every judges’ sentence, verbatim (30 Sep)</a:t>
            </a:r>
          </a:p>
          <a:p>
            <a:pPr algn="l"/>
            <a:r>
              <a:rPr sz="1200" b="0" i="0">
                <a:solidFill>
                  <a:srgbClr val="5B5F77"/>
                </a:solidFill>
                <a:latin typeface="Calibri"/>
              </a:rPr>
              <a:t>exact, both paraphrases, Farmhouse, two pizzas, to Work, “Order pizza.”: all handled</a:t>
            </a:r>
          </a:p>
        </p:txBody>
      </p:sp>
      <p:pic>
        <p:nvPicPr>
          <p:cNvPr id="22" name="Picture 21" descr="MdCheckCircle_0E9F6E.png"/>
          <p:cNvPicPr>
            <a:picLocks noChangeAspect="1"/>
          </p:cNvPicPr>
          <p:nvPr/>
        </p:nvPicPr>
        <p:blipFill>
          <a:blip r:embed="rId2"/>
          <a:stretch>
            <a:fillRect/>
          </a:stretch>
        </p:blipFill>
        <p:spPr>
          <a:xfrm>
            <a:off x="6190488" y="4242816"/>
            <a:ext cx="274320" cy="274320"/>
          </a:xfrm>
          <a:prstGeom prst="rect">
            <a:avLst/>
          </a:prstGeom>
        </p:spPr>
      </p:pic>
      <p:sp>
        <p:nvSpPr>
          <p:cNvPr id="23" name="TextBox 22"/>
          <p:cNvSpPr txBox="1"/>
          <p:nvPr/>
        </p:nvSpPr>
        <p:spPr>
          <a:xfrm>
            <a:off x="6601968" y="4206240"/>
            <a:ext cx="4754880" cy="685800"/>
          </a:xfrm>
          <a:prstGeom prst="rect">
            <a:avLst/>
          </a:prstGeom>
          <a:noFill/>
        </p:spPr>
        <p:txBody>
          <a:bodyPr wrap="square" lIns="0" rIns="0" tIns="0" bIns="0" anchor="t">
            <a:spAutoFit/>
          </a:bodyPr>
          <a:lstStyle/>
          <a:p>
            <a:pPr algn="l"/>
            <a:r>
              <a:rPr sz="1350" b="1" i="0">
                <a:solidFill>
                  <a:srgbClr val="14142B"/>
                </a:solidFill>
                <a:latin typeface="Calibri"/>
              </a:rPr>
              <a:t>“Order garlic bread from dominos”</a:t>
            </a:r>
          </a:p>
          <a:p>
            <a:pPr algn="l"/>
            <a:r>
              <a:rPr sz="1200" b="0" i="0">
                <a:solidFill>
                  <a:srgbClr val="5B5F77"/>
                </a:solidFill>
                <a:latin typeface="Calibri"/>
              </a:rPr>
              <a:t>Classic Stuffed Garlic Bread in the cart — 58 s, no LLM calls</a:t>
            </a:r>
          </a:p>
        </p:txBody>
      </p:sp>
      <p:pic>
        <p:nvPicPr>
          <p:cNvPr id="24" name="Picture 23" descr="MdCheckCircle_0E9F6E.png"/>
          <p:cNvPicPr>
            <a:picLocks noChangeAspect="1"/>
          </p:cNvPicPr>
          <p:nvPr/>
        </p:nvPicPr>
        <p:blipFill>
          <a:blip r:embed="rId2"/>
          <a:stretch>
            <a:fillRect/>
          </a:stretch>
        </p:blipFill>
        <p:spPr>
          <a:xfrm>
            <a:off x="932688" y="5020055"/>
            <a:ext cx="274320" cy="274320"/>
          </a:xfrm>
          <a:prstGeom prst="rect">
            <a:avLst/>
          </a:prstGeom>
        </p:spPr>
      </p:pic>
      <p:sp>
        <p:nvSpPr>
          <p:cNvPr id="25" name="TextBox 24"/>
          <p:cNvSpPr txBox="1"/>
          <p:nvPr/>
        </p:nvSpPr>
        <p:spPr>
          <a:xfrm>
            <a:off x="1344168" y="4983479"/>
            <a:ext cx="4754880" cy="685800"/>
          </a:xfrm>
          <a:prstGeom prst="rect">
            <a:avLst/>
          </a:prstGeom>
          <a:noFill/>
        </p:spPr>
        <p:txBody>
          <a:bodyPr wrap="square" lIns="0" rIns="0" tIns="0" bIns="0" anchor="t">
            <a:spAutoFit/>
          </a:bodyPr>
          <a:lstStyle/>
          <a:p>
            <a:pPr algn="l"/>
            <a:r>
              <a:rPr sz="1350" b="1" i="0">
                <a:solidFill>
                  <a:srgbClr val="14142B"/>
                </a:solidFill>
                <a:latin typeface="Calibri"/>
              </a:rPr>
              <a:t>Taught on Domino’s, ordered from Pizza Hut</a:t>
            </a:r>
          </a:p>
          <a:p>
            <a:pPr algn="l"/>
            <a:r>
              <a:rPr sz="1200" b="0" i="0">
                <a:solidFill>
                  <a:srgbClr val="5B5F77"/>
                </a:solidFill>
                <a:latin typeface="Calibri"/>
              </a:rPr>
              <a:t>outlet picker, menu search, the plain Margherita — 63 s</a:t>
            </a:r>
          </a:p>
        </p:txBody>
      </p:sp>
      <p:pic>
        <p:nvPicPr>
          <p:cNvPr id="26" name="Picture 25" descr="MdCheckCircle_0E9F6E.png"/>
          <p:cNvPicPr>
            <a:picLocks noChangeAspect="1"/>
          </p:cNvPicPr>
          <p:nvPr/>
        </p:nvPicPr>
        <p:blipFill>
          <a:blip r:embed="rId2"/>
          <a:stretch>
            <a:fillRect/>
          </a:stretch>
        </p:blipFill>
        <p:spPr>
          <a:xfrm>
            <a:off x="6190488" y="5020055"/>
            <a:ext cx="274320" cy="274320"/>
          </a:xfrm>
          <a:prstGeom prst="rect">
            <a:avLst/>
          </a:prstGeom>
        </p:spPr>
      </p:pic>
      <p:sp>
        <p:nvSpPr>
          <p:cNvPr id="27" name="TextBox 26"/>
          <p:cNvSpPr txBox="1"/>
          <p:nvPr/>
        </p:nvSpPr>
        <p:spPr>
          <a:xfrm>
            <a:off x="6601968" y="4983479"/>
            <a:ext cx="4754880" cy="685800"/>
          </a:xfrm>
          <a:prstGeom prst="rect">
            <a:avLst/>
          </a:prstGeom>
          <a:noFill/>
        </p:spPr>
        <p:txBody>
          <a:bodyPr wrap="square" lIns="0" rIns="0" tIns="0" bIns="0" anchor="t">
            <a:spAutoFit/>
          </a:bodyPr>
          <a:lstStyle/>
          <a:p>
            <a:pPr algn="l"/>
            <a:r>
              <a:rPr sz="1350" b="1" i="0">
                <a:solidFill>
                  <a:srgbClr val="14142B"/>
                </a:solidFill>
                <a:latin typeface="Calibri"/>
              </a:rPr>
              <a:t>Learn from one demo, replay with a new value</a:t>
            </a:r>
          </a:p>
          <a:p>
            <a:pPr algn="l"/>
            <a:r>
              <a:rPr sz="1200" b="0" i="0">
                <a:solidFill>
                  <a:srgbClr val="5B5F77"/>
                </a:solidFill>
                <a:latin typeface="Calibri"/>
              </a:rPr>
              <a:t>4/4, including a demo interrupted by switching apps</a:t>
            </a:r>
          </a:p>
        </p:txBody>
      </p:sp>
      <p:sp>
        <p:nvSpPr>
          <p:cNvPr id="28" name="TextBox 27"/>
          <p:cNvSpPr txBox="1"/>
          <p:nvPr/>
        </p:nvSpPr>
        <p:spPr>
          <a:xfrm>
            <a:off x="932688" y="5897880"/>
            <a:ext cx="10332720" cy="274320"/>
          </a:xfrm>
          <a:prstGeom prst="rect">
            <a:avLst/>
          </a:prstGeom>
          <a:noFill/>
        </p:spPr>
        <p:txBody>
          <a:bodyPr wrap="square" lIns="0" rIns="0" tIns="0" bIns="0" anchor="t">
            <a:spAutoFit/>
          </a:bodyPr>
          <a:lstStyle/>
          <a:p>
            <a:pPr algn="l"/>
            <a:r>
              <a:rPr sz="1050" b="0" i="0">
                <a:solidFill>
                  <a:srgbClr val="5B5F77"/>
                </a:solidFill>
                <a:latin typeface="Calibri"/>
              </a:rPr>
              <a:t>Oppo Reno3, Android 12 · 28–30 Sep · app force-stopped before every run · full tables and method in docs/ of the repository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704EA6"/>
                </a:solidFill>
                <a:latin typeface="Calibri"/>
              </a:rPr>
              <a:t>Theme 3 test cases</a:t>
            </a:r>
          </a:p>
        </p:txBody>
      </p:sp>
      <p:sp>
        <p:nvSpPr>
          <p:cNvPr id="3" name="TextBox 2"/>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ALL 14 PASS ON OUR BUILD, PLUS THE THREE BONUSES</a:t>
            </a:r>
          </a:p>
        </p:txBody>
      </p:sp>
      <p:graphicFrame>
        <p:nvGraphicFramePr>
          <p:cNvPr id="4" name="Table 3"/>
          <p:cNvGraphicFramePr>
            <a:graphicFrameLocks noGrp="1"/>
          </p:cNvGraphicFramePr>
          <p:nvPr/>
        </p:nvGraphicFramePr>
        <p:xfrm>
          <a:off x="932688" y="1810512"/>
          <a:ext cx="5074920" cy="4297680"/>
        </p:xfrm>
        <a:graphic>
          <a:graphicData uri="http://schemas.openxmlformats.org/drawingml/2006/table">
            <a:tbl>
              <a:tblPr firstRow="0" bandRow="0">
                <a:tableStyleId>{2D5ABB26-0587-4C30-8999-92F81FD0307C}</a:tableStyleId>
              </a:tblPr>
              <a:tblGrid>
                <a:gridCol w="502920"/>
                <a:gridCol w="1600200"/>
                <a:gridCol w="2971800"/>
              </a:tblGrid>
              <a:tr h="429768">
                <a:tc>
                  <a:txBody>
                    <a:bodyPr wrap="square"/>
                    <a:lstStyle/>
                    <a:p>
                      <a:r>
                        <a:rPr sz="1100" b="1">
                          <a:solidFill>
                            <a:srgbClr val="5B5F77"/>
                          </a:solidFill>
                          <a:latin typeface="Arial"/>
                        </a:rPr>
                        <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Test</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What happens</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T1</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Teach – food</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Learned from one demo; steps shown in words</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T2</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Exact replay</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Stops before paying, 8/8, no LLM calls</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T3</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Paraphrase</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“Get me a margherita…”, “I want to order…” (asks restaurant)</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T4</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Slot: item</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Farmhouse, garlic bread, another restaurant</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T5</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Slot: quantity</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“two” → quantity 2 on the sheet, verified</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T6</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Slot: address</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“deliver to work” → Work selected</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T7</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Screen change</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Pop-up dismissed, item already in cart, shop closed</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T8</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Teach – e-commerce</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Amazon task learned, distinct from T1</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T9</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Cross slot + replay</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“phone case” → first non-sponsored result</a:t>
                      </a:r>
                    </a:p>
                  </a:txBody>
                  <a:tcPr marL="73152" marR="73152" marT="27432" marB="27432" anchor="ctr">
                    <a:lnL w="0">
                      <a:noFill/>
                    </a:lnL>
                    <a:lnR w="0">
                      <a:noFill/>
                    </a:lnR>
                    <a:lnT w="0">
                      <a:noFill/>
                    </a:lnT>
                    <a:lnB w="9525">
                      <a:solidFill>
                        <a:srgbClr val="D9D3F0"/>
                      </a:solidFill>
                    </a:lnB>
                    <a:noFill/>
                  </a:tcPr>
                </a:tc>
              </a:tr>
            </a:tbl>
          </a:graphicData>
        </a:graphic>
      </p:graphicFrame>
      <p:graphicFrame>
        <p:nvGraphicFramePr>
          <p:cNvPr id="5" name="Table 4"/>
          <p:cNvGraphicFramePr>
            <a:graphicFrameLocks noGrp="1"/>
          </p:cNvGraphicFramePr>
          <p:nvPr/>
        </p:nvGraphicFramePr>
        <p:xfrm>
          <a:off x="6190488" y="1810512"/>
          <a:ext cx="5074920" cy="3867912"/>
        </p:xfrm>
        <a:graphic>
          <a:graphicData uri="http://schemas.openxmlformats.org/drawingml/2006/table">
            <a:tbl>
              <a:tblPr firstRow="0" bandRow="0">
                <a:tableStyleId>{2D5ABB26-0587-4C30-8999-92F81FD0307C}</a:tableStyleId>
              </a:tblPr>
              <a:tblGrid>
                <a:gridCol w="502920"/>
                <a:gridCol w="1600200"/>
                <a:gridCol w="2971800"/>
              </a:tblGrid>
              <a:tr h="429768">
                <a:tc>
                  <a:txBody>
                    <a:bodyPr wrap="square"/>
                    <a:lstStyle/>
                    <a:p>
                      <a:r>
                        <a:rPr sz="1100" b="1">
                          <a:solidFill>
                            <a:srgbClr val="5B5F77"/>
                          </a:solidFill>
                          <a:latin typeface="Arial"/>
                        </a:rPr>
                        <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Test</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What happens</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T10</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Genuinely stuck</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Signed out 2.8 s · app in Hindi 5 s · no taps</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T11</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Credential boundary</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Stops before paying: “Your turn.”</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T12</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Unknown intent</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“I haven’t learned that yet. Teach me?”</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T13</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Ambiguity</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“Order pizza.” → asks restaurant, then pizza</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0E9F6E"/>
                          </a:solidFill>
                          <a:latin typeface="Arial"/>
                        </a:rPr>
                        <a:t>T14</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Reporting</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“No… stopped at step 2 of 11 (Open search bar)”</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6D28D9"/>
                          </a:solidFill>
                          <a:latin typeface="Arial"/>
                        </a:rPr>
                        <a:t>+3</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Noisy demo</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Mis-tap, call, unneeded filter dropped</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6D28D9"/>
                          </a:solidFill>
                          <a:latin typeface="Arial"/>
                        </a:rPr>
                        <a:t>+4</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Similar app</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Amazon task runs on Myntra, 7/7</a:t>
                      </a:r>
                    </a:p>
                  </a:txBody>
                  <a:tcPr marL="73152" marR="73152" marT="27432" marB="27432" anchor="ctr">
                    <a:lnL w="0">
                      <a:noFill/>
                    </a:lnL>
                    <a:lnR w="0">
                      <a:noFill/>
                    </a:lnR>
                    <a:lnT w="0">
                      <a:noFill/>
                    </a:lnT>
                    <a:lnB w="9525">
                      <a:solidFill>
                        <a:srgbClr val="D9D3F0"/>
                      </a:solidFill>
                    </a:lnB>
                    <a:noFill/>
                  </a:tcPr>
                </a:tc>
              </a:tr>
              <a:tr h="429768">
                <a:tc>
                  <a:txBody>
                    <a:bodyPr wrap="square"/>
                    <a:lstStyle/>
                    <a:p>
                      <a:r>
                        <a:rPr sz="1150" b="1">
                          <a:solidFill>
                            <a:srgbClr val="6D28D9"/>
                          </a:solidFill>
                          <a:latin typeface="Arial"/>
                        </a:rPr>
                        <a:t>+3</a:t>
                      </a:r>
                    </a:p>
                  </a:txBody>
                  <a:tcPr marL="73152" marR="73152" marT="27432" marB="27432" anchor="ctr">
                    <a:lnL w="0">
                      <a:noFill/>
                    </a:lnL>
                    <a:lnR w="0">
                      <a:noFill/>
                    </a:lnR>
                    <a:lnT w="0">
                      <a:noFill/>
                    </a:lnT>
                    <a:lnB w="9525">
                      <a:solidFill>
                        <a:srgbClr val="D9D3F0"/>
                      </a:solidFill>
                    </a:lnB>
                    <a:noFill/>
                  </a:tcPr>
                </a:tc>
                <a:tc>
                  <a:txBody>
                    <a:bodyPr wrap="square"/>
                    <a:lstStyle/>
                    <a:p>
                      <a:r>
                        <a:rPr sz="1150" b="1">
                          <a:solidFill>
                            <a:srgbClr val="1F2037"/>
                          </a:solidFill>
                          <a:latin typeface="Calibri"/>
                        </a:rPr>
                        <a:t>Mid-flow parameter</a:t>
                      </a:r>
                    </a:p>
                  </a:txBody>
                  <a:tcPr marL="73152" marR="73152" marT="27432" marB="27432" anchor="ctr">
                    <a:lnL w="0">
                      <a:noFill/>
                    </a:lnL>
                    <a:lnR w="0">
                      <a:noFill/>
                    </a:lnR>
                    <a:lnT w="0">
                      <a:noFill/>
                    </a:lnT>
                    <a:lnB w="9525">
                      <a:solidFill>
                        <a:srgbClr val="D9D3F0"/>
                      </a:solidFill>
                    </a:lnB>
                    <a:noFill/>
                  </a:tcPr>
                </a:tc>
                <a:tc>
                  <a:txBody>
                    <a:bodyPr wrap="square"/>
                    <a:lstStyle/>
                    <a:p>
                      <a:r>
                        <a:rPr sz="1100" b="0">
                          <a:solidFill>
                            <a:srgbClr val="5B5F77"/>
                          </a:solidFill>
                          <a:latin typeface="Calibri"/>
                        </a:rPr>
                        <a:t>“Which restaurant…?”, “Which size…?”</a:t>
                      </a:r>
                    </a:p>
                  </a:txBody>
                  <a:tcPr marL="73152" marR="73152" marT="27432" marB="27432" anchor="ctr">
                    <a:lnL w="0">
                      <a:noFill/>
                    </a:lnL>
                    <a:lnR w="0">
                      <a:noFill/>
                    </a:lnR>
                    <a:lnT w="0">
                      <a:noFill/>
                    </a:lnT>
                    <a:lnB w="9525">
                      <a:solidFill>
                        <a:srgbClr val="D9D3F0"/>
                      </a:solidFill>
                    </a:lnB>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704EA6"/>
                </a:solidFill>
                <a:latin typeface="Calibri"/>
              </a:rPr>
              <a:t>Known limitations</a:t>
            </a:r>
          </a:p>
        </p:txBody>
      </p:sp>
      <p:sp>
        <p:nvSpPr>
          <p:cNvPr id="3" name="Rounded Rectangle 2"/>
          <p:cNvSpPr/>
          <p:nvPr/>
        </p:nvSpPr>
        <p:spPr>
          <a:xfrm>
            <a:off x="932688" y="1600200"/>
            <a:ext cx="5093208" cy="960120"/>
          </a:xfrm>
          <a:prstGeom prst="roundRect">
            <a:avLst>
              <a:gd name="adj" fmla="val 7619"/>
            </a:avLst>
          </a:prstGeom>
          <a:solidFill>
            <a:srgbClr val="F5F3FC"/>
          </a:solidFill>
          <a:ln>
            <a:noFill/>
          </a:ln>
          <a:effectLst/>
        </p:spPr>
        <p:txBody>
          <a:bodyPr rtlCol="0" anchor="ctr"/>
          <a:lstStyle/>
          <a:p/>
        </p:txBody>
      </p:sp>
      <p:sp>
        <p:nvSpPr>
          <p:cNvPr id="4" name="Oval 3"/>
          <p:cNvSpPr/>
          <p:nvPr/>
        </p:nvSpPr>
        <p:spPr>
          <a:xfrm>
            <a:off x="1133856" y="1801368"/>
            <a:ext cx="548640" cy="548640"/>
          </a:xfrm>
          <a:prstGeom prst="ellipse">
            <a:avLst/>
          </a:prstGeom>
          <a:solidFill>
            <a:srgbClr val="2B2560"/>
          </a:solidFill>
          <a:ln>
            <a:noFill/>
          </a:ln>
          <a:effectLst/>
        </p:spPr>
        <p:txBody>
          <a:bodyPr rtlCol="0" anchor="ctr"/>
          <a:lstStyle/>
          <a:p/>
        </p:txBody>
      </p:sp>
      <p:pic>
        <p:nvPicPr>
          <p:cNvPr id="5" name="Picture 4" descr="MdWifiOff_FFFFFF.png"/>
          <p:cNvPicPr>
            <a:picLocks noChangeAspect="1"/>
          </p:cNvPicPr>
          <p:nvPr/>
        </p:nvPicPr>
        <p:blipFill>
          <a:blip r:embed="rId2"/>
          <a:stretch>
            <a:fillRect/>
          </a:stretch>
        </p:blipFill>
        <p:spPr>
          <a:xfrm>
            <a:off x="1254556" y="1922068"/>
            <a:ext cx="307238" cy="307238"/>
          </a:xfrm>
          <a:prstGeom prst="rect">
            <a:avLst/>
          </a:prstGeom>
        </p:spPr>
      </p:pic>
      <p:sp>
        <p:nvSpPr>
          <p:cNvPr id="6" name="TextBox 5"/>
          <p:cNvSpPr txBox="1"/>
          <p:nvPr/>
        </p:nvSpPr>
        <p:spPr>
          <a:xfrm>
            <a:off x="1847088" y="1709928"/>
            <a:ext cx="4069080" cy="329184"/>
          </a:xfrm>
          <a:prstGeom prst="rect">
            <a:avLst/>
          </a:prstGeom>
          <a:noFill/>
        </p:spPr>
        <p:txBody>
          <a:bodyPr wrap="square" lIns="0" rIns="0" tIns="0" bIns="0" anchor="t">
            <a:spAutoFit/>
          </a:bodyPr>
          <a:lstStyle/>
          <a:p>
            <a:pPr algn="l"/>
            <a:r>
              <a:rPr sz="1400" b="1" i="0">
                <a:solidFill>
                  <a:srgbClr val="14142B"/>
                </a:solidFill>
                <a:latin typeface="Arial"/>
              </a:rPr>
              <a:t>Paraphrases need the model</a:t>
            </a:r>
          </a:p>
        </p:txBody>
      </p:sp>
      <p:sp>
        <p:nvSpPr>
          <p:cNvPr id="7" name="TextBox 6"/>
          <p:cNvSpPr txBox="1"/>
          <p:nvPr/>
        </p:nvSpPr>
        <p:spPr>
          <a:xfrm>
            <a:off x="1847088" y="2039112"/>
            <a:ext cx="4069080" cy="475488"/>
          </a:xfrm>
          <a:prstGeom prst="rect">
            <a:avLst/>
          </a:prstGeom>
          <a:noFill/>
        </p:spPr>
        <p:txBody>
          <a:bodyPr wrap="square" lIns="0" rIns="0" tIns="0" bIns="0" anchor="t">
            <a:spAutoFit/>
          </a:bodyPr>
          <a:lstStyle/>
          <a:p>
            <a:pPr algn="l"/>
            <a:r>
              <a:rPr sz="1200" b="0" i="0">
                <a:solidFill>
                  <a:srgbClr val="5B5F77"/>
                </a:solidFill>
                <a:latin typeface="Calibri"/>
              </a:rPr>
              <a:t>Pop-ups, paraphrases and questions use the LLM key; exact and template commands work offline.</a:t>
            </a:r>
          </a:p>
        </p:txBody>
      </p:sp>
      <p:sp>
        <p:nvSpPr>
          <p:cNvPr id="8" name="Rounded Rectangle 7"/>
          <p:cNvSpPr/>
          <p:nvPr/>
        </p:nvSpPr>
        <p:spPr>
          <a:xfrm>
            <a:off x="6172200" y="1600200"/>
            <a:ext cx="5093208" cy="960120"/>
          </a:xfrm>
          <a:prstGeom prst="roundRect">
            <a:avLst>
              <a:gd name="adj" fmla="val 7619"/>
            </a:avLst>
          </a:prstGeom>
          <a:solidFill>
            <a:srgbClr val="F5F3FC"/>
          </a:solidFill>
          <a:ln>
            <a:noFill/>
          </a:ln>
          <a:effectLst/>
        </p:spPr>
        <p:txBody>
          <a:bodyPr rtlCol="0" anchor="ctr"/>
          <a:lstStyle/>
          <a:p/>
        </p:txBody>
      </p:sp>
      <p:sp>
        <p:nvSpPr>
          <p:cNvPr id="9" name="Oval 8"/>
          <p:cNvSpPr/>
          <p:nvPr/>
        </p:nvSpPr>
        <p:spPr>
          <a:xfrm>
            <a:off x="6373368" y="1801368"/>
            <a:ext cx="548640" cy="548640"/>
          </a:xfrm>
          <a:prstGeom prst="ellipse">
            <a:avLst/>
          </a:prstGeom>
          <a:solidFill>
            <a:srgbClr val="2B2560"/>
          </a:solidFill>
          <a:ln>
            <a:noFill/>
          </a:ln>
          <a:effectLst/>
        </p:spPr>
        <p:txBody>
          <a:bodyPr rtlCol="0" anchor="ctr"/>
          <a:lstStyle/>
          <a:p/>
        </p:txBody>
      </p:sp>
      <p:pic>
        <p:nvPicPr>
          <p:cNvPr id="10" name="Picture 9" descr="MdSpeed_FFFFFF.png"/>
          <p:cNvPicPr>
            <a:picLocks noChangeAspect="1"/>
          </p:cNvPicPr>
          <p:nvPr/>
        </p:nvPicPr>
        <p:blipFill>
          <a:blip r:embed="rId3"/>
          <a:stretch>
            <a:fillRect/>
          </a:stretch>
        </p:blipFill>
        <p:spPr>
          <a:xfrm>
            <a:off x="6494068" y="1922068"/>
            <a:ext cx="307238" cy="307238"/>
          </a:xfrm>
          <a:prstGeom prst="rect">
            <a:avLst/>
          </a:prstGeom>
        </p:spPr>
      </p:pic>
      <p:sp>
        <p:nvSpPr>
          <p:cNvPr id="11" name="TextBox 10"/>
          <p:cNvSpPr txBox="1"/>
          <p:nvPr/>
        </p:nvSpPr>
        <p:spPr>
          <a:xfrm>
            <a:off x="7086600" y="1709928"/>
            <a:ext cx="4069080" cy="329184"/>
          </a:xfrm>
          <a:prstGeom prst="rect">
            <a:avLst/>
          </a:prstGeom>
          <a:noFill/>
        </p:spPr>
        <p:txBody>
          <a:bodyPr wrap="square" lIns="0" rIns="0" tIns="0" bIns="0" anchor="t">
            <a:spAutoFit/>
          </a:bodyPr>
          <a:lstStyle/>
          <a:p>
            <a:pPr algn="l"/>
            <a:r>
              <a:rPr sz="1400" b="1" i="0">
                <a:solidFill>
                  <a:srgbClr val="14142B"/>
                </a:solidFill>
                <a:latin typeface="Arial"/>
              </a:rPr>
              <a:t>Another app is slower</a:t>
            </a:r>
          </a:p>
        </p:txBody>
      </p:sp>
      <p:sp>
        <p:nvSpPr>
          <p:cNvPr id="12" name="TextBox 11"/>
          <p:cNvSpPr txBox="1"/>
          <p:nvPr/>
        </p:nvSpPr>
        <p:spPr>
          <a:xfrm>
            <a:off x="7086600" y="2039112"/>
            <a:ext cx="4069080" cy="475488"/>
          </a:xfrm>
          <a:prstGeom prst="rect">
            <a:avLst/>
          </a:prstGeom>
          <a:noFill/>
        </p:spPr>
        <p:txBody>
          <a:bodyPr wrap="square" lIns="0" rIns="0" tIns="0" bIns="0" anchor="t">
            <a:spAutoFit/>
          </a:bodyPr>
          <a:lstStyle/>
          <a:p>
            <a:pPr algn="l"/>
            <a:r>
              <a:rPr sz="1200" b="0" i="0">
                <a:solidFill>
                  <a:srgbClr val="5B5F77"/>
                </a:solidFill>
                <a:latin typeface="Calibri"/>
              </a:rPr>
              <a:t>About 45–60 s on Myntra versus 35–50 s on Amazon: unfamiliar screens go to the model.</a:t>
            </a:r>
          </a:p>
        </p:txBody>
      </p:sp>
      <p:sp>
        <p:nvSpPr>
          <p:cNvPr id="13" name="Rounded Rectangle 12"/>
          <p:cNvSpPr/>
          <p:nvPr/>
        </p:nvSpPr>
        <p:spPr>
          <a:xfrm>
            <a:off x="932688" y="2697480"/>
            <a:ext cx="5093208" cy="960120"/>
          </a:xfrm>
          <a:prstGeom prst="roundRect">
            <a:avLst>
              <a:gd name="adj" fmla="val 7619"/>
            </a:avLst>
          </a:prstGeom>
          <a:solidFill>
            <a:srgbClr val="F5F3FC"/>
          </a:solidFill>
          <a:ln>
            <a:noFill/>
          </a:ln>
          <a:effectLst/>
        </p:spPr>
        <p:txBody>
          <a:bodyPr rtlCol="0" anchor="ctr"/>
          <a:lstStyle/>
          <a:p/>
        </p:txBody>
      </p:sp>
      <p:sp>
        <p:nvSpPr>
          <p:cNvPr id="14" name="Oval 13"/>
          <p:cNvSpPr/>
          <p:nvPr/>
        </p:nvSpPr>
        <p:spPr>
          <a:xfrm>
            <a:off x="1133856" y="2898648"/>
            <a:ext cx="548640" cy="548640"/>
          </a:xfrm>
          <a:prstGeom prst="ellipse">
            <a:avLst/>
          </a:prstGeom>
          <a:solidFill>
            <a:srgbClr val="2B2560"/>
          </a:solidFill>
          <a:ln>
            <a:noFill/>
          </a:ln>
          <a:effectLst/>
        </p:spPr>
        <p:txBody>
          <a:bodyPr rtlCol="0" anchor="ctr"/>
          <a:lstStyle/>
          <a:p/>
        </p:txBody>
      </p:sp>
      <p:pic>
        <p:nvPicPr>
          <p:cNvPr id="15" name="Picture 14" descr="MdScreenLockPortrait_FFFFFF.png"/>
          <p:cNvPicPr>
            <a:picLocks noChangeAspect="1"/>
          </p:cNvPicPr>
          <p:nvPr/>
        </p:nvPicPr>
        <p:blipFill>
          <a:blip r:embed="rId4"/>
          <a:stretch>
            <a:fillRect/>
          </a:stretch>
        </p:blipFill>
        <p:spPr>
          <a:xfrm>
            <a:off x="1254556" y="3019348"/>
            <a:ext cx="307238" cy="307238"/>
          </a:xfrm>
          <a:prstGeom prst="rect">
            <a:avLst/>
          </a:prstGeom>
        </p:spPr>
      </p:pic>
      <p:sp>
        <p:nvSpPr>
          <p:cNvPr id="16" name="TextBox 15"/>
          <p:cNvSpPr txBox="1"/>
          <p:nvPr/>
        </p:nvSpPr>
        <p:spPr>
          <a:xfrm>
            <a:off x="1847088" y="2807208"/>
            <a:ext cx="4069080" cy="329184"/>
          </a:xfrm>
          <a:prstGeom prst="rect">
            <a:avLst/>
          </a:prstGeom>
          <a:noFill/>
        </p:spPr>
        <p:txBody>
          <a:bodyPr wrap="square" lIns="0" rIns="0" tIns="0" bIns="0" anchor="t">
            <a:spAutoFit/>
          </a:bodyPr>
          <a:lstStyle/>
          <a:p>
            <a:pPr algn="l"/>
            <a:r>
              <a:rPr sz="1400" b="1" i="0">
                <a:solidFill>
                  <a:srgbClr val="14142B"/>
                </a:solidFill>
                <a:latin typeface="Arial"/>
              </a:rPr>
              <a:t>Screen on, phone unlocked</a:t>
            </a:r>
          </a:p>
        </p:txBody>
      </p:sp>
      <p:sp>
        <p:nvSpPr>
          <p:cNvPr id="17" name="TextBox 16"/>
          <p:cNvSpPr txBox="1"/>
          <p:nvPr/>
        </p:nvSpPr>
        <p:spPr>
          <a:xfrm>
            <a:off x="1847088" y="3136392"/>
            <a:ext cx="4069080" cy="475488"/>
          </a:xfrm>
          <a:prstGeom prst="rect">
            <a:avLst/>
          </a:prstGeom>
          <a:noFill/>
        </p:spPr>
        <p:txBody>
          <a:bodyPr wrap="square" lIns="0" rIns="0" tIns="0" bIns="0" anchor="t">
            <a:spAutoFit/>
          </a:bodyPr>
          <a:lstStyle/>
          <a:p>
            <a:pPr algn="l"/>
            <a:r>
              <a:rPr sz="1200" b="0" i="0">
                <a:solidFill>
                  <a:srgbClr val="5B5F77"/>
                </a:solidFill>
                <a:latin typeface="Calibri"/>
              </a:rPr>
              <a:t>Accessibility services can’t act on a locked screen.</a:t>
            </a:r>
          </a:p>
        </p:txBody>
      </p:sp>
      <p:sp>
        <p:nvSpPr>
          <p:cNvPr id="18" name="Rounded Rectangle 17"/>
          <p:cNvSpPr/>
          <p:nvPr/>
        </p:nvSpPr>
        <p:spPr>
          <a:xfrm>
            <a:off x="6172200" y="2697480"/>
            <a:ext cx="5093208" cy="960120"/>
          </a:xfrm>
          <a:prstGeom prst="roundRect">
            <a:avLst>
              <a:gd name="adj" fmla="val 7619"/>
            </a:avLst>
          </a:prstGeom>
          <a:solidFill>
            <a:srgbClr val="F5F3FC"/>
          </a:solidFill>
          <a:ln>
            <a:noFill/>
          </a:ln>
          <a:effectLst/>
        </p:spPr>
        <p:txBody>
          <a:bodyPr rtlCol="0" anchor="ctr"/>
          <a:lstStyle/>
          <a:p/>
        </p:txBody>
      </p:sp>
      <p:sp>
        <p:nvSpPr>
          <p:cNvPr id="19" name="Oval 18"/>
          <p:cNvSpPr/>
          <p:nvPr/>
        </p:nvSpPr>
        <p:spPr>
          <a:xfrm>
            <a:off x="6373368" y="2898648"/>
            <a:ext cx="548640" cy="548640"/>
          </a:xfrm>
          <a:prstGeom prst="ellipse">
            <a:avLst/>
          </a:prstGeom>
          <a:solidFill>
            <a:srgbClr val="2B2560"/>
          </a:solidFill>
          <a:ln>
            <a:noFill/>
          </a:ln>
          <a:effectLst/>
        </p:spPr>
        <p:txBody>
          <a:bodyPr rtlCol="0" anchor="ctr"/>
          <a:lstStyle/>
          <a:p/>
        </p:txBody>
      </p:sp>
      <p:pic>
        <p:nvPicPr>
          <p:cNvPr id="20" name="Picture 19" descr="MdInstallMobile_FFFFFF.png"/>
          <p:cNvPicPr>
            <a:picLocks noChangeAspect="1"/>
          </p:cNvPicPr>
          <p:nvPr/>
        </p:nvPicPr>
        <p:blipFill>
          <a:blip r:embed="rId5"/>
          <a:stretch>
            <a:fillRect/>
          </a:stretch>
        </p:blipFill>
        <p:spPr>
          <a:xfrm>
            <a:off x="6494068" y="3019348"/>
            <a:ext cx="307238" cy="307238"/>
          </a:xfrm>
          <a:prstGeom prst="rect">
            <a:avLst/>
          </a:prstGeom>
        </p:spPr>
      </p:pic>
      <p:sp>
        <p:nvSpPr>
          <p:cNvPr id="21" name="TextBox 20"/>
          <p:cNvSpPr txBox="1"/>
          <p:nvPr/>
        </p:nvSpPr>
        <p:spPr>
          <a:xfrm>
            <a:off x="7086600" y="2807208"/>
            <a:ext cx="4069080" cy="329184"/>
          </a:xfrm>
          <a:prstGeom prst="rect">
            <a:avLst/>
          </a:prstGeom>
          <a:noFill/>
        </p:spPr>
        <p:txBody>
          <a:bodyPr wrap="square" lIns="0" rIns="0" tIns="0" bIns="0" anchor="t">
            <a:spAutoFit/>
          </a:bodyPr>
          <a:lstStyle/>
          <a:p>
            <a:pPr algn="l"/>
            <a:r>
              <a:rPr sz="1400" b="1" i="0">
                <a:solidFill>
                  <a:srgbClr val="14142B"/>
                </a:solidFill>
                <a:latin typeface="Arial"/>
              </a:rPr>
              <a:t>Sideloading in India</a:t>
            </a:r>
          </a:p>
        </p:txBody>
      </p:sp>
      <p:sp>
        <p:nvSpPr>
          <p:cNvPr id="22" name="TextBox 21"/>
          <p:cNvSpPr txBox="1"/>
          <p:nvPr/>
        </p:nvSpPr>
        <p:spPr>
          <a:xfrm>
            <a:off x="7086600" y="3136392"/>
            <a:ext cx="4069080" cy="475488"/>
          </a:xfrm>
          <a:prstGeom prst="rect">
            <a:avLst/>
          </a:prstGeom>
          <a:noFill/>
        </p:spPr>
        <p:txBody>
          <a:bodyPr wrap="square" lIns="0" rIns="0" tIns="0" bIns="0" anchor="t">
            <a:spAutoFit/>
          </a:bodyPr>
          <a:lstStyle/>
          <a:p>
            <a:pPr algn="l"/>
            <a:r>
              <a:rPr sz="1200" b="0" i="0">
                <a:solidFill>
                  <a:srgbClr val="5B5F77"/>
                </a:solidFill>
                <a:latin typeface="Calibri"/>
              </a:rPr>
              <a:t>Play Protect blocks apps with an accessibility service from browsers and chat apps; install over USB or pause the scan.</a:t>
            </a:r>
          </a:p>
        </p:txBody>
      </p:sp>
      <p:sp>
        <p:nvSpPr>
          <p:cNvPr id="23" name="Rounded Rectangle 22"/>
          <p:cNvSpPr/>
          <p:nvPr/>
        </p:nvSpPr>
        <p:spPr>
          <a:xfrm>
            <a:off x="932688" y="3794760"/>
            <a:ext cx="5093208" cy="960120"/>
          </a:xfrm>
          <a:prstGeom prst="roundRect">
            <a:avLst>
              <a:gd name="adj" fmla="val 7619"/>
            </a:avLst>
          </a:prstGeom>
          <a:solidFill>
            <a:srgbClr val="F5F3FC"/>
          </a:solidFill>
          <a:ln>
            <a:noFill/>
          </a:ln>
          <a:effectLst/>
        </p:spPr>
        <p:txBody>
          <a:bodyPr rtlCol="0" anchor="ctr"/>
          <a:lstStyle/>
          <a:p/>
        </p:txBody>
      </p:sp>
      <p:sp>
        <p:nvSpPr>
          <p:cNvPr id="24" name="Oval 23"/>
          <p:cNvSpPr/>
          <p:nvPr/>
        </p:nvSpPr>
        <p:spPr>
          <a:xfrm>
            <a:off x="1133856" y="3995928"/>
            <a:ext cx="548640" cy="548640"/>
          </a:xfrm>
          <a:prstGeom prst="ellipse">
            <a:avLst/>
          </a:prstGeom>
          <a:solidFill>
            <a:srgbClr val="2B2560"/>
          </a:solidFill>
          <a:ln>
            <a:noFill/>
          </a:ln>
          <a:effectLst/>
        </p:spPr>
        <p:txBody>
          <a:bodyPr rtlCol="0" anchor="ctr"/>
          <a:lstStyle/>
          <a:p/>
        </p:txBody>
      </p:sp>
      <p:pic>
        <p:nvPicPr>
          <p:cNvPr id="25" name="Picture 24" descr="MdStorefront_FFFFFF.png"/>
          <p:cNvPicPr>
            <a:picLocks noChangeAspect="1"/>
          </p:cNvPicPr>
          <p:nvPr/>
        </p:nvPicPr>
        <p:blipFill>
          <a:blip r:embed="rId6"/>
          <a:stretch>
            <a:fillRect/>
          </a:stretch>
        </p:blipFill>
        <p:spPr>
          <a:xfrm>
            <a:off x="1254556" y="4116628"/>
            <a:ext cx="307238" cy="307238"/>
          </a:xfrm>
          <a:prstGeom prst="rect">
            <a:avLst/>
          </a:prstGeom>
        </p:spPr>
      </p:pic>
      <p:sp>
        <p:nvSpPr>
          <p:cNvPr id="26" name="TextBox 25"/>
          <p:cNvSpPr txBox="1"/>
          <p:nvPr/>
        </p:nvSpPr>
        <p:spPr>
          <a:xfrm>
            <a:off x="1847088" y="3904488"/>
            <a:ext cx="4069080" cy="329184"/>
          </a:xfrm>
          <a:prstGeom prst="rect">
            <a:avLst/>
          </a:prstGeom>
          <a:noFill/>
        </p:spPr>
        <p:txBody>
          <a:bodyPr wrap="square" lIns="0" rIns="0" tIns="0" bIns="0" anchor="t">
            <a:spAutoFit/>
          </a:bodyPr>
          <a:lstStyle/>
          <a:p>
            <a:pPr algn="l"/>
            <a:r>
              <a:rPr sz="1400" b="1" i="0">
                <a:solidFill>
                  <a:srgbClr val="14142B"/>
                </a:solidFill>
                <a:latin typeface="Arial"/>
              </a:rPr>
              <a:t>Slow networks stall apps</a:t>
            </a:r>
          </a:p>
        </p:txBody>
      </p:sp>
      <p:sp>
        <p:nvSpPr>
          <p:cNvPr id="27" name="TextBox 26"/>
          <p:cNvSpPr txBox="1"/>
          <p:nvPr/>
        </p:nvSpPr>
        <p:spPr>
          <a:xfrm>
            <a:off x="1847088" y="4233672"/>
            <a:ext cx="4069080" cy="475488"/>
          </a:xfrm>
          <a:prstGeom prst="rect">
            <a:avLst/>
          </a:prstGeom>
          <a:noFill/>
        </p:spPr>
        <p:txBody>
          <a:bodyPr wrap="square" lIns="0" rIns="0" tIns="0" bIns="0" anchor="t">
            <a:spAutoFit/>
          </a:bodyPr>
          <a:lstStyle/>
          <a:p>
            <a:pPr algn="l"/>
            <a:r>
              <a:rPr sz="1200" b="0" i="0">
                <a:solidFill>
                  <a:srgbClr val="5B5F77"/>
                </a:solidFill>
                <a:latin typeface="Calibri"/>
              </a:rPr>
              <a:t>It taps the app’s “Try Again” up to three times, then says where it stopped.</a:t>
            </a:r>
          </a:p>
        </p:txBody>
      </p:sp>
      <p:sp>
        <p:nvSpPr>
          <p:cNvPr id="28" name="Rounded Rectangle 27"/>
          <p:cNvSpPr/>
          <p:nvPr/>
        </p:nvSpPr>
        <p:spPr>
          <a:xfrm>
            <a:off x="6172200" y="3794760"/>
            <a:ext cx="5093208" cy="960120"/>
          </a:xfrm>
          <a:prstGeom prst="roundRect">
            <a:avLst>
              <a:gd name="adj" fmla="val 7619"/>
            </a:avLst>
          </a:prstGeom>
          <a:solidFill>
            <a:srgbClr val="F5F3FC"/>
          </a:solidFill>
          <a:ln>
            <a:noFill/>
          </a:ln>
          <a:effectLst/>
        </p:spPr>
        <p:txBody>
          <a:bodyPr rtlCol="0" anchor="ctr"/>
          <a:lstStyle/>
          <a:p/>
        </p:txBody>
      </p:sp>
      <p:sp>
        <p:nvSpPr>
          <p:cNvPr id="29" name="Oval 28"/>
          <p:cNvSpPr/>
          <p:nvPr/>
        </p:nvSpPr>
        <p:spPr>
          <a:xfrm>
            <a:off x="6373368" y="3995928"/>
            <a:ext cx="548640" cy="548640"/>
          </a:xfrm>
          <a:prstGeom prst="ellipse">
            <a:avLst/>
          </a:prstGeom>
          <a:solidFill>
            <a:srgbClr val="2B2560"/>
          </a:solidFill>
          <a:ln>
            <a:noFill/>
          </a:ln>
          <a:effectLst/>
        </p:spPr>
        <p:txBody>
          <a:bodyPr rtlCol="0" anchor="ctr"/>
          <a:lstStyle/>
          <a:p/>
        </p:txBody>
      </p:sp>
      <p:pic>
        <p:nvPicPr>
          <p:cNvPr id="30" name="Picture 29" descr="MdTranslate_FFFFFF.png"/>
          <p:cNvPicPr>
            <a:picLocks noChangeAspect="1"/>
          </p:cNvPicPr>
          <p:nvPr/>
        </p:nvPicPr>
        <p:blipFill>
          <a:blip r:embed="rId7"/>
          <a:stretch>
            <a:fillRect/>
          </a:stretch>
        </p:blipFill>
        <p:spPr>
          <a:xfrm>
            <a:off x="6494068" y="4116628"/>
            <a:ext cx="307238" cy="307238"/>
          </a:xfrm>
          <a:prstGeom prst="rect">
            <a:avLst/>
          </a:prstGeom>
        </p:spPr>
      </p:pic>
      <p:sp>
        <p:nvSpPr>
          <p:cNvPr id="31" name="TextBox 30"/>
          <p:cNvSpPr txBox="1"/>
          <p:nvPr/>
        </p:nvSpPr>
        <p:spPr>
          <a:xfrm>
            <a:off x="7086600" y="3904488"/>
            <a:ext cx="4069080" cy="329184"/>
          </a:xfrm>
          <a:prstGeom prst="rect">
            <a:avLst/>
          </a:prstGeom>
          <a:noFill/>
        </p:spPr>
        <p:txBody>
          <a:bodyPr wrap="square" lIns="0" rIns="0" tIns="0" bIns="0" anchor="t">
            <a:spAutoFit/>
          </a:bodyPr>
          <a:lstStyle/>
          <a:p>
            <a:pPr algn="l"/>
            <a:r>
              <a:rPr sz="1400" b="1" i="0">
                <a:solidFill>
                  <a:srgbClr val="14142B"/>
                </a:solidFill>
                <a:latin typeface="Arial"/>
              </a:rPr>
              <a:t>Speech is English (India)</a:t>
            </a:r>
          </a:p>
        </p:txBody>
      </p:sp>
      <p:sp>
        <p:nvSpPr>
          <p:cNvPr id="32" name="TextBox 31"/>
          <p:cNvSpPr txBox="1"/>
          <p:nvPr/>
        </p:nvSpPr>
        <p:spPr>
          <a:xfrm>
            <a:off x="7086600" y="4233672"/>
            <a:ext cx="4069080" cy="475488"/>
          </a:xfrm>
          <a:prstGeom prst="rect">
            <a:avLst/>
          </a:prstGeom>
          <a:noFill/>
        </p:spPr>
        <p:txBody>
          <a:bodyPr wrap="square" lIns="0" rIns="0" tIns="0" bIns="0" anchor="t">
            <a:spAutoFit/>
          </a:bodyPr>
          <a:lstStyle/>
          <a:p>
            <a:pPr algn="l"/>
            <a:r>
              <a:rPr sz="1200" b="0" i="0">
                <a:solidFill>
                  <a:srgbClr val="5B5F77"/>
                </a:solidFill>
                <a:latin typeface="Calibri"/>
              </a:rPr>
              <a:t>Spoken answers use the phone’s recogniser; typing in the app works too.</a:t>
            </a:r>
          </a:p>
        </p:txBody>
      </p:sp>
      <p:sp>
        <p:nvSpPr>
          <p:cNvPr id="33" name="Rounded Rectangle 32"/>
          <p:cNvSpPr/>
          <p:nvPr/>
        </p:nvSpPr>
        <p:spPr>
          <a:xfrm>
            <a:off x="932688" y="4892040"/>
            <a:ext cx="5093208" cy="960120"/>
          </a:xfrm>
          <a:prstGeom prst="roundRect">
            <a:avLst>
              <a:gd name="adj" fmla="val 7619"/>
            </a:avLst>
          </a:prstGeom>
          <a:solidFill>
            <a:srgbClr val="F5F3FC"/>
          </a:solidFill>
          <a:ln>
            <a:noFill/>
          </a:ln>
          <a:effectLst/>
        </p:spPr>
        <p:txBody>
          <a:bodyPr rtlCol="0" anchor="ctr"/>
          <a:lstStyle/>
          <a:p/>
        </p:txBody>
      </p:sp>
      <p:sp>
        <p:nvSpPr>
          <p:cNvPr id="34" name="Oval 33"/>
          <p:cNvSpPr/>
          <p:nvPr/>
        </p:nvSpPr>
        <p:spPr>
          <a:xfrm>
            <a:off x="1133856" y="5093207"/>
            <a:ext cx="548640" cy="548640"/>
          </a:xfrm>
          <a:prstGeom prst="ellipse">
            <a:avLst/>
          </a:prstGeom>
          <a:solidFill>
            <a:srgbClr val="2B2560"/>
          </a:solidFill>
          <a:ln>
            <a:noFill/>
          </a:ln>
          <a:effectLst/>
        </p:spPr>
        <p:txBody>
          <a:bodyPr rtlCol="0" anchor="ctr"/>
          <a:lstStyle/>
          <a:p/>
        </p:txBody>
      </p:sp>
      <p:pic>
        <p:nvPicPr>
          <p:cNvPr id="35" name="Picture 34" descr="MdLanguage_FFFFFF.png"/>
          <p:cNvPicPr>
            <a:picLocks noChangeAspect="1"/>
          </p:cNvPicPr>
          <p:nvPr/>
        </p:nvPicPr>
        <p:blipFill>
          <a:blip r:embed="rId8"/>
          <a:stretch>
            <a:fillRect/>
          </a:stretch>
        </p:blipFill>
        <p:spPr>
          <a:xfrm>
            <a:off x="1254556" y="5213908"/>
            <a:ext cx="307238" cy="307238"/>
          </a:xfrm>
          <a:prstGeom prst="rect">
            <a:avLst/>
          </a:prstGeom>
        </p:spPr>
      </p:pic>
      <p:sp>
        <p:nvSpPr>
          <p:cNvPr id="36" name="TextBox 35"/>
          <p:cNvSpPr txBox="1"/>
          <p:nvPr/>
        </p:nvSpPr>
        <p:spPr>
          <a:xfrm>
            <a:off x="1847088" y="5001768"/>
            <a:ext cx="4069080" cy="329184"/>
          </a:xfrm>
          <a:prstGeom prst="rect">
            <a:avLst/>
          </a:prstGeom>
          <a:noFill/>
        </p:spPr>
        <p:txBody>
          <a:bodyPr wrap="square" lIns="0" rIns="0" tIns="0" bIns="0" anchor="t">
            <a:spAutoFit/>
          </a:bodyPr>
          <a:lstStyle/>
          <a:p>
            <a:pPr algn="l"/>
            <a:r>
              <a:rPr sz="1400" b="1" i="0">
                <a:solidFill>
                  <a:srgbClr val="14142B"/>
                </a:solidFill>
                <a:latin typeface="Arial"/>
              </a:rPr>
              <a:t>Taught in English, app now in Hindi</a:t>
            </a:r>
          </a:p>
        </p:txBody>
      </p:sp>
      <p:sp>
        <p:nvSpPr>
          <p:cNvPr id="37" name="TextBox 36"/>
          <p:cNvSpPr txBox="1"/>
          <p:nvPr/>
        </p:nvSpPr>
        <p:spPr>
          <a:xfrm>
            <a:off x="1847088" y="5330952"/>
            <a:ext cx="4069080" cy="475488"/>
          </a:xfrm>
          <a:prstGeom prst="rect">
            <a:avLst/>
          </a:prstGeom>
          <a:noFill/>
        </p:spPr>
        <p:txBody>
          <a:bodyPr wrap="square" lIns="0" rIns="0" tIns="0" bIns="0" anchor="t">
            <a:spAutoFit/>
          </a:bodyPr>
          <a:lstStyle/>
          <a:p>
            <a:pPr algn="l"/>
            <a:r>
              <a:rPr sz="1200" b="0" i="0">
                <a:solidFill>
                  <a:srgbClr val="5B5F77"/>
                </a:solidFill>
                <a:latin typeface="Calibri"/>
              </a:rPr>
              <a:t>It stops at the first step and says so; switch the app back or teach the task again in Hindi.</a:t>
            </a:r>
          </a:p>
        </p:txBody>
      </p:sp>
      <p:sp>
        <p:nvSpPr>
          <p:cNvPr id="38" name="Rounded Rectangle 37"/>
          <p:cNvSpPr/>
          <p:nvPr/>
        </p:nvSpPr>
        <p:spPr>
          <a:xfrm>
            <a:off x="6172200" y="4892040"/>
            <a:ext cx="5093208" cy="960120"/>
          </a:xfrm>
          <a:prstGeom prst="roundRect">
            <a:avLst>
              <a:gd name="adj" fmla="val 7619"/>
            </a:avLst>
          </a:prstGeom>
          <a:solidFill>
            <a:srgbClr val="F5F3FC"/>
          </a:solidFill>
          <a:ln>
            <a:noFill/>
          </a:ln>
          <a:effectLst/>
        </p:spPr>
        <p:txBody>
          <a:bodyPr rtlCol="0" anchor="ctr"/>
          <a:lstStyle/>
          <a:p/>
        </p:txBody>
      </p:sp>
      <p:sp>
        <p:nvSpPr>
          <p:cNvPr id="39" name="Oval 38"/>
          <p:cNvSpPr/>
          <p:nvPr/>
        </p:nvSpPr>
        <p:spPr>
          <a:xfrm>
            <a:off x="6373368" y="5093207"/>
            <a:ext cx="548640" cy="548640"/>
          </a:xfrm>
          <a:prstGeom prst="ellipse">
            <a:avLst/>
          </a:prstGeom>
          <a:solidFill>
            <a:srgbClr val="2B2560"/>
          </a:solidFill>
          <a:ln>
            <a:noFill/>
          </a:ln>
          <a:effectLst/>
        </p:spPr>
        <p:txBody>
          <a:bodyPr rtlCol="0" anchor="ctr"/>
          <a:lstStyle/>
          <a:p/>
        </p:txBody>
      </p:sp>
      <p:pic>
        <p:nvPicPr>
          <p:cNvPr id="40" name="Picture 39" descr="MdRestaurantMenu_FFFFFF.png"/>
          <p:cNvPicPr>
            <a:picLocks noChangeAspect="1"/>
          </p:cNvPicPr>
          <p:nvPr/>
        </p:nvPicPr>
        <p:blipFill>
          <a:blip r:embed="rId9"/>
          <a:stretch>
            <a:fillRect/>
          </a:stretch>
        </p:blipFill>
        <p:spPr>
          <a:xfrm>
            <a:off x="6494068" y="5213908"/>
            <a:ext cx="307238" cy="307238"/>
          </a:xfrm>
          <a:prstGeom prst="rect">
            <a:avLst/>
          </a:prstGeom>
        </p:spPr>
      </p:pic>
      <p:sp>
        <p:nvSpPr>
          <p:cNvPr id="41" name="TextBox 40"/>
          <p:cNvSpPr txBox="1"/>
          <p:nvPr/>
        </p:nvSpPr>
        <p:spPr>
          <a:xfrm>
            <a:off x="7086600" y="5001768"/>
            <a:ext cx="4069080" cy="329184"/>
          </a:xfrm>
          <a:prstGeom prst="rect">
            <a:avLst/>
          </a:prstGeom>
          <a:noFill/>
        </p:spPr>
        <p:txBody>
          <a:bodyPr wrap="square" lIns="0" rIns="0" tIns="0" bIns="0" anchor="t">
            <a:spAutoFit/>
          </a:bodyPr>
          <a:lstStyle/>
          <a:p>
            <a:pPr algn="l"/>
            <a:r>
              <a:rPr sz="1400" b="1" i="0">
                <a:solidFill>
                  <a:srgbClr val="14142B"/>
                </a:solidFill>
                <a:latin typeface="Arial"/>
              </a:rPr>
              <a:t>Loose dish names</a:t>
            </a:r>
          </a:p>
        </p:txBody>
      </p:sp>
      <p:sp>
        <p:nvSpPr>
          <p:cNvPr id="42" name="TextBox 41"/>
          <p:cNvSpPr txBox="1"/>
          <p:nvPr/>
        </p:nvSpPr>
        <p:spPr>
          <a:xfrm>
            <a:off x="7086600" y="5330952"/>
            <a:ext cx="4069080" cy="475488"/>
          </a:xfrm>
          <a:prstGeom prst="rect">
            <a:avLst/>
          </a:prstGeom>
          <a:noFill/>
        </p:spPr>
        <p:txBody>
          <a:bodyPr wrap="square" lIns="0" rIns="0" tIns="0" bIns="0" anchor="t">
            <a:spAutoFit/>
          </a:bodyPr>
          <a:lstStyle/>
          <a:p>
            <a:pPr algn="l"/>
            <a:r>
              <a:rPr sz="1200" b="0" i="0">
                <a:solidFill>
                  <a:srgbClr val="5B5F77"/>
                </a:solidFill>
                <a:latin typeface="Calibri"/>
              </a:rPr>
              <a:t>“Garlic bread” picks the closest name on screen (Classic Stuffed Garlic Bread); say the full name for a specific one.</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2026-09-07T12:01:01Z</dcterms:created>
  <dc:creator>Binny Lakra/PRISM /SRI-Bangalore/Professional/Samsung Electronics</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