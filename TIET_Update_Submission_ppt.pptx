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Theme 3, Teachable Voice Automation. Team Update from TIET: Shikhar Goel and Ishpreet Singh, third-year Computer Engineering. One sentence: you teach the phone a task by doing it once while it listens and watches; after that you just say it, with different values or wording, and it does it through the accessibility service, stopping before payment. The phone shows the task it learned from one Zomato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in our words: assistants only reach what apps expose; macros that replay coordinates break on the smallest change; and anything that can reach a pay button has to stop. So the assistant must learn from the user, generalise, notice change, ask, and stay out of payments and logins.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Teach: the user speaks the command and performs it once; our overlay captures every tap even on screens that report nothing. Generalise: command words that show up in the demo become slots. Replay: paraphrases, new values, Hinglish, even another app. Ask or hand back: one specific question when something is missing, and a hard stop before payment or login. The three commands at the bottom are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the teaching border with Done and Cancel; the learned Zomato task, in words, with its slots and the Veg filter marked not needed; a missing value asked mid-run; and on Myntra, a size question listing the sizes on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pipelines on the phone. Teach: voice command, the recorder with our tap-capture overlay and a UI-tree snapshot per tap, the generaliser that finds slots, one LLM call to refine, a review screen, and a JSON recipe. Run: the matcher, offline first; the executor that escalates from a scored fast path to scrolling, page search and only then an LLM action or a question; checks that demand proof; and the guard. The coral tags mark where the LLM is used; it's the only network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the theme asks us to explain. The key idea in capture is that we don't trust accessibility click events, which many modern screens never send; we intercept the touch ourselves and hit-test it against the UI tree. Slots follow the SUGILITE idea: a word from the command that reappears in the demo is a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climbs this ladder only as far as it must. Most steps end on rung one: a deterministic scored match, no network. The LLM is rung four, and it only ever chooses a single action on the live screen, which we then verify. Rungs five and six are the human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executor never takes the model's word that a step is done; it needs evidence on screen. Right: the guard, checked on every action, covers payment, login, OTP and password screens, closed shops, and anything that would throw away the user's cart. The phone shows the check that the options sheet is for the dish that was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benches that force-stop the app before each run and log every step; the method and every table are in the docs folder. The judges' own sentence reached payment eight times out of eight without a single language-model call. On 30 September we ran every sentence from the theme's test table verbatim, including the rubric's own garlic-bread example, and all were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that nothing is tuned to our three target apps, we taught a task on GitHub's Android app, which the assistant had never seen: open a repository by name. One demonstration; then new repository names ran in about 17 to 18 seconds with no language-model calls, and a paraphrase was understood too. The repository name became a slot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theme's own test table, in order, with what our build does on each. Details and timings for every row are in the evaluation documents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jury remembers one thing: the language model is a fallback, not the engine. Replays on known screens are deterministic and verified, which is what makes a single demonstration dependable.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native Android in Kotlin; no root, no app SDKs. One hosted model through Fireworks' OpenAI-compatible API. Everything is reproducible with the Dockerfile, and the test benches drive the phone over adb.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all in the README too. The sideloading one matters for anyone installing the APK in India: Play Protect's enhanced fraud protection blocks apps with an accessibility service when they come from a browser or chat app; adb install or pausing the scan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goes next: an on-device model for privacy and speed, sharing taught tasks, routines, and more Indian languages. Thank you; the repository has the code, README, Dockerfile and every evaluation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833"/>
        </a:solidFill>
      </p:bgPr>
    </p:bg>
    <p:spTree>
      <p:nvGrpSpPr>
        <p:cNvPr id="1" name=""/>
        <p:cNvGrpSpPr/>
        <p:nvPr/>
      </p:nvGrpSpPr>
      <p:grpSpPr>
        <a:xfrm>
          <a:off x="0" y="0"/>
          <a:ext cx="0" cy="0"/>
          <a:chOff x="0" y="0"/>
          <a:chExt cx="0" cy="0"/>
        </a:xfrm>
      </p:grpSpPr>
      <p:sp>
        <p:nvSpPr>
          <p:cNvPr id="2" name="Text 0"/>
          <p:cNvSpPr txBox="1"/>
          <p:nvPr/>
        </p:nvSpPr>
        <p:spPr>
          <a:xfrm>
            <a:off x="548640" y="640080"/>
            <a:ext cx="7315200" cy="320040"/>
          </a:xfrm>
          <a:prstGeom prst="rect">
            <a:avLst/>
          </a:prstGeom>
          <a:noFill/>
          <a:ln/>
        </p:spPr>
        <p:txBody>
          <a:bodyPr wrap="square" lIns="0" tIns="0" rIns="0" bIns="0" rtlCol="0" anchor="ctr"/>
          <a:lstStyle/>
          <a:p>
            <a:pPr indent="0" marL="0">
              <a:buNone/>
            </a:pPr>
            <a:r>
              <a:rPr lang="en-US" sz="1300" b="1" spc="300" kern="0" dirty="0">
                <a:solidFill>
                  <a:srgbClr val="FF5B3A"/>
                </a:solidFill>
                <a:latin typeface="Arial" pitchFamily="34" charset="0"/>
                <a:ea typeface="Arial" pitchFamily="34" charset="-122"/>
                <a:cs typeface="Arial" pitchFamily="34" charset="-120"/>
              </a:rPr>
              <a:t>SAMSUNG PRISM GENAI HACKATHON 2026  ·  THEME 3</a:t>
            </a:r>
            <a:endParaRPr lang="en-US" sz="1300" dirty="0"/>
          </a:p>
        </p:txBody>
      </p:sp>
      <p:sp>
        <p:nvSpPr>
          <p:cNvPr id="3" name="Text 1"/>
          <p:cNvSpPr txBox="1"/>
          <p:nvPr/>
        </p:nvSpPr>
        <p:spPr>
          <a:xfrm>
            <a:off x="548640" y="1097280"/>
            <a:ext cx="7498080" cy="1508760"/>
          </a:xfrm>
          <a:prstGeom prst="rect">
            <a:avLst/>
          </a:prstGeom>
          <a:noFill/>
          <a:ln/>
        </p:spPr>
        <p:txBody>
          <a:bodyPr wrap="square" lIns="0" tIns="0" rIns="0" bIns="0" rtlCol="0" anchor="t"/>
          <a:lstStyle/>
          <a:p>
            <a:pPr indent="0" marL="0">
              <a:buNone/>
            </a:pPr>
            <a:r>
              <a:rPr lang="en-US" sz="4600" b="1" dirty="0">
                <a:solidFill>
                  <a:srgbClr val="FFFFFF"/>
                </a:solidFill>
                <a:latin typeface="Arial" pitchFamily="34" charset="0"/>
                <a:ea typeface="Arial" pitchFamily="34" charset="-122"/>
                <a:cs typeface="Arial" pitchFamily="34" charset="-120"/>
              </a:rPr>
              <a:t>Teachable Voice</a:t>
            </a:r>
            <a:endParaRPr lang="en-US" sz="4600" dirty="0"/>
          </a:p>
          <a:p>
            <a:pPr indent="0" marL="0">
              <a:buNone/>
            </a:pPr>
            <a:r>
              <a:rPr lang="en-US" sz="4600" b="1" dirty="0">
                <a:solidFill>
                  <a:srgbClr val="FFFFFF"/>
                </a:solidFill>
                <a:latin typeface="Arial" pitchFamily="34" charset="0"/>
                <a:ea typeface="Arial" pitchFamily="34" charset="-122"/>
                <a:cs typeface="Arial" pitchFamily="34" charset="-120"/>
              </a:rPr>
              <a:t>Automation</a:t>
            </a:r>
            <a:endParaRPr lang="en-US" sz="4600" dirty="0"/>
          </a:p>
        </p:txBody>
      </p:sp>
      <p:sp>
        <p:nvSpPr>
          <p:cNvPr id="4" name="Text 2"/>
          <p:cNvSpPr txBox="1"/>
          <p:nvPr/>
        </p:nvSpPr>
        <p:spPr>
          <a:xfrm>
            <a:off x="548640" y="2697480"/>
            <a:ext cx="6949440" cy="914400"/>
          </a:xfrm>
          <a:prstGeom prst="rect">
            <a:avLst/>
          </a:prstGeom>
          <a:noFill/>
          <a:ln/>
        </p:spPr>
        <p:txBody>
          <a:bodyPr wrap="square" lIns="0" tIns="0" rIns="0" bIns="0" rtlCol="0" anchor="t"/>
          <a:lstStyle/>
          <a:p>
            <a:pPr indent="0" marL="0">
              <a:buNone/>
            </a:pPr>
            <a:r>
              <a:rPr lang="en-US" sz="2000" dirty="0">
                <a:solidFill>
                  <a:srgbClr val="C8CDE6"/>
                </a:solidFill>
                <a:latin typeface="Calibri" pitchFamily="34" charset="0"/>
                <a:ea typeface="Calibri" pitchFamily="34" charset="-122"/>
                <a:cs typeface="Calibri" pitchFamily="34" charset="-120"/>
              </a:rPr>
              <a:t>An Android assistant you teach by doing. Show it a task once, then just say it — with new values, new wording, even in another app.</a:t>
            </a:r>
            <a:endParaRPr lang="en-US" sz="2000" dirty="0"/>
          </a:p>
        </p:txBody>
      </p:sp>
      <p:sp>
        <p:nvSpPr>
          <p:cNvPr id="5" name="Shape 3"/>
          <p:cNvSpPr/>
          <p:nvPr/>
        </p:nvSpPr>
        <p:spPr>
          <a:xfrm>
            <a:off x="548640" y="3703320"/>
            <a:ext cx="5852160" cy="548640"/>
          </a:xfrm>
          <a:prstGeom prst="roundRect">
            <a:avLst>
              <a:gd name="adj" fmla="val 50000"/>
            </a:avLst>
          </a:prstGeom>
          <a:solidFill>
            <a:srgbClr val="FFFFFF"/>
          </a:solidFill>
          <a:ln w="12700">
            <a:solidFill>
              <a:srgbClr val="E2E5EE"/>
            </a:solidFill>
            <a:prstDash val="solid"/>
          </a:ln>
        </p:spPr>
      </p:sp>
      <p:sp>
        <p:nvSpPr>
          <p:cNvPr id="6" name="Shape 4"/>
          <p:cNvSpPr/>
          <p:nvPr/>
        </p:nvSpPr>
        <p:spPr>
          <a:xfrm>
            <a:off x="612648" y="3767328"/>
            <a:ext cx="420624" cy="420624"/>
          </a:xfrm>
          <a:prstGeom prst="ellipse">
            <a:avLst/>
          </a:prstGeom>
          <a:solidFill>
            <a:srgbClr val="FF5B3A"/>
          </a:solidFill>
          <a:ln w="12700">
            <a:solidFill>
              <a:srgbClr val="FF5B3A"/>
            </a:solidFill>
            <a:prstDash val="solid"/>
          </a:ln>
        </p:spPr>
      </p:sp>
      <p:pic>
        <p:nvPicPr>
          <p:cNvPr id="7" name="Image 0" descr="preencoded.png">    </p:cNvPr>
          <p:cNvPicPr>
            <a:picLocks noChangeAspect="1"/>
          </p:cNvPicPr>
          <p:nvPr/>
        </p:nvPicPr>
        <p:blipFill>
          <a:blip r:embed="rId1"/>
          <a:stretch>
            <a:fillRect/>
          </a:stretch>
        </p:blipFill>
        <p:spPr>
          <a:xfrm>
            <a:off x="696773" y="3851453"/>
            <a:ext cx="252374" cy="252374"/>
          </a:xfrm>
          <a:prstGeom prst="rect">
            <a:avLst/>
          </a:prstGeom>
        </p:spPr>
      </p:pic>
      <p:sp>
        <p:nvSpPr>
          <p:cNvPr id="8" name="Text 5"/>
          <p:cNvSpPr txBox="1"/>
          <p:nvPr/>
        </p:nvSpPr>
        <p:spPr>
          <a:xfrm>
            <a:off x="1152144" y="3703320"/>
            <a:ext cx="5157216" cy="548640"/>
          </a:xfrm>
          <a:prstGeom prst="rect">
            <a:avLst/>
          </a:prstGeom>
          <a:noFill/>
          <a:ln/>
        </p:spPr>
        <p:txBody>
          <a:bodyPr wrap="square" lIns="0" tIns="0" rIns="0" bIns="0" rtlCol="0" anchor="ctr">
            <a:normAutofit/>
          </a:bodyPr>
          <a:lstStyle/>
          <a:p>
            <a:pPr indent="0" marL="0">
              <a:buNone/>
            </a:pPr>
            <a:r>
              <a:rPr lang="en-US" sz="1600" i="1" dirty="0">
                <a:solidFill>
                  <a:srgbClr val="1A1F36"/>
                </a:solidFill>
                <a:latin typeface="Calibri" pitchFamily="34" charset="0"/>
                <a:ea typeface="Calibri" pitchFamily="34" charset="-122"/>
                <a:cs typeface="Calibri" pitchFamily="34" charset="-120"/>
              </a:rPr>
              <a:t>“Order a Margherita pizza from Domino’s on Zomato”</a:t>
            </a:r>
            <a:endParaRPr lang="en-US" sz="1600" dirty="0"/>
          </a:p>
        </p:txBody>
      </p:sp>
      <p:sp>
        <p:nvSpPr>
          <p:cNvPr id="9" name="Text 6"/>
          <p:cNvSpPr txBox="1"/>
          <p:nvPr/>
        </p:nvSpPr>
        <p:spPr>
          <a:xfrm>
            <a:off x="548640" y="4480560"/>
            <a:ext cx="6949440" cy="640080"/>
          </a:xfrm>
          <a:prstGeom prst="rect">
            <a:avLst/>
          </a:prstGeom>
          <a:noFill/>
          <a:ln/>
        </p:spPr>
        <p:txBody>
          <a:bodyPr wrap="square" lIns="0" tIns="0" rIns="0" bIns="0" rtlCol="0" anchor="t"/>
          <a:lstStyle/>
          <a:p>
            <a:pPr indent="0" marL="0">
              <a:spcAft>
                <a:spcPts val="200"/>
              </a:spcAft>
              <a:buNone/>
            </a:pPr>
            <a:r>
              <a:rPr lang="en-US" sz="1800" b="1" dirty="0">
                <a:solidFill>
                  <a:srgbClr val="FFFFFF"/>
                </a:solidFill>
                <a:latin typeface="Calibri" pitchFamily="34" charset="0"/>
                <a:ea typeface="Calibri" pitchFamily="34" charset="-122"/>
                <a:cs typeface="Calibri" pitchFamily="34" charset="-120"/>
              </a:rPr>
              <a:t>Team Update</a:t>
            </a:r>
            <a:endParaRPr lang="en-US" sz="1800" dirty="0"/>
          </a:p>
          <a:p>
            <a:pPr indent="0" marL="0">
              <a:spcAft>
                <a:spcPts val="200"/>
              </a:spcAft>
              <a:buNone/>
            </a:pPr>
            <a:r>
              <a:rPr lang="en-US" sz="1400" dirty="0">
                <a:solidFill>
                  <a:srgbClr val="C8CDE6"/>
                </a:solidFill>
                <a:latin typeface="Calibri" pitchFamily="34" charset="0"/>
                <a:ea typeface="Calibri" pitchFamily="34" charset="-122"/>
                <a:cs typeface="Calibri" pitchFamily="34" charset="-120"/>
              </a:rPr>
              <a:t>Thapar Institute of Engineering and Technology (TIET), Patiala</a:t>
            </a:r>
            <a:endParaRPr lang="en-US" sz="1800" dirty="0"/>
          </a:p>
        </p:txBody>
      </p:sp>
      <p:sp>
        <p:nvSpPr>
          <p:cNvPr id="10" name="Text 7"/>
          <p:cNvSpPr txBox="1"/>
          <p:nvPr/>
        </p:nvSpPr>
        <p:spPr>
          <a:xfrm>
            <a:off x="548640" y="5166360"/>
            <a:ext cx="3200400" cy="566928"/>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Shikhar Goel</a:t>
            </a:r>
            <a:endParaRPr lang="en-US" sz="1500" dirty="0"/>
          </a:p>
          <a:p>
            <a:pPr indent="0" marL="0">
              <a:buNone/>
            </a:pPr>
            <a:r>
              <a:rPr lang="en-US" sz="1250" dirty="0">
                <a:solidFill>
                  <a:srgbClr val="C8CDE6"/>
                </a:solidFill>
                <a:latin typeface="Calibri" pitchFamily="34" charset="0"/>
                <a:ea typeface="Calibri" pitchFamily="34" charset="-122"/>
                <a:cs typeface="Calibri" pitchFamily="34" charset="-120"/>
              </a:rPr>
              <a:t>3rd year, Computer Engineering</a:t>
            </a:r>
            <a:endParaRPr lang="en-US" sz="1500" dirty="0"/>
          </a:p>
        </p:txBody>
      </p:sp>
      <p:sp>
        <p:nvSpPr>
          <p:cNvPr id="11" name="Text 8"/>
          <p:cNvSpPr txBox="1"/>
          <p:nvPr/>
        </p:nvSpPr>
        <p:spPr>
          <a:xfrm>
            <a:off x="3931920" y="5166360"/>
            <a:ext cx="3200400" cy="566928"/>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Ishpreet Singh</a:t>
            </a:r>
            <a:endParaRPr lang="en-US" sz="1500" dirty="0"/>
          </a:p>
          <a:p>
            <a:pPr indent="0" marL="0">
              <a:buNone/>
            </a:pPr>
            <a:r>
              <a:rPr lang="en-US" sz="1250" dirty="0">
                <a:solidFill>
                  <a:srgbClr val="C8CDE6"/>
                </a:solidFill>
                <a:latin typeface="Calibri" pitchFamily="34" charset="0"/>
                <a:ea typeface="Calibri" pitchFamily="34" charset="-122"/>
                <a:cs typeface="Calibri" pitchFamily="34" charset="-120"/>
              </a:rPr>
              <a:t>3rd year, Computer Engineering</a:t>
            </a:r>
            <a:endParaRPr lang="en-US" sz="1500" dirty="0"/>
          </a:p>
        </p:txBody>
      </p:sp>
      <p:sp>
        <p:nvSpPr>
          <p:cNvPr id="12" name="Text 9"/>
          <p:cNvSpPr txBox="1"/>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8A91B4"/>
                </a:solidFill>
                <a:latin typeface="Calibri" pitchFamily="34" charset="0"/>
                <a:ea typeface="Calibri" pitchFamily="34" charset="-122"/>
                <a:cs typeface="Calibri" pitchFamily="34" charset="-120"/>
              </a:rPr>
              <a:t>Zomato · Amazon · Myntra   |   Accessibility Service only   |   Stops at payment and login</a:t>
            </a:r>
            <a:endParaRPr lang="en-US" sz="1200" dirty="0"/>
          </a:p>
        </p:txBody>
      </p:sp>
      <p:sp>
        <p:nvSpPr>
          <p:cNvPr id="13" name="Shape 10"/>
          <p:cNvSpPr/>
          <p:nvPr/>
        </p:nvSpPr>
        <p:spPr>
          <a:xfrm>
            <a:off x="8485632" y="621792"/>
            <a:ext cx="3153604" cy="5614416"/>
          </a:xfrm>
          <a:prstGeom prst="roundRect">
            <a:avLst>
              <a:gd name="adj" fmla="val 6379"/>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14" name="Image 1" descr="/home/claude/deck/img/learned.png">    </p:cNvPr>
          <p:cNvPicPr>
            <a:picLocks noChangeAspect="1"/>
          </p:cNvPicPr>
          <p:nvPr/>
        </p:nvPicPr>
        <p:blipFill>
          <a:blip r:embed="rId2"/>
          <a:stretch>
            <a:fillRect/>
          </a:stretch>
        </p:blipFill>
        <p:spPr>
          <a:xfrm>
            <a:off x="8549640" y="685800"/>
            <a:ext cx="3025588" cy="5486400"/>
          </a:xfrm>
          <a:prstGeom prst="rect">
            <a:avLst/>
          </a:prstGeom>
        </p:spPr>
      </p:pic>
      <p:sp>
        <p:nvSpPr>
          <p:cNvPr id="16" name="Text 11"/>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1B4"/>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17" name="Text 12"/>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8A91B4"/>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THE PROBLEM, IN OUR WORDS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Phones can do almost anything — but only by hand</a:t>
            </a:r>
            <a:endParaRPr lang="en-US" sz="3000" dirty="0"/>
          </a:p>
        </p:txBody>
      </p:sp>
      <p:sp>
        <p:nvSpPr>
          <p:cNvPr id="4" name="Text 2"/>
          <p:cNvSpPr txBox="1"/>
          <p:nvPr/>
        </p:nvSpPr>
        <p:spPr>
          <a:xfrm>
            <a:off x="548640" y="1600200"/>
            <a:ext cx="4480560" cy="1463040"/>
          </a:xfrm>
          <a:prstGeom prst="rect">
            <a:avLst/>
          </a:prstGeom>
          <a:noFill/>
          <a:ln/>
        </p:spPr>
        <p:txBody>
          <a:bodyPr wrap="square" lIns="0" tIns="0" rIns="0" bIns="0" rtlCol="0" anchor="t"/>
          <a:lstStyle/>
          <a:p>
            <a:pPr indent="0" marL="0">
              <a:buNone/>
            </a:pPr>
            <a:r>
              <a:rPr lang="en-US" sz="2000" dirty="0">
                <a:solidFill>
                  <a:srgbClr val="1A1F36"/>
                </a:solidFill>
                <a:latin typeface="Calibri" pitchFamily="34" charset="0"/>
                <a:ea typeface="Calibri" pitchFamily="34" charset="-122"/>
                <a:cs typeface="Calibri" pitchFamily="34" charset="-120"/>
              </a:rPr>
              <a:t>Voice assistants stop where an app’s own integrations stop. Ordering a pizza or adding something to a cart still takes ten or more taps, every time.</a:t>
            </a:r>
            <a:endParaRPr lang="en-US" sz="2000" dirty="0"/>
          </a:p>
        </p:txBody>
      </p:sp>
      <p:sp>
        <p:nvSpPr>
          <p:cNvPr id="5" name="Text 3"/>
          <p:cNvSpPr txBox="1"/>
          <p:nvPr/>
        </p:nvSpPr>
        <p:spPr>
          <a:xfrm>
            <a:off x="548640" y="3246120"/>
            <a:ext cx="4480560" cy="365760"/>
          </a:xfrm>
          <a:prstGeom prst="rect">
            <a:avLst/>
          </a:prstGeom>
          <a:noFill/>
          <a:ln/>
        </p:spPr>
        <p:txBody>
          <a:bodyPr wrap="square" lIns="0" tIns="0" rIns="0" bIns="0" rtlCol="0" anchor="ctr"/>
          <a:lstStyle/>
          <a:p>
            <a:pPr indent="0" marL="0">
              <a:buNone/>
            </a:pPr>
            <a:r>
              <a:rPr lang="en-US" sz="1500" b="1" dirty="0">
                <a:solidFill>
                  <a:srgbClr val="5C637A"/>
                </a:solidFill>
                <a:latin typeface="Arial" pitchFamily="34" charset="0"/>
                <a:ea typeface="Arial" pitchFamily="34" charset="-122"/>
                <a:cs typeface="Arial" pitchFamily="34" charset="-120"/>
              </a:rPr>
              <a:t>What a real assistant has to do</a:t>
            </a:r>
            <a:endParaRPr lang="en-US" sz="1500" dirty="0"/>
          </a:p>
        </p:txBody>
      </p:sp>
      <p:sp>
        <p:nvSpPr>
          <p:cNvPr id="6" name="Text 4"/>
          <p:cNvSpPr txBox="1"/>
          <p:nvPr/>
        </p:nvSpPr>
        <p:spPr>
          <a:xfrm>
            <a:off x="548640" y="3611880"/>
            <a:ext cx="44805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A1F36"/>
                </a:solidFill>
                <a:latin typeface="Calibri" pitchFamily="34" charset="0"/>
                <a:ea typeface="Calibri" pitchFamily="34" charset="-122"/>
                <a:cs typeface="Calibri" pitchFamily="34" charset="-120"/>
              </a:rPr>
              <a:t>Learn a new task from the user, not from a developer</a:t>
            </a:r>
            <a:endParaRPr lang="en-US" sz="1500" dirty="0"/>
          </a:p>
          <a:p>
            <a:pPr marL="342900" indent="-342900">
              <a:spcAft>
                <a:spcPts val="800"/>
              </a:spcAft>
              <a:buSzPct val="100000"/>
              <a:buChar char="•"/>
            </a:pPr>
            <a:r>
              <a:rPr lang="en-US" sz="1500" dirty="0">
                <a:solidFill>
                  <a:srgbClr val="1A1F36"/>
                </a:solidFill>
                <a:latin typeface="Calibri" pitchFamily="34" charset="0"/>
                <a:ea typeface="Calibri" pitchFamily="34" charset="-122"/>
                <a:cs typeface="Calibri" pitchFamily="34" charset="-120"/>
              </a:rPr>
              <a:t>Understand the same task said differently, with new values</a:t>
            </a:r>
            <a:endParaRPr lang="en-US" sz="1500" dirty="0"/>
          </a:p>
          <a:p>
            <a:pPr marL="342900" indent="-342900">
              <a:spcAft>
                <a:spcPts val="800"/>
              </a:spcAft>
              <a:buSzPct val="100000"/>
              <a:buChar char="•"/>
            </a:pPr>
            <a:r>
              <a:rPr lang="en-US" sz="1500" dirty="0">
                <a:solidFill>
                  <a:srgbClr val="1A1F36"/>
                </a:solidFill>
                <a:latin typeface="Calibri" pitchFamily="34" charset="0"/>
                <a:ea typeface="Calibri" pitchFamily="34" charset="-122"/>
                <a:cs typeface="Calibri" pitchFamily="34" charset="-120"/>
              </a:rPr>
              <a:t>Notice when the screen changed, and ask when it can’t decide</a:t>
            </a:r>
            <a:endParaRPr lang="en-US" sz="1500" dirty="0"/>
          </a:p>
          <a:p>
            <a:pPr marL="342900" indent="-342900">
              <a:spcAft>
                <a:spcPts val="800"/>
              </a:spcAft>
              <a:buSzPct val="100000"/>
              <a:buChar char="•"/>
            </a:pPr>
            <a:r>
              <a:rPr lang="en-US" sz="1500" dirty="0">
                <a:solidFill>
                  <a:srgbClr val="1A1F36"/>
                </a:solidFill>
                <a:latin typeface="Calibri" pitchFamily="34" charset="0"/>
                <a:ea typeface="Calibri" pitchFamily="34" charset="-122"/>
                <a:cs typeface="Calibri" pitchFamily="34" charset="-120"/>
              </a:rPr>
              <a:t>Never pay, place an order or type a password</a:t>
            </a:r>
            <a:endParaRPr lang="en-US" sz="1500" dirty="0"/>
          </a:p>
        </p:txBody>
      </p:sp>
      <p:sp>
        <p:nvSpPr>
          <p:cNvPr id="7" name="Shape 5"/>
          <p:cNvSpPr/>
          <p:nvPr/>
        </p:nvSpPr>
        <p:spPr>
          <a:xfrm>
            <a:off x="5577840" y="1600200"/>
            <a:ext cx="6062472" cy="1298448"/>
          </a:xfrm>
          <a:prstGeom prst="roundRect">
            <a:avLst>
              <a:gd name="adj" fmla="val 8451"/>
            </a:avLst>
          </a:prstGeom>
          <a:solidFill>
            <a:srgbClr val="F4F5FA"/>
          </a:solidFill>
          <a:ln w="12700">
            <a:solidFill>
              <a:srgbClr val="F4F5FA"/>
            </a:solidFill>
            <a:prstDash val="solid"/>
          </a:ln>
        </p:spPr>
      </p:sp>
      <p:sp>
        <p:nvSpPr>
          <p:cNvPr id="8" name="Shape 6"/>
          <p:cNvSpPr/>
          <p:nvPr/>
        </p:nvSpPr>
        <p:spPr>
          <a:xfrm>
            <a:off x="5806440" y="1901952"/>
            <a:ext cx="694944" cy="694944"/>
          </a:xfrm>
          <a:prstGeom prst="ellipse">
            <a:avLst/>
          </a:prstGeom>
          <a:solidFill>
            <a:srgbClr val="121833"/>
          </a:solidFill>
          <a:ln w="12700">
            <a:solidFill>
              <a:srgbClr val="121833"/>
            </a:solidFill>
            <a:prstDash val="solid"/>
          </a:ln>
        </p:spPr>
      </p:sp>
      <p:pic>
        <p:nvPicPr>
          <p:cNvPr id="9" name="Image 0" descr="preencoded.png">    </p:cNvPr>
          <p:cNvPicPr>
            <a:picLocks noChangeAspect="1"/>
          </p:cNvPicPr>
          <p:nvPr/>
        </p:nvPicPr>
        <p:blipFill>
          <a:blip r:embed="rId1"/>
          <a:stretch>
            <a:fillRect/>
          </a:stretch>
        </p:blipFill>
        <p:spPr>
          <a:xfrm>
            <a:off x="5959328" y="2054840"/>
            <a:ext cx="389169" cy="389169"/>
          </a:xfrm>
          <a:prstGeom prst="rect">
            <a:avLst/>
          </a:prstGeom>
        </p:spPr>
      </p:pic>
      <p:sp>
        <p:nvSpPr>
          <p:cNvPr id="10" name="Text 7"/>
          <p:cNvSpPr txBox="1"/>
          <p:nvPr/>
        </p:nvSpPr>
        <p:spPr>
          <a:xfrm>
            <a:off x="6720840" y="1764792"/>
            <a:ext cx="4754880" cy="365760"/>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Every app is its own world</a:t>
            </a:r>
            <a:endParaRPr lang="en-US" sz="1600" dirty="0"/>
          </a:p>
        </p:txBody>
      </p:sp>
      <p:sp>
        <p:nvSpPr>
          <p:cNvPr id="11" name="Text 8"/>
          <p:cNvSpPr txBox="1"/>
          <p:nvPr/>
        </p:nvSpPr>
        <p:spPr>
          <a:xfrm>
            <a:off x="6720840" y="2130552"/>
            <a:ext cx="4754880" cy="685800"/>
          </a:xfrm>
          <a:prstGeom prst="rect">
            <a:avLst/>
          </a:prstGeom>
          <a:noFill/>
          <a:ln/>
        </p:spPr>
        <p:txBody>
          <a:bodyPr wrap="square" lIns="0" tIns="0" rIns="0" bIns="0" rtlCol="0" anchor="t"/>
          <a:lstStyle/>
          <a:p>
            <a:pPr indent="0" marL="0">
              <a:buNone/>
            </a:pPr>
            <a:r>
              <a:rPr lang="en-US" sz="1350" dirty="0">
                <a:solidFill>
                  <a:srgbClr val="5C637A"/>
                </a:solidFill>
                <a:latin typeface="Calibri" pitchFamily="34" charset="0"/>
                <a:ea typeface="Calibri" pitchFamily="34" charset="-122"/>
                <a:cs typeface="Calibri" pitchFamily="34" charset="-120"/>
              </a:rPr>
              <a:t>Assistants act only through the few actions an app exposes. The rest of the app — search, menus, carts, sheets — is out of reach.</a:t>
            </a:r>
            <a:endParaRPr lang="en-US" sz="1350" dirty="0"/>
          </a:p>
        </p:txBody>
      </p:sp>
      <p:sp>
        <p:nvSpPr>
          <p:cNvPr id="12" name="Shape 9"/>
          <p:cNvSpPr/>
          <p:nvPr/>
        </p:nvSpPr>
        <p:spPr>
          <a:xfrm>
            <a:off x="5577840" y="3081528"/>
            <a:ext cx="6062472" cy="1298448"/>
          </a:xfrm>
          <a:prstGeom prst="roundRect">
            <a:avLst>
              <a:gd name="adj" fmla="val 8451"/>
            </a:avLst>
          </a:prstGeom>
          <a:solidFill>
            <a:srgbClr val="F4F5FA"/>
          </a:solidFill>
          <a:ln w="12700">
            <a:solidFill>
              <a:srgbClr val="F4F5FA"/>
            </a:solidFill>
            <a:prstDash val="solid"/>
          </a:ln>
        </p:spPr>
      </p:sp>
      <p:sp>
        <p:nvSpPr>
          <p:cNvPr id="13" name="Shape 10"/>
          <p:cNvSpPr/>
          <p:nvPr/>
        </p:nvSpPr>
        <p:spPr>
          <a:xfrm>
            <a:off x="5806440" y="3383280"/>
            <a:ext cx="694944" cy="694944"/>
          </a:xfrm>
          <a:prstGeom prst="ellipse">
            <a:avLst/>
          </a:prstGeom>
          <a:solidFill>
            <a:srgbClr val="FF5B3A"/>
          </a:solidFill>
          <a:ln w="12700">
            <a:solidFill>
              <a:srgbClr val="FF5B3A"/>
            </a:solidFill>
            <a:prstDash val="solid"/>
          </a:ln>
        </p:spPr>
      </p:sp>
      <p:pic>
        <p:nvPicPr>
          <p:cNvPr id="14" name="Image 1" descr="preencoded.png">    </p:cNvPr>
          <p:cNvPicPr>
            <a:picLocks noChangeAspect="1"/>
          </p:cNvPicPr>
          <p:nvPr/>
        </p:nvPicPr>
        <p:blipFill>
          <a:blip r:embed="rId2"/>
          <a:stretch>
            <a:fillRect/>
          </a:stretch>
        </p:blipFill>
        <p:spPr>
          <a:xfrm>
            <a:off x="5959328" y="3536168"/>
            <a:ext cx="389169" cy="389169"/>
          </a:xfrm>
          <a:prstGeom prst="rect">
            <a:avLst/>
          </a:prstGeom>
        </p:spPr>
      </p:pic>
      <p:sp>
        <p:nvSpPr>
          <p:cNvPr id="15" name="Text 11"/>
          <p:cNvSpPr txBox="1"/>
          <p:nvPr/>
        </p:nvSpPr>
        <p:spPr>
          <a:xfrm>
            <a:off x="6720840" y="3246120"/>
            <a:ext cx="4754880" cy="365760"/>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Recorded taps are brittle</a:t>
            </a:r>
            <a:endParaRPr lang="en-US" sz="1600" dirty="0"/>
          </a:p>
        </p:txBody>
      </p:sp>
      <p:sp>
        <p:nvSpPr>
          <p:cNvPr id="16" name="Text 12"/>
          <p:cNvSpPr txBox="1"/>
          <p:nvPr/>
        </p:nvSpPr>
        <p:spPr>
          <a:xfrm>
            <a:off x="6720840" y="3611880"/>
            <a:ext cx="4754880" cy="685800"/>
          </a:xfrm>
          <a:prstGeom prst="rect">
            <a:avLst/>
          </a:prstGeom>
          <a:noFill/>
          <a:ln/>
        </p:spPr>
        <p:txBody>
          <a:bodyPr wrap="square" lIns="0" tIns="0" rIns="0" bIns="0" rtlCol="0" anchor="t"/>
          <a:lstStyle/>
          <a:p>
            <a:pPr indent="0" marL="0">
              <a:buNone/>
            </a:pPr>
            <a:r>
              <a:rPr lang="en-US" sz="1350" dirty="0">
                <a:solidFill>
                  <a:srgbClr val="5C637A"/>
                </a:solidFill>
                <a:latin typeface="Calibri" pitchFamily="34" charset="0"/>
                <a:ea typeface="Calibri" pitchFamily="34" charset="-122"/>
                <a:cs typeface="Calibri" pitchFamily="34" charset="-120"/>
              </a:rPr>
              <a:t>Replaying coordinates breaks the moment the item, the wording or the screen changes: a pop-up, a sponsored result, another restaurant.</a:t>
            </a:r>
            <a:endParaRPr lang="en-US" sz="1350" dirty="0"/>
          </a:p>
        </p:txBody>
      </p:sp>
      <p:sp>
        <p:nvSpPr>
          <p:cNvPr id="17" name="Shape 13"/>
          <p:cNvSpPr/>
          <p:nvPr/>
        </p:nvSpPr>
        <p:spPr>
          <a:xfrm>
            <a:off x="5577840" y="4562856"/>
            <a:ext cx="6062472" cy="1298448"/>
          </a:xfrm>
          <a:prstGeom prst="roundRect">
            <a:avLst>
              <a:gd name="adj" fmla="val 8451"/>
            </a:avLst>
          </a:prstGeom>
          <a:solidFill>
            <a:srgbClr val="F4F5FA"/>
          </a:solidFill>
          <a:ln w="12700">
            <a:solidFill>
              <a:srgbClr val="F4F5FA"/>
            </a:solidFill>
            <a:prstDash val="solid"/>
          </a:ln>
        </p:spPr>
      </p:sp>
      <p:sp>
        <p:nvSpPr>
          <p:cNvPr id="18" name="Shape 14"/>
          <p:cNvSpPr/>
          <p:nvPr/>
        </p:nvSpPr>
        <p:spPr>
          <a:xfrm>
            <a:off x="5806440" y="4864608"/>
            <a:ext cx="694944" cy="694944"/>
          </a:xfrm>
          <a:prstGeom prst="ellipse">
            <a:avLst/>
          </a:prstGeom>
          <a:solidFill>
            <a:srgbClr val="0E9F8A"/>
          </a:solidFill>
          <a:ln w="12700">
            <a:solidFill>
              <a:srgbClr val="0E9F8A"/>
            </a:solidFill>
            <a:prstDash val="solid"/>
          </a:ln>
        </p:spPr>
      </p:sp>
      <p:pic>
        <p:nvPicPr>
          <p:cNvPr id="19" name="Image 2" descr="preencoded.png">    </p:cNvPr>
          <p:cNvPicPr>
            <a:picLocks noChangeAspect="1"/>
          </p:cNvPicPr>
          <p:nvPr/>
        </p:nvPicPr>
        <p:blipFill>
          <a:blip r:embed="rId3"/>
          <a:stretch>
            <a:fillRect/>
          </a:stretch>
        </p:blipFill>
        <p:spPr>
          <a:xfrm>
            <a:off x="5959328" y="5017496"/>
            <a:ext cx="389169" cy="389169"/>
          </a:xfrm>
          <a:prstGeom prst="rect">
            <a:avLst/>
          </a:prstGeom>
        </p:spPr>
      </p:pic>
      <p:sp>
        <p:nvSpPr>
          <p:cNvPr id="20" name="Text 15"/>
          <p:cNvSpPr txBox="1"/>
          <p:nvPr/>
        </p:nvSpPr>
        <p:spPr>
          <a:xfrm>
            <a:off x="6720840" y="4727448"/>
            <a:ext cx="4754880" cy="365760"/>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Money and logins stay with the user</a:t>
            </a:r>
            <a:endParaRPr lang="en-US" sz="1600" dirty="0"/>
          </a:p>
        </p:txBody>
      </p:sp>
      <p:sp>
        <p:nvSpPr>
          <p:cNvPr id="21" name="Text 16"/>
          <p:cNvSpPr txBox="1"/>
          <p:nvPr/>
        </p:nvSpPr>
        <p:spPr>
          <a:xfrm>
            <a:off x="6720840" y="5093208"/>
            <a:ext cx="4754880" cy="685800"/>
          </a:xfrm>
          <a:prstGeom prst="rect">
            <a:avLst/>
          </a:prstGeom>
          <a:noFill/>
          <a:ln/>
        </p:spPr>
        <p:txBody>
          <a:bodyPr wrap="square" lIns="0" tIns="0" rIns="0" bIns="0" rtlCol="0" anchor="t"/>
          <a:lstStyle/>
          <a:p>
            <a:pPr indent="0" marL="0">
              <a:buNone/>
            </a:pPr>
            <a:r>
              <a:rPr lang="en-US" sz="1350" dirty="0">
                <a:solidFill>
                  <a:srgbClr val="5C637A"/>
                </a:solidFill>
                <a:latin typeface="Calibri" pitchFamily="34" charset="0"/>
                <a:ea typeface="Calibri" pitchFamily="34" charset="-122"/>
                <a:cs typeface="Calibri" pitchFamily="34" charset="-120"/>
              </a:rPr>
              <a:t>Automation that can reach a payment button or an OTP screen must stop there and hand control back, every single time.</a:t>
            </a:r>
            <a:endParaRPr lang="en-US" sz="1350" dirty="0"/>
          </a:p>
        </p:txBody>
      </p:sp>
      <p:sp>
        <p:nvSpPr>
          <p:cNvPr id="23" name="Text 17"/>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24" name="Text 18"/>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WHAT WE BUILT</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Teach once by doing. Run it by voice.</a:t>
            </a:r>
            <a:endParaRPr lang="en-US" sz="3000" dirty="0"/>
          </a:p>
        </p:txBody>
      </p:sp>
      <p:sp>
        <p:nvSpPr>
          <p:cNvPr id="4" name="Shape 2"/>
          <p:cNvSpPr/>
          <p:nvPr/>
        </p:nvSpPr>
        <p:spPr>
          <a:xfrm>
            <a:off x="548640" y="1645920"/>
            <a:ext cx="2587752" cy="2514600"/>
          </a:xfrm>
          <a:prstGeom prst="roundRect">
            <a:avLst>
              <a:gd name="adj" fmla="val 4364"/>
            </a:avLst>
          </a:prstGeom>
          <a:solidFill>
            <a:srgbClr val="F4F5FA"/>
          </a:solidFill>
          <a:ln w="12700">
            <a:solidFill>
              <a:srgbClr val="F4F5FA"/>
            </a:solidFill>
            <a:prstDash val="solid"/>
          </a:ln>
        </p:spPr>
      </p:sp>
      <p:sp>
        <p:nvSpPr>
          <p:cNvPr id="5" name="Shape 3"/>
          <p:cNvSpPr/>
          <p:nvPr/>
        </p:nvSpPr>
        <p:spPr>
          <a:xfrm>
            <a:off x="777240" y="1874520"/>
            <a:ext cx="502920" cy="502920"/>
          </a:xfrm>
          <a:prstGeom prst="ellipse">
            <a:avLst/>
          </a:prstGeom>
          <a:solidFill>
            <a:srgbClr val="121833"/>
          </a:solidFill>
          <a:ln w="12700">
            <a:solidFill>
              <a:srgbClr val="121833"/>
            </a:solidFill>
            <a:prstDash val="solid"/>
          </a:ln>
        </p:spPr>
      </p:sp>
      <p:sp>
        <p:nvSpPr>
          <p:cNvPr id="6" name="Text 4"/>
          <p:cNvSpPr txBox="1"/>
          <p:nvPr/>
        </p:nvSpPr>
        <p:spPr>
          <a:xfrm>
            <a:off x="777240" y="1874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777240" y="2514600"/>
            <a:ext cx="2176272" cy="411480"/>
          </a:xfrm>
          <a:prstGeom prst="rect">
            <a:avLst/>
          </a:prstGeom>
          <a:noFill/>
          <a:ln/>
        </p:spPr>
        <p:txBody>
          <a:bodyPr wrap="square" lIns="0" tIns="0" rIns="0" bIns="0" rtlCol="0" anchor="ctr"/>
          <a:lstStyle/>
          <a:p>
            <a:pPr indent="0" marL="0">
              <a:buNone/>
            </a:pPr>
            <a:r>
              <a:rPr lang="en-US" sz="1800" b="1" dirty="0">
                <a:solidFill>
                  <a:srgbClr val="1A1F36"/>
                </a:solidFill>
                <a:latin typeface="Arial" pitchFamily="34" charset="0"/>
                <a:ea typeface="Arial" pitchFamily="34" charset="-122"/>
                <a:cs typeface="Arial" pitchFamily="34" charset="-120"/>
              </a:rPr>
              <a:t>Teach</a:t>
            </a:r>
            <a:endParaRPr lang="en-US" sz="1800" dirty="0"/>
          </a:p>
        </p:txBody>
      </p:sp>
      <p:sp>
        <p:nvSpPr>
          <p:cNvPr id="8" name="Text 6"/>
          <p:cNvSpPr txBox="1"/>
          <p:nvPr/>
        </p:nvSpPr>
        <p:spPr>
          <a:xfrm>
            <a:off x="777240" y="2971800"/>
            <a:ext cx="2176272" cy="1097280"/>
          </a:xfrm>
          <a:prstGeom prst="rect">
            <a:avLst/>
          </a:prstGeom>
          <a:noFill/>
          <a:ln/>
        </p:spPr>
        <p:txBody>
          <a:bodyPr wrap="square" lIns="0" tIns="0" rIns="0" bIns="0" rtlCol="0" anchor="t"/>
          <a:lstStyle/>
          <a:p>
            <a:pPr indent="0" marL="0">
              <a:buNone/>
            </a:pPr>
            <a:r>
              <a:rPr lang="en-US" sz="1400" dirty="0">
                <a:solidFill>
                  <a:srgbClr val="5C637A"/>
                </a:solidFill>
                <a:latin typeface="Calibri" pitchFamily="34" charset="0"/>
                <a:ea typeface="Calibri" pitchFamily="34" charset="-122"/>
                <a:cs typeface="Calibri" pitchFamily="34" charset="-120"/>
              </a:rPr>
              <a:t>Say the command, then do the task once. A tap-capture overlay records every tap, typed text, search and back.</a:t>
            </a:r>
            <a:endParaRPr lang="en-US" sz="1400" dirty="0"/>
          </a:p>
        </p:txBody>
      </p:sp>
      <p:sp>
        <p:nvSpPr>
          <p:cNvPr id="9" name="Shape 7"/>
          <p:cNvSpPr/>
          <p:nvPr/>
        </p:nvSpPr>
        <p:spPr>
          <a:xfrm>
            <a:off x="3172968" y="2121408"/>
            <a:ext cx="201168" cy="0"/>
          </a:xfrm>
          <a:prstGeom prst="line">
            <a:avLst/>
          </a:prstGeom>
          <a:noFill/>
          <a:ln w="19050">
            <a:solidFill>
              <a:srgbClr val="5C637A"/>
            </a:solidFill>
            <a:prstDash val="solid"/>
            <a:tailEnd type="triangle"/>
          </a:ln>
        </p:spPr>
      </p:sp>
      <p:sp>
        <p:nvSpPr>
          <p:cNvPr id="10" name="Shape 8"/>
          <p:cNvSpPr/>
          <p:nvPr/>
        </p:nvSpPr>
        <p:spPr>
          <a:xfrm>
            <a:off x="3410712" y="1645920"/>
            <a:ext cx="2587752" cy="2514600"/>
          </a:xfrm>
          <a:prstGeom prst="roundRect">
            <a:avLst>
              <a:gd name="adj" fmla="val 4364"/>
            </a:avLst>
          </a:prstGeom>
          <a:solidFill>
            <a:srgbClr val="F4F5FA"/>
          </a:solidFill>
          <a:ln w="12700">
            <a:solidFill>
              <a:srgbClr val="F4F5FA"/>
            </a:solidFill>
            <a:prstDash val="solid"/>
          </a:ln>
        </p:spPr>
      </p:sp>
      <p:sp>
        <p:nvSpPr>
          <p:cNvPr id="11" name="Shape 9"/>
          <p:cNvSpPr/>
          <p:nvPr/>
        </p:nvSpPr>
        <p:spPr>
          <a:xfrm>
            <a:off x="3639312" y="1874520"/>
            <a:ext cx="502920" cy="502920"/>
          </a:xfrm>
          <a:prstGeom prst="ellipse">
            <a:avLst/>
          </a:prstGeom>
          <a:solidFill>
            <a:srgbClr val="121833"/>
          </a:solidFill>
          <a:ln w="12700">
            <a:solidFill>
              <a:srgbClr val="121833"/>
            </a:solidFill>
            <a:prstDash val="solid"/>
          </a:ln>
        </p:spPr>
      </p:sp>
      <p:sp>
        <p:nvSpPr>
          <p:cNvPr id="12" name="Text 10"/>
          <p:cNvSpPr txBox="1"/>
          <p:nvPr/>
        </p:nvSpPr>
        <p:spPr>
          <a:xfrm>
            <a:off x="3639312" y="1874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txBox="1"/>
          <p:nvPr/>
        </p:nvSpPr>
        <p:spPr>
          <a:xfrm>
            <a:off x="3639312" y="2514600"/>
            <a:ext cx="2176272" cy="411480"/>
          </a:xfrm>
          <a:prstGeom prst="rect">
            <a:avLst/>
          </a:prstGeom>
          <a:noFill/>
          <a:ln/>
        </p:spPr>
        <p:txBody>
          <a:bodyPr wrap="square" lIns="0" tIns="0" rIns="0" bIns="0" rtlCol="0" anchor="ctr"/>
          <a:lstStyle/>
          <a:p>
            <a:pPr indent="0" marL="0">
              <a:buNone/>
            </a:pPr>
            <a:r>
              <a:rPr lang="en-US" sz="1800" b="1" dirty="0">
                <a:solidFill>
                  <a:srgbClr val="1A1F36"/>
                </a:solidFill>
                <a:latin typeface="Arial" pitchFamily="34" charset="0"/>
                <a:ea typeface="Arial" pitchFamily="34" charset="-122"/>
                <a:cs typeface="Arial" pitchFamily="34" charset="-120"/>
              </a:rPr>
              <a:t>Generalise</a:t>
            </a:r>
            <a:endParaRPr lang="en-US" sz="1800" dirty="0"/>
          </a:p>
        </p:txBody>
      </p:sp>
      <p:sp>
        <p:nvSpPr>
          <p:cNvPr id="14" name="Text 12"/>
          <p:cNvSpPr txBox="1"/>
          <p:nvPr/>
        </p:nvSpPr>
        <p:spPr>
          <a:xfrm>
            <a:off x="3639312" y="2971800"/>
            <a:ext cx="2176272" cy="1097280"/>
          </a:xfrm>
          <a:prstGeom prst="rect">
            <a:avLst/>
          </a:prstGeom>
          <a:noFill/>
          <a:ln/>
        </p:spPr>
        <p:txBody>
          <a:bodyPr wrap="square" lIns="0" tIns="0" rIns="0" bIns="0" rtlCol="0" anchor="t"/>
          <a:lstStyle/>
          <a:p>
            <a:pPr indent="0" marL="0">
              <a:buNone/>
            </a:pPr>
            <a:r>
              <a:rPr lang="en-US" sz="1400" dirty="0">
                <a:solidFill>
                  <a:srgbClr val="5C637A"/>
                </a:solidFill>
                <a:latin typeface="Calibri" pitchFamily="34" charset="0"/>
                <a:ea typeface="Calibri" pitchFamily="34" charset="-122"/>
                <a:cs typeface="Calibri" pitchFamily="34" charset="-120"/>
              </a:rPr>
              <a:t>Words from the command become slots: “ADD next to {item}”, “search {product}”. Stray taps are marked as noise.</a:t>
            </a:r>
            <a:endParaRPr lang="en-US" sz="1400" dirty="0"/>
          </a:p>
        </p:txBody>
      </p:sp>
      <p:sp>
        <p:nvSpPr>
          <p:cNvPr id="15" name="Shape 13"/>
          <p:cNvSpPr/>
          <p:nvPr/>
        </p:nvSpPr>
        <p:spPr>
          <a:xfrm>
            <a:off x="6035040" y="2121408"/>
            <a:ext cx="201168" cy="0"/>
          </a:xfrm>
          <a:prstGeom prst="line">
            <a:avLst/>
          </a:prstGeom>
          <a:noFill/>
          <a:ln w="19050">
            <a:solidFill>
              <a:srgbClr val="5C637A"/>
            </a:solidFill>
            <a:prstDash val="solid"/>
            <a:tailEnd type="triangle"/>
          </a:ln>
        </p:spPr>
      </p:sp>
      <p:sp>
        <p:nvSpPr>
          <p:cNvPr id="16" name="Shape 14"/>
          <p:cNvSpPr/>
          <p:nvPr/>
        </p:nvSpPr>
        <p:spPr>
          <a:xfrm>
            <a:off x="6272784" y="1645920"/>
            <a:ext cx="2587752" cy="2514600"/>
          </a:xfrm>
          <a:prstGeom prst="roundRect">
            <a:avLst>
              <a:gd name="adj" fmla="val 4364"/>
            </a:avLst>
          </a:prstGeom>
          <a:solidFill>
            <a:srgbClr val="F4F5FA"/>
          </a:solidFill>
          <a:ln w="12700">
            <a:solidFill>
              <a:srgbClr val="F4F5FA"/>
            </a:solidFill>
            <a:prstDash val="solid"/>
          </a:ln>
        </p:spPr>
      </p:sp>
      <p:sp>
        <p:nvSpPr>
          <p:cNvPr id="17" name="Shape 15"/>
          <p:cNvSpPr/>
          <p:nvPr/>
        </p:nvSpPr>
        <p:spPr>
          <a:xfrm>
            <a:off x="6501384" y="1874520"/>
            <a:ext cx="502920" cy="502920"/>
          </a:xfrm>
          <a:prstGeom prst="ellipse">
            <a:avLst/>
          </a:prstGeom>
          <a:solidFill>
            <a:srgbClr val="121833"/>
          </a:solidFill>
          <a:ln w="12700">
            <a:solidFill>
              <a:srgbClr val="121833"/>
            </a:solidFill>
            <a:prstDash val="solid"/>
          </a:ln>
        </p:spPr>
      </p:sp>
      <p:sp>
        <p:nvSpPr>
          <p:cNvPr id="18" name="Text 16"/>
          <p:cNvSpPr txBox="1"/>
          <p:nvPr/>
        </p:nvSpPr>
        <p:spPr>
          <a:xfrm>
            <a:off x="6501384" y="1874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9" name="Text 17"/>
          <p:cNvSpPr txBox="1"/>
          <p:nvPr/>
        </p:nvSpPr>
        <p:spPr>
          <a:xfrm>
            <a:off x="6501384" y="2514600"/>
            <a:ext cx="2176272" cy="411480"/>
          </a:xfrm>
          <a:prstGeom prst="rect">
            <a:avLst/>
          </a:prstGeom>
          <a:noFill/>
          <a:ln/>
        </p:spPr>
        <p:txBody>
          <a:bodyPr wrap="square" lIns="0" tIns="0" rIns="0" bIns="0" rtlCol="0" anchor="ctr"/>
          <a:lstStyle/>
          <a:p>
            <a:pPr indent="0" marL="0">
              <a:buNone/>
            </a:pPr>
            <a:r>
              <a:rPr lang="en-US" sz="1800" b="1" dirty="0">
                <a:solidFill>
                  <a:srgbClr val="1A1F36"/>
                </a:solidFill>
                <a:latin typeface="Arial" pitchFamily="34" charset="0"/>
                <a:ea typeface="Arial" pitchFamily="34" charset="-122"/>
                <a:cs typeface="Arial" pitchFamily="34" charset="-120"/>
              </a:rPr>
              <a:t>Replay by voice</a:t>
            </a:r>
            <a:endParaRPr lang="en-US" sz="1800" dirty="0"/>
          </a:p>
        </p:txBody>
      </p:sp>
      <p:sp>
        <p:nvSpPr>
          <p:cNvPr id="20" name="Text 18"/>
          <p:cNvSpPr txBox="1"/>
          <p:nvPr/>
        </p:nvSpPr>
        <p:spPr>
          <a:xfrm>
            <a:off x="6501384" y="2971800"/>
            <a:ext cx="2176272" cy="1097280"/>
          </a:xfrm>
          <a:prstGeom prst="rect">
            <a:avLst/>
          </a:prstGeom>
          <a:noFill/>
          <a:ln/>
        </p:spPr>
        <p:txBody>
          <a:bodyPr wrap="square" lIns="0" tIns="0" rIns="0" bIns="0" rtlCol="0" anchor="t"/>
          <a:lstStyle/>
          <a:p>
            <a:pPr indent="0" marL="0">
              <a:buNone/>
            </a:pPr>
            <a:r>
              <a:rPr lang="en-US" sz="1400" dirty="0">
                <a:solidFill>
                  <a:srgbClr val="5C637A"/>
                </a:solidFill>
                <a:latin typeface="Calibri" pitchFamily="34" charset="0"/>
                <a:ea typeface="Calibri" pitchFamily="34" charset="-122"/>
                <a:cs typeface="Calibri" pitchFamily="34" charset="-120"/>
              </a:rPr>
              <a:t>New wording, new values, Hinglish, another app. Screens it knows replay with no language-model call.</a:t>
            </a:r>
            <a:endParaRPr lang="en-US" sz="1400" dirty="0"/>
          </a:p>
        </p:txBody>
      </p:sp>
      <p:sp>
        <p:nvSpPr>
          <p:cNvPr id="21" name="Shape 19"/>
          <p:cNvSpPr/>
          <p:nvPr/>
        </p:nvSpPr>
        <p:spPr>
          <a:xfrm>
            <a:off x="8897112" y="2121408"/>
            <a:ext cx="201168" cy="0"/>
          </a:xfrm>
          <a:prstGeom prst="line">
            <a:avLst/>
          </a:prstGeom>
          <a:noFill/>
          <a:ln w="19050">
            <a:solidFill>
              <a:srgbClr val="5C637A"/>
            </a:solidFill>
            <a:prstDash val="solid"/>
            <a:tailEnd type="triangle"/>
          </a:ln>
        </p:spPr>
      </p:sp>
      <p:sp>
        <p:nvSpPr>
          <p:cNvPr id="22" name="Shape 20"/>
          <p:cNvSpPr/>
          <p:nvPr/>
        </p:nvSpPr>
        <p:spPr>
          <a:xfrm>
            <a:off x="9134856" y="1645920"/>
            <a:ext cx="2587752" cy="2514600"/>
          </a:xfrm>
          <a:prstGeom prst="roundRect">
            <a:avLst>
              <a:gd name="adj" fmla="val 4364"/>
            </a:avLst>
          </a:prstGeom>
          <a:solidFill>
            <a:srgbClr val="F4F5FA"/>
          </a:solidFill>
          <a:ln w="12700">
            <a:solidFill>
              <a:srgbClr val="F4F5FA"/>
            </a:solidFill>
            <a:prstDash val="solid"/>
          </a:ln>
        </p:spPr>
      </p:sp>
      <p:sp>
        <p:nvSpPr>
          <p:cNvPr id="23" name="Shape 21"/>
          <p:cNvSpPr/>
          <p:nvPr/>
        </p:nvSpPr>
        <p:spPr>
          <a:xfrm>
            <a:off x="9363456" y="1874520"/>
            <a:ext cx="502920" cy="502920"/>
          </a:xfrm>
          <a:prstGeom prst="ellipse">
            <a:avLst/>
          </a:prstGeom>
          <a:solidFill>
            <a:srgbClr val="FF5B3A"/>
          </a:solidFill>
          <a:ln w="12700">
            <a:solidFill>
              <a:srgbClr val="FF5B3A"/>
            </a:solidFill>
            <a:prstDash val="solid"/>
          </a:ln>
        </p:spPr>
      </p:sp>
      <p:sp>
        <p:nvSpPr>
          <p:cNvPr id="24" name="Text 22"/>
          <p:cNvSpPr txBox="1"/>
          <p:nvPr/>
        </p:nvSpPr>
        <p:spPr>
          <a:xfrm>
            <a:off x="9363456" y="1874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5" name="Text 23"/>
          <p:cNvSpPr txBox="1"/>
          <p:nvPr/>
        </p:nvSpPr>
        <p:spPr>
          <a:xfrm>
            <a:off x="9363456" y="2514600"/>
            <a:ext cx="2176272" cy="411480"/>
          </a:xfrm>
          <a:prstGeom prst="rect">
            <a:avLst/>
          </a:prstGeom>
          <a:noFill/>
          <a:ln/>
        </p:spPr>
        <p:txBody>
          <a:bodyPr wrap="square" lIns="0" tIns="0" rIns="0" bIns="0" rtlCol="0" anchor="ctr"/>
          <a:lstStyle/>
          <a:p>
            <a:pPr indent="0" marL="0">
              <a:buNone/>
            </a:pPr>
            <a:r>
              <a:rPr lang="en-US" sz="1800" b="1" dirty="0">
                <a:solidFill>
                  <a:srgbClr val="1A1F36"/>
                </a:solidFill>
                <a:latin typeface="Arial" pitchFamily="34" charset="0"/>
                <a:ea typeface="Arial" pitchFamily="34" charset="-122"/>
                <a:cs typeface="Arial" pitchFamily="34" charset="-120"/>
              </a:rPr>
              <a:t>Ask or hand back</a:t>
            </a:r>
            <a:endParaRPr lang="en-US" sz="1800" dirty="0"/>
          </a:p>
        </p:txBody>
      </p:sp>
      <p:sp>
        <p:nvSpPr>
          <p:cNvPr id="26" name="Text 24"/>
          <p:cNvSpPr txBox="1"/>
          <p:nvPr/>
        </p:nvSpPr>
        <p:spPr>
          <a:xfrm>
            <a:off x="9363456" y="2971800"/>
            <a:ext cx="2176272" cy="1097280"/>
          </a:xfrm>
          <a:prstGeom prst="rect">
            <a:avLst/>
          </a:prstGeom>
          <a:noFill/>
          <a:ln/>
        </p:spPr>
        <p:txBody>
          <a:bodyPr wrap="square" lIns="0" tIns="0" rIns="0" bIns="0" rtlCol="0" anchor="t"/>
          <a:lstStyle/>
          <a:p>
            <a:pPr indent="0" marL="0">
              <a:buNone/>
            </a:pPr>
            <a:r>
              <a:rPr lang="en-US" sz="1400" dirty="0">
                <a:solidFill>
                  <a:srgbClr val="5C637A"/>
                </a:solidFill>
                <a:latin typeface="Calibri" pitchFamily="34" charset="0"/>
                <a:ea typeface="Calibri" pitchFamily="34" charset="-122"/>
                <a:cs typeface="Calibri" pitchFamily="34" charset="-120"/>
              </a:rPr>
              <a:t>A missing value or an unexpected screen gets one clear question. Payment, OTP or login: “Your turn.”</a:t>
            </a:r>
            <a:endParaRPr lang="en-US" sz="1400" dirty="0"/>
          </a:p>
        </p:txBody>
      </p:sp>
      <p:sp>
        <p:nvSpPr>
          <p:cNvPr id="27" name="Text 25"/>
          <p:cNvSpPr txBox="1"/>
          <p:nvPr/>
        </p:nvSpPr>
        <p:spPr>
          <a:xfrm>
            <a:off x="548640" y="4434840"/>
            <a:ext cx="5486400" cy="320040"/>
          </a:xfrm>
          <a:prstGeom prst="rect">
            <a:avLst/>
          </a:prstGeom>
          <a:noFill/>
          <a:ln/>
        </p:spPr>
        <p:txBody>
          <a:bodyPr wrap="square" lIns="0" tIns="0" rIns="0" bIns="0" rtlCol="0" anchor="ctr"/>
          <a:lstStyle/>
          <a:p>
            <a:pPr indent="0" marL="0">
              <a:buNone/>
            </a:pPr>
            <a:r>
              <a:rPr lang="en-US" sz="1400" b="1" dirty="0">
                <a:solidFill>
                  <a:srgbClr val="5C637A"/>
                </a:solidFill>
                <a:latin typeface="Arial" pitchFamily="34" charset="0"/>
                <a:ea typeface="Arial" pitchFamily="34" charset="-122"/>
                <a:cs typeface="Arial" pitchFamily="34" charset="-120"/>
              </a:rPr>
              <a:t>Taught once, then said like this:</a:t>
            </a:r>
            <a:endParaRPr lang="en-US" sz="1400" dirty="0"/>
          </a:p>
        </p:txBody>
      </p:sp>
      <p:sp>
        <p:nvSpPr>
          <p:cNvPr id="28" name="Shape 26"/>
          <p:cNvSpPr/>
          <p:nvPr/>
        </p:nvSpPr>
        <p:spPr>
          <a:xfrm>
            <a:off x="548640" y="4846320"/>
            <a:ext cx="3154680" cy="457200"/>
          </a:xfrm>
          <a:prstGeom prst="roundRect">
            <a:avLst>
              <a:gd name="adj" fmla="val 50000"/>
            </a:avLst>
          </a:prstGeom>
          <a:solidFill>
            <a:srgbClr val="121833"/>
          </a:solidFill>
          <a:ln w="12700">
            <a:solidFill>
              <a:srgbClr val="121833"/>
            </a:solidFill>
            <a:prstDash val="solid"/>
          </a:ln>
        </p:spPr>
      </p:sp>
      <p:sp>
        <p:nvSpPr>
          <p:cNvPr id="29" name="Shape 27"/>
          <p:cNvSpPr/>
          <p:nvPr/>
        </p:nvSpPr>
        <p:spPr>
          <a:xfrm>
            <a:off x="612648" y="4910328"/>
            <a:ext cx="329184" cy="329184"/>
          </a:xfrm>
          <a:prstGeom prst="ellipse">
            <a:avLst/>
          </a:prstGeom>
          <a:solidFill>
            <a:srgbClr val="FF5B3A"/>
          </a:solidFill>
          <a:ln w="12700">
            <a:solidFill>
              <a:srgbClr val="FF5B3A"/>
            </a:solidFill>
            <a:prstDash val="solid"/>
          </a:ln>
        </p:spPr>
      </p:sp>
      <p:pic>
        <p:nvPicPr>
          <p:cNvPr id="30" name="Image 0" descr="preencoded.png">    </p:cNvPr>
          <p:cNvPicPr>
            <a:picLocks noChangeAspect="1"/>
          </p:cNvPicPr>
          <p:nvPr/>
        </p:nvPicPr>
        <p:blipFill>
          <a:blip r:embed="rId1"/>
          <a:stretch>
            <a:fillRect/>
          </a:stretch>
        </p:blipFill>
        <p:spPr>
          <a:xfrm>
            <a:off x="678485" y="4976165"/>
            <a:ext cx="197510" cy="197510"/>
          </a:xfrm>
          <a:prstGeom prst="rect">
            <a:avLst/>
          </a:prstGeom>
        </p:spPr>
      </p:pic>
      <p:sp>
        <p:nvSpPr>
          <p:cNvPr id="31" name="Text 28"/>
          <p:cNvSpPr txBox="1"/>
          <p:nvPr/>
        </p:nvSpPr>
        <p:spPr>
          <a:xfrm>
            <a:off x="1060704" y="4846320"/>
            <a:ext cx="2551176" cy="457200"/>
          </a:xfrm>
          <a:prstGeom prst="rect">
            <a:avLst/>
          </a:prstGeom>
          <a:noFill/>
          <a:ln/>
        </p:spPr>
        <p:txBody>
          <a:bodyPr wrap="square" lIns="0" tIns="0" rIns="0" bIns="0" rtlCol="0" anchor="ctr">
            <a:normAutofit/>
          </a:bodyPr>
          <a:lstStyle/>
          <a:p>
            <a:pPr indent="0" marL="0">
              <a:buNone/>
            </a:pPr>
            <a:r>
              <a:rPr lang="en-US" sz="1250" i="1" dirty="0">
                <a:solidFill>
                  <a:srgbClr val="FFFFFF"/>
                </a:solidFill>
                <a:latin typeface="Calibri" pitchFamily="34" charset="0"/>
                <a:ea typeface="Calibri" pitchFamily="34" charset="-122"/>
                <a:cs typeface="Calibri" pitchFamily="34" charset="-120"/>
              </a:rPr>
              <a:t>“Get me a margherita from dominos”</a:t>
            </a:r>
            <a:endParaRPr lang="en-US" sz="1250" dirty="0"/>
          </a:p>
        </p:txBody>
      </p:sp>
      <p:sp>
        <p:nvSpPr>
          <p:cNvPr id="32" name="Shape 29"/>
          <p:cNvSpPr/>
          <p:nvPr/>
        </p:nvSpPr>
        <p:spPr>
          <a:xfrm>
            <a:off x="3886200" y="4846320"/>
            <a:ext cx="4023360" cy="457200"/>
          </a:xfrm>
          <a:prstGeom prst="roundRect">
            <a:avLst>
              <a:gd name="adj" fmla="val 50000"/>
            </a:avLst>
          </a:prstGeom>
          <a:solidFill>
            <a:srgbClr val="121833"/>
          </a:solidFill>
          <a:ln w="12700">
            <a:solidFill>
              <a:srgbClr val="121833"/>
            </a:solidFill>
            <a:prstDash val="solid"/>
          </a:ln>
        </p:spPr>
      </p:sp>
      <p:sp>
        <p:nvSpPr>
          <p:cNvPr id="33" name="Shape 30"/>
          <p:cNvSpPr/>
          <p:nvPr/>
        </p:nvSpPr>
        <p:spPr>
          <a:xfrm>
            <a:off x="3950208" y="4910328"/>
            <a:ext cx="329184" cy="329184"/>
          </a:xfrm>
          <a:prstGeom prst="ellipse">
            <a:avLst/>
          </a:prstGeom>
          <a:solidFill>
            <a:srgbClr val="FF5B3A"/>
          </a:solidFill>
          <a:ln w="12700">
            <a:solidFill>
              <a:srgbClr val="FF5B3A"/>
            </a:solidFill>
            <a:prstDash val="solid"/>
          </a:ln>
        </p:spPr>
      </p:sp>
      <p:pic>
        <p:nvPicPr>
          <p:cNvPr id="34" name="Image 1" descr="preencoded.png">    </p:cNvPr>
          <p:cNvPicPr>
            <a:picLocks noChangeAspect="1"/>
          </p:cNvPicPr>
          <p:nvPr/>
        </p:nvPicPr>
        <p:blipFill>
          <a:blip r:embed="rId2"/>
          <a:stretch>
            <a:fillRect/>
          </a:stretch>
        </p:blipFill>
        <p:spPr>
          <a:xfrm>
            <a:off x="4016045" y="4976165"/>
            <a:ext cx="197510" cy="197510"/>
          </a:xfrm>
          <a:prstGeom prst="rect">
            <a:avLst/>
          </a:prstGeom>
        </p:spPr>
      </p:pic>
      <p:sp>
        <p:nvSpPr>
          <p:cNvPr id="35" name="Text 31"/>
          <p:cNvSpPr txBox="1"/>
          <p:nvPr/>
        </p:nvSpPr>
        <p:spPr>
          <a:xfrm>
            <a:off x="4398264" y="4846320"/>
            <a:ext cx="3419856" cy="457200"/>
          </a:xfrm>
          <a:prstGeom prst="rect">
            <a:avLst/>
          </a:prstGeom>
          <a:noFill/>
          <a:ln/>
        </p:spPr>
        <p:txBody>
          <a:bodyPr wrap="square" lIns="0" tIns="0" rIns="0" bIns="0" rtlCol="0" anchor="ctr">
            <a:normAutofit/>
          </a:bodyPr>
          <a:lstStyle/>
          <a:p>
            <a:pPr indent="0" marL="0">
              <a:buNone/>
            </a:pPr>
            <a:r>
              <a:rPr lang="en-US" sz="1250" i="1" dirty="0">
                <a:solidFill>
                  <a:srgbClr val="FFFFFF"/>
                </a:solidFill>
                <a:latin typeface="Calibri" pitchFamily="34" charset="0"/>
                <a:ea typeface="Calibri" pitchFamily="34" charset="-122"/>
                <a:cs typeface="Calibri" pitchFamily="34" charset="-120"/>
              </a:rPr>
              <a:t>“amazon pe pencil box search karke pehla result cart mein daal do”</a:t>
            </a:r>
            <a:endParaRPr lang="en-US" sz="1250" dirty="0"/>
          </a:p>
        </p:txBody>
      </p:sp>
      <p:sp>
        <p:nvSpPr>
          <p:cNvPr id="36" name="Shape 32"/>
          <p:cNvSpPr/>
          <p:nvPr/>
        </p:nvSpPr>
        <p:spPr>
          <a:xfrm>
            <a:off x="8092440" y="4846320"/>
            <a:ext cx="3547872" cy="457200"/>
          </a:xfrm>
          <a:prstGeom prst="roundRect">
            <a:avLst>
              <a:gd name="adj" fmla="val 50000"/>
            </a:avLst>
          </a:prstGeom>
          <a:solidFill>
            <a:srgbClr val="121833"/>
          </a:solidFill>
          <a:ln w="12700">
            <a:solidFill>
              <a:srgbClr val="121833"/>
            </a:solidFill>
            <a:prstDash val="solid"/>
          </a:ln>
        </p:spPr>
      </p:sp>
      <p:sp>
        <p:nvSpPr>
          <p:cNvPr id="37" name="Shape 33"/>
          <p:cNvSpPr/>
          <p:nvPr/>
        </p:nvSpPr>
        <p:spPr>
          <a:xfrm>
            <a:off x="8156448" y="4910328"/>
            <a:ext cx="329184" cy="329184"/>
          </a:xfrm>
          <a:prstGeom prst="ellipse">
            <a:avLst/>
          </a:prstGeom>
          <a:solidFill>
            <a:srgbClr val="FF5B3A"/>
          </a:solidFill>
          <a:ln w="12700">
            <a:solidFill>
              <a:srgbClr val="FF5B3A"/>
            </a:solidFill>
            <a:prstDash val="solid"/>
          </a:ln>
        </p:spPr>
      </p:sp>
      <p:pic>
        <p:nvPicPr>
          <p:cNvPr id="38" name="Image 2" descr="preencoded.png">    </p:cNvPr>
          <p:cNvPicPr>
            <a:picLocks noChangeAspect="1"/>
          </p:cNvPicPr>
          <p:nvPr/>
        </p:nvPicPr>
        <p:blipFill>
          <a:blip r:embed="rId3"/>
          <a:stretch>
            <a:fillRect/>
          </a:stretch>
        </p:blipFill>
        <p:spPr>
          <a:xfrm>
            <a:off x="8222285" y="4976165"/>
            <a:ext cx="197510" cy="197510"/>
          </a:xfrm>
          <a:prstGeom prst="rect">
            <a:avLst/>
          </a:prstGeom>
        </p:spPr>
      </p:pic>
      <p:sp>
        <p:nvSpPr>
          <p:cNvPr id="39" name="Text 34"/>
          <p:cNvSpPr txBox="1"/>
          <p:nvPr/>
        </p:nvSpPr>
        <p:spPr>
          <a:xfrm>
            <a:off x="8604504" y="4846320"/>
            <a:ext cx="2944368" cy="457200"/>
          </a:xfrm>
          <a:prstGeom prst="rect">
            <a:avLst/>
          </a:prstGeom>
          <a:noFill/>
          <a:ln/>
        </p:spPr>
        <p:txBody>
          <a:bodyPr wrap="square" lIns="0" tIns="0" rIns="0" bIns="0" rtlCol="0" anchor="ctr">
            <a:normAutofit/>
          </a:bodyPr>
          <a:lstStyle/>
          <a:p>
            <a:pPr indent="0" marL="0">
              <a:buNone/>
            </a:pPr>
            <a:r>
              <a:rPr lang="en-US" sz="1250" i="1" dirty="0">
                <a:solidFill>
                  <a:srgbClr val="FFFFFF"/>
                </a:solidFill>
                <a:latin typeface="Calibri" pitchFamily="34" charset="0"/>
                <a:ea typeface="Calibri" pitchFamily="34" charset="-122"/>
                <a:cs typeface="Calibri" pitchFamily="34" charset="-120"/>
              </a:rPr>
              <a:t>“search for a wallet on myntra and add the first result to my bag”</a:t>
            </a:r>
            <a:endParaRPr lang="en-US" sz="1250" dirty="0"/>
          </a:p>
        </p:txBody>
      </p:sp>
      <p:sp>
        <p:nvSpPr>
          <p:cNvPr id="40" name="Text 35"/>
          <p:cNvSpPr txBox="1"/>
          <p:nvPr/>
        </p:nvSpPr>
        <p:spPr>
          <a:xfrm>
            <a:off x="548640" y="5669280"/>
            <a:ext cx="11094415" cy="365760"/>
          </a:xfrm>
          <a:prstGeom prst="rect">
            <a:avLst/>
          </a:prstGeom>
          <a:noFill/>
          <a:ln/>
        </p:spPr>
        <p:txBody>
          <a:bodyPr wrap="square" lIns="0" tIns="0" rIns="0" bIns="0" rtlCol="0" anchor="ctr"/>
          <a:lstStyle/>
          <a:p>
            <a:pPr indent="0" marL="0">
              <a:buNone/>
            </a:pPr>
            <a:r>
              <a:rPr lang="en-US" sz="1300" dirty="0">
                <a:solidFill>
                  <a:srgbClr val="1A1F36"/>
                </a:solidFill>
                <a:latin typeface="Calibri" pitchFamily="34" charset="0"/>
                <a:ea typeface="Calibri" pitchFamily="34" charset="-122"/>
                <a:cs typeface="Calibri" pitchFamily="34" charset="-120"/>
              </a:rPr>
              <a:t>Everything on screen is read and tapped through Android’s Accessibility Service — no app APIs, no deep links, no hard-coded flows.</a:t>
            </a:r>
            <a:endParaRPr lang="en-US" sz="1300" dirty="0"/>
          </a:p>
        </p:txBody>
      </p:sp>
      <p:sp>
        <p:nvSpPr>
          <p:cNvPr id="42" name="Text 36"/>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43" name="Text 37"/>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A"/>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WHAT THE USER SEES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Four moments from real runs on the phone</a:t>
            </a:r>
            <a:endParaRPr lang="en-US" sz="3000" dirty="0"/>
          </a:p>
        </p:txBody>
      </p:sp>
      <p:sp>
        <p:nvSpPr>
          <p:cNvPr id="4" name="Shape 2"/>
          <p:cNvSpPr/>
          <p:nvPr/>
        </p:nvSpPr>
        <p:spPr>
          <a:xfrm>
            <a:off x="548640" y="1444752"/>
            <a:ext cx="2271141" cy="4014216"/>
          </a:xfrm>
          <a:prstGeom prst="roundRect">
            <a:avLst>
              <a:gd name="adj" fmla="val 8858"/>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5" name="Image 0" descr="/home/claude/deck/img/teach.png">    </p:cNvPr>
          <p:cNvPicPr>
            <a:picLocks noChangeAspect="1"/>
          </p:cNvPicPr>
          <p:nvPr/>
        </p:nvPicPr>
        <p:blipFill>
          <a:blip r:embed="rId1"/>
          <a:stretch>
            <a:fillRect/>
          </a:stretch>
        </p:blipFill>
        <p:spPr>
          <a:xfrm>
            <a:off x="612648" y="1508760"/>
            <a:ext cx="2143125" cy="3886200"/>
          </a:xfrm>
          <a:prstGeom prst="rect">
            <a:avLst/>
          </a:prstGeom>
        </p:spPr>
      </p:pic>
      <p:sp>
        <p:nvSpPr>
          <p:cNvPr id="6" name="Text 3"/>
          <p:cNvSpPr txBox="1"/>
          <p:nvPr/>
        </p:nvSpPr>
        <p:spPr>
          <a:xfrm>
            <a:off x="521208" y="5504688"/>
            <a:ext cx="2508885" cy="292608"/>
          </a:xfrm>
          <a:prstGeom prst="rect">
            <a:avLst/>
          </a:prstGeom>
          <a:noFill/>
          <a:ln/>
        </p:spPr>
        <p:txBody>
          <a:bodyPr wrap="square" lIns="0" tIns="0" rIns="0" bIns="0" rtlCol="0" anchor="ctr"/>
          <a:lstStyle/>
          <a:p>
            <a:pPr indent="0" marL="0">
              <a:buNone/>
            </a:pPr>
            <a:r>
              <a:rPr lang="en-US" sz="1400" b="1" dirty="0">
                <a:solidFill>
                  <a:srgbClr val="1A1F36"/>
                </a:solidFill>
                <a:latin typeface="Arial" pitchFamily="34" charset="0"/>
                <a:ea typeface="Arial" pitchFamily="34" charset="-122"/>
                <a:cs typeface="Arial" pitchFamily="34" charset="-120"/>
              </a:rPr>
              <a:t>Teaching</a:t>
            </a:r>
            <a:endParaRPr lang="en-US" sz="1400" dirty="0"/>
          </a:p>
        </p:txBody>
      </p:sp>
      <p:sp>
        <p:nvSpPr>
          <p:cNvPr id="7" name="Text 4"/>
          <p:cNvSpPr txBox="1"/>
          <p:nvPr/>
        </p:nvSpPr>
        <p:spPr>
          <a:xfrm>
            <a:off x="521208" y="5797296"/>
            <a:ext cx="2508885" cy="566928"/>
          </a:xfrm>
          <a:prstGeom prst="rect">
            <a:avLst/>
          </a:prstGeom>
          <a:noFill/>
          <a:ln/>
        </p:spPr>
        <p:txBody>
          <a:bodyPr wrap="square" lIns="0" tIns="0" rIns="0" bIns="0" rtlCol="0" anchor="t"/>
          <a:lstStyle/>
          <a:p>
            <a:pPr indent="0" marL="0">
              <a:buNone/>
            </a:pPr>
            <a:r>
              <a:rPr lang="en-US" sz="1200" dirty="0">
                <a:solidFill>
                  <a:srgbClr val="5C637A"/>
                </a:solidFill>
                <a:latin typeface="Calibri" pitchFamily="34" charset="0"/>
                <a:ea typeface="Calibri" pitchFamily="34" charset="-122"/>
                <a:cs typeface="Calibri" pitchFamily="34" charset="-120"/>
              </a:rPr>
              <a:t>A red border and “Done” while the user shows the task.</a:t>
            </a:r>
            <a:endParaRPr lang="en-US" sz="1200" dirty="0"/>
          </a:p>
        </p:txBody>
      </p:sp>
      <p:sp>
        <p:nvSpPr>
          <p:cNvPr id="8" name="Shape 5"/>
          <p:cNvSpPr/>
          <p:nvPr/>
        </p:nvSpPr>
        <p:spPr>
          <a:xfrm>
            <a:off x="3532403" y="1444752"/>
            <a:ext cx="2271141" cy="4014216"/>
          </a:xfrm>
          <a:prstGeom prst="roundRect">
            <a:avLst>
              <a:gd name="adj" fmla="val 8858"/>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9" name="Image 1" descr="/home/claude/deck/img/learned.png">    </p:cNvPr>
          <p:cNvPicPr>
            <a:picLocks noChangeAspect="1"/>
          </p:cNvPicPr>
          <p:nvPr/>
        </p:nvPicPr>
        <p:blipFill>
          <a:blip r:embed="rId2"/>
          <a:stretch>
            <a:fillRect/>
          </a:stretch>
        </p:blipFill>
        <p:spPr>
          <a:xfrm>
            <a:off x="3596411" y="1508760"/>
            <a:ext cx="2143125" cy="3886200"/>
          </a:xfrm>
          <a:prstGeom prst="rect">
            <a:avLst/>
          </a:prstGeom>
        </p:spPr>
      </p:pic>
      <p:sp>
        <p:nvSpPr>
          <p:cNvPr id="10" name="Text 6"/>
          <p:cNvSpPr txBox="1"/>
          <p:nvPr/>
        </p:nvSpPr>
        <p:spPr>
          <a:xfrm>
            <a:off x="3504971" y="5504688"/>
            <a:ext cx="2508885" cy="292608"/>
          </a:xfrm>
          <a:prstGeom prst="rect">
            <a:avLst/>
          </a:prstGeom>
          <a:noFill/>
          <a:ln/>
        </p:spPr>
        <p:txBody>
          <a:bodyPr wrap="square" lIns="0" tIns="0" rIns="0" bIns="0" rtlCol="0" anchor="ctr"/>
          <a:lstStyle/>
          <a:p>
            <a:pPr indent="0" marL="0">
              <a:buNone/>
            </a:pPr>
            <a:r>
              <a:rPr lang="en-US" sz="1400" b="1" dirty="0">
                <a:solidFill>
                  <a:srgbClr val="1A1F36"/>
                </a:solidFill>
                <a:latin typeface="Arial" pitchFamily="34" charset="0"/>
                <a:ea typeface="Arial" pitchFamily="34" charset="-122"/>
                <a:cs typeface="Arial" pitchFamily="34" charset="-120"/>
              </a:rPr>
              <a:t>What it learned</a:t>
            </a:r>
            <a:endParaRPr lang="en-US" sz="1400" dirty="0"/>
          </a:p>
        </p:txBody>
      </p:sp>
      <p:sp>
        <p:nvSpPr>
          <p:cNvPr id="11" name="Text 7"/>
          <p:cNvSpPr txBox="1"/>
          <p:nvPr/>
        </p:nvSpPr>
        <p:spPr>
          <a:xfrm>
            <a:off x="3504971" y="5797296"/>
            <a:ext cx="2508885" cy="566928"/>
          </a:xfrm>
          <a:prstGeom prst="rect">
            <a:avLst/>
          </a:prstGeom>
          <a:noFill/>
          <a:ln/>
        </p:spPr>
        <p:txBody>
          <a:bodyPr wrap="square" lIns="0" tIns="0" rIns="0" bIns="0" rtlCol="0" anchor="t"/>
          <a:lstStyle/>
          <a:p>
            <a:pPr indent="0" marL="0">
              <a:buNone/>
            </a:pPr>
            <a:r>
              <a:rPr lang="en-US" sz="1200" dirty="0">
                <a:solidFill>
                  <a:srgbClr val="5C637A"/>
                </a:solidFill>
                <a:latin typeface="Calibri" pitchFamily="34" charset="0"/>
                <a:ea typeface="Calibri" pitchFamily="34" charset="-122"/>
                <a:cs typeface="Calibri" pitchFamily="34" charset="-120"/>
              </a:rPr>
              <a:t>Steps in words, slots in braces, the stray tap marked “not needed”.</a:t>
            </a:r>
            <a:endParaRPr lang="en-US" sz="1200" dirty="0"/>
          </a:p>
        </p:txBody>
      </p:sp>
      <p:sp>
        <p:nvSpPr>
          <p:cNvPr id="12" name="Shape 8"/>
          <p:cNvSpPr/>
          <p:nvPr/>
        </p:nvSpPr>
        <p:spPr>
          <a:xfrm>
            <a:off x="6516167" y="1444752"/>
            <a:ext cx="2271141" cy="4014216"/>
          </a:xfrm>
          <a:prstGeom prst="roundRect">
            <a:avLst>
              <a:gd name="adj" fmla="val 8858"/>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13" name="Image 2" descr="/home/claude/deck/img/ask.png">    </p:cNvPr>
          <p:cNvPicPr>
            <a:picLocks noChangeAspect="1"/>
          </p:cNvPicPr>
          <p:nvPr/>
        </p:nvPicPr>
        <p:blipFill>
          <a:blip r:embed="rId3"/>
          <a:stretch>
            <a:fillRect/>
          </a:stretch>
        </p:blipFill>
        <p:spPr>
          <a:xfrm>
            <a:off x="6580175" y="1508760"/>
            <a:ext cx="2143125" cy="3886200"/>
          </a:xfrm>
          <a:prstGeom prst="rect">
            <a:avLst/>
          </a:prstGeom>
        </p:spPr>
      </p:pic>
      <p:sp>
        <p:nvSpPr>
          <p:cNvPr id="14" name="Text 9"/>
          <p:cNvSpPr txBox="1"/>
          <p:nvPr/>
        </p:nvSpPr>
        <p:spPr>
          <a:xfrm>
            <a:off x="6488735" y="5504688"/>
            <a:ext cx="2508885" cy="292608"/>
          </a:xfrm>
          <a:prstGeom prst="rect">
            <a:avLst/>
          </a:prstGeom>
          <a:noFill/>
          <a:ln/>
        </p:spPr>
        <p:txBody>
          <a:bodyPr wrap="square" lIns="0" tIns="0" rIns="0" bIns="0" rtlCol="0" anchor="ctr"/>
          <a:lstStyle/>
          <a:p>
            <a:pPr indent="0" marL="0">
              <a:buNone/>
            </a:pPr>
            <a:r>
              <a:rPr lang="en-US" sz="1400" b="1" dirty="0">
                <a:solidFill>
                  <a:srgbClr val="1A1F36"/>
                </a:solidFill>
                <a:latin typeface="Arial" pitchFamily="34" charset="0"/>
                <a:ea typeface="Arial" pitchFamily="34" charset="-122"/>
                <a:cs typeface="Arial" pitchFamily="34" charset="-120"/>
              </a:rPr>
              <a:t>A missing value</a:t>
            </a:r>
            <a:endParaRPr lang="en-US" sz="1400" dirty="0"/>
          </a:p>
        </p:txBody>
      </p:sp>
      <p:sp>
        <p:nvSpPr>
          <p:cNvPr id="15" name="Text 10"/>
          <p:cNvSpPr txBox="1"/>
          <p:nvPr/>
        </p:nvSpPr>
        <p:spPr>
          <a:xfrm>
            <a:off x="6488735" y="5797296"/>
            <a:ext cx="2508885" cy="566928"/>
          </a:xfrm>
          <a:prstGeom prst="rect">
            <a:avLst/>
          </a:prstGeom>
          <a:noFill/>
          <a:ln/>
        </p:spPr>
        <p:txBody>
          <a:bodyPr wrap="square" lIns="0" tIns="0" rIns="0" bIns="0" rtlCol="0" anchor="t"/>
          <a:lstStyle/>
          <a:p>
            <a:pPr indent="0" marL="0">
              <a:buNone/>
            </a:pPr>
            <a:r>
              <a:rPr lang="en-US" sz="1200" dirty="0">
                <a:solidFill>
                  <a:srgbClr val="5C637A"/>
                </a:solidFill>
                <a:latin typeface="Calibri" pitchFamily="34" charset="0"/>
                <a:ea typeface="Calibri" pitchFamily="34" charset="-122"/>
                <a:cs typeface="Calibri" pitchFamily="34" charset="-120"/>
              </a:rPr>
              <a:t>“Which product should I use?” — asked at the step that needs it.</a:t>
            </a:r>
            <a:endParaRPr lang="en-US" sz="1200" dirty="0"/>
          </a:p>
        </p:txBody>
      </p:sp>
      <p:sp>
        <p:nvSpPr>
          <p:cNvPr id="16" name="Shape 11"/>
          <p:cNvSpPr/>
          <p:nvPr/>
        </p:nvSpPr>
        <p:spPr>
          <a:xfrm>
            <a:off x="9499930" y="1444752"/>
            <a:ext cx="2271141" cy="4014216"/>
          </a:xfrm>
          <a:prstGeom prst="roundRect">
            <a:avLst>
              <a:gd name="adj" fmla="val 8858"/>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17" name="Image 3" descr="/home/claude/deck/img/size_q.png">    </p:cNvPr>
          <p:cNvPicPr>
            <a:picLocks noChangeAspect="1"/>
          </p:cNvPicPr>
          <p:nvPr/>
        </p:nvPicPr>
        <p:blipFill>
          <a:blip r:embed="rId4"/>
          <a:stretch>
            <a:fillRect/>
          </a:stretch>
        </p:blipFill>
        <p:spPr>
          <a:xfrm>
            <a:off x="9563938" y="1508760"/>
            <a:ext cx="2143125" cy="3886200"/>
          </a:xfrm>
          <a:prstGeom prst="rect">
            <a:avLst/>
          </a:prstGeom>
        </p:spPr>
      </p:pic>
      <p:sp>
        <p:nvSpPr>
          <p:cNvPr id="18" name="Text 12"/>
          <p:cNvSpPr txBox="1"/>
          <p:nvPr/>
        </p:nvSpPr>
        <p:spPr>
          <a:xfrm>
            <a:off x="9472498" y="5504688"/>
            <a:ext cx="2508885" cy="292608"/>
          </a:xfrm>
          <a:prstGeom prst="rect">
            <a:avLst/>
          </a:prstGeom>
          <a:noFill/>
          <a:ln/>
        </p:spPr>
        <p:txBody>
          <a:bodyPr wrap="square" lIns="0" tIns="0" rIns="0" bIns="0" rtlCol="0" anchor="ctr"/>
          <a:lstStyle/>
          <a:p>
            <a:pPr indent="0" marL="0">
              <a:buNone/>
            </a:pPr>
            <a:r>
              <a:rPr lang="en-US" sz="1400" b="1" dirty="0">
                <a:solidFill>
                  <a:srgbClr val="1A1F36"/>
                </a:solidFill>
                <a:latin typeface="Arial" pitchFamily="34" charset="0"/>
                <a:ea typeface="Arial" pitchFamily="34" charset="-122"/>
                <a:cs typeface="Arial" pitchFamily="34" charset="-120"/>
              </a:rPr>
              <a:t>A personal choice</a:t>
            </a:r>
            <a:endParaRPr lang="en-US" sz="1400" dirty="0"/>
          </a:p>
        </p:txBody>
      </p:sp>
      <p:sp>
        <p:nvSpPr>
          <p:cNvPr id="19" name="Text 13"/>
          <p:cNvSpPr txBox="1"/>
          <p:nvPr/>
        </p:nvSpPr>
        <p:spPr>
          <a:xfrm>
            <a:off x="9472498" y="5797296"/>
            <a:ext cx="2508885" cy="566928"/>
          </a:xfrm>
          <a:prstGeom prst="rect">
            <a:avLst/>
          </a:prstGeom>
          <a:noFill/>
          <a:ln/>
        </p:spPr>
        <p:txBody>
          <a:bodyPr wrap="square" lIns="0" tIns="0" rIns="0" bIns="0" rtlCol="0" anchor="t"/>
          <a:lstStyle/>
          <a:p>
            <a:pPr indent="0" marL="0">
              <a:buNone/>
            </a:pPr>
            <a:r>
              <a:rPr lang="en-US" sz="1200" dirty="0">
                <a:solidFill>
                  <a:srgbClr val="5C637A"/>
                </a:solidFill>
                <a:latin typeface="Calibri" pitchFamily="34" charset="0"/>
                <a:ea typeface="Calibri" pitchFamily="34" charset="-122"/>
                <a:cs typeface="Calibri" pitchFamily="34" charset="-120"/>
              </a:rPr>
              <a:t>It asks for the size and lists what’s available. It never picks for you.</a:t>
            </a:r>
            <a:endParaRPr lang="en-US" sz="1200" dirty="0"/>
          </a:p>
        </p:txBody>
      </p:sp>
      <p:sp>
        <p:nvSpPr>
          <p:cNvPr id="21" name="Text 14"/>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22" name="Text 15"/>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All on the phone, except the language-model calls</a:t>
            </a:r>
            <a:endParaRPr lang="en-US" sz="3000" dirty="0"/>
          </a:p>
        </p:txBody>
      </p:sp>
      <p:sp>
        <p:nvSpPr>
          <p:cNvPr id="4" name="Shape 2"/>
          <p:cNvSpPr/>
          <p:nvPr/>
        </p:nvSpPr>
        <p:spPr>
          <a:xfrm>
            <a:off x="548640" y="1508760"/>
            <a:ext cx="11094415" cy="3886200"/>
          </a:xfrm>
          <a:prstGeom prst="roundRect">
            <a:avLst>
              <a:gd name="adj" fmla="val 3529"/>
            </a:avLst>
          </a:prstGeom>
          <a:solidFill>
            <a:srgbClr val="F4F5FA"/>
          </a:solidFill>
          <a:ln w="12700">
            <a:solidFill>
              <a:srgbClr val="E2E5EE"/>
            </a:solidFill>
            <a:prstDash val="solid"/>
          </a:ln>
        </p:spPr>
      </p:sp>
      <p:sp>
        <p:nvSpPr>
          <p:cNvPr id="5" name="Text 3"/>
          <p:cNvSpPr txBox="1"/>
          <p:nvPr/>
        </p:nvSpPr>
        <p:spPr>
          <a:xfrm>
            <a:off x="777240" y="1627632"/>
            <a:ext cx="5486400" cy="274320"/>
          </a:xfrm>
          <a:prstGeom prst="rect">
            <a:avLst/>
          </a:prstGeom>
          <a:noFill/>
          <a:ln/>
        </p:spPr>
        <p:txBody>
          <a:bodyPr wrap="square" lIns="0" tIns="0" rIns="0" bIns="0" rtlCol="0" anchor="ctr"/>
          <a:lstStyle/>
          <a:p>
            <a:pPr indent="0" marL="0">
              <a:buNone/>
            </a:pPr>
            <a:r>
              <a:rPr lang="en-US" sz="1100" b="1" spc="200" kern="0" dirty="0">
                <a:solidFill>
                  <a:srgbClr val="5C637A"/>
                </a:solidFill>
                <a:latin typeface="Arial" pitchFamily="34" charset="0"/>
                <a:ea typeface="Arial" pitchFamily="34" charset="-122"/>
                <a:cs typeface="Arial" pitchFamily="34" charset="-120"/>
              </a:rPr>
              <a:t>ON THE PHONE  ·  Android Accessibility Service</a:t>
            </a:r>
            <a:endParaRPr lang="en-US" sz="1100" dirty="0"/>
          </a:p>
        </p:txBody>
      </p:sp>
      <p:sp>
        <p:nvSpPr>
          <p:cNvPr id="6" name="Text 4"/>
          <p:cNvSpPr txBox="1"/>
          <p:nvPr/>
        </p:nvSpPr>
        <p:spPr>
          <a:xfrm>
            <a:off x="822960" y="2002536"/>
            <a:ext cx="2743200" cy="274320"/>
          </a:xfrm>
          <a:prstGeom prst="rect">
            <a:avLst/>
          </a:prstGeom>
          <a:noFill/>
          <a:ln/>
        </p:spPr>
        <p:txBody>
          <a:bodyPr wrap="square" lIns="0" tIns="0" rIns="0" bIns="0" rtlCol="0" anchor="ctr"/>
          <a:lstStyle/>
          <a:p>
            <a:pPr indent="0" marL="0">
              <a:buNone/>
            </a:pPr>
            <a:r>
              <a:rPr lang="en-US" sz="1300" b="1" dirty="0">
                <a:solidFill>
                  <a:srgbClr val="1A1F36"/>
                </a:solidFill>
                <a:latin typeface="Arial" pitchFamily="34" charset="0"/>
                <a:ea typeface="Arial" pitchFamily="34" charset="-122"/>
                <a:cs typeface="Arial" pitchFamily="34" charset="-120"/>
              </a:rPr>
              <a:t>Teach once</a:t>
            </a:r>
            <a:endParaRPr lang="en-US" sz="1300" dirty="0"/>
          </a:p>
        </p:txBody>
      </p:sp>
      <p:sp>
        <p:nvSpPr>
          <p:cNvPr id="7" name="Shape 5"/>
          <p:cNvSpPr/>
          <p:nvPr/>
        </p:nvSpPr>
        <p:spPr>
          <a:xfrm>
            <a:off x="822960" y="2331720"/>
            <a:ext cx="1572768" cy="868680"/>
          </a:xfrm>
          <a:prstGeom prst="roundRect">
            <a:avLst>
              <a:gd name="adj" fmla="val 8421"/>
            </a:avLst>
          </a:prstGeom>
          <a:solidFill>
            <a:srgbClr val="FFFFFF"/>
          </a:solidFill>
          <a:ln w="12700">
            <a:solidFill>
              <a:srgbClr val="C9CEDD"/>
            </a:solidFill>
            <a:prstDash val="solid"/>
          </a:ln>
        </p:spPr>
      </p:sp>
      <p:sp>
        <p:nvSpPr>
          <p:cNvPr id="8" name="Text 6"/>
          <p:cNvSpPr txBox="1"/>
          <p:nvPr/>
        </p:nvSpPr>
        <p:spPr>
          <a:xfrm>
            <a:off x="896112" y="23774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Voice command</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phone’s speech recogniser</a:t>
            </a:r>
            <a:endParaRPr lang="en-US" sz="1250" dirty="0"/>
          </a:p>
        </p:txBody>
      </p:sp>
      <p:sp>
        <p:nvSpPr>
          <p:cNvPr id="9" name="Shape 7"/>
          <p:cNvSpPr/>
          <p:nvPr/>
        </p:nvSpPr>
        <p:spPr>
          <a:xfrm>
            <a:off x="2423160" y="2766060"/>
            <a:ext cx="237744" cy="0"/>
          </a:xfrm>
          <a:prstGeom prst="line">
            <a:avLst/>
          </a:prstGeom>
          <a:noFill/>
          <a:ln w="15875">
            <a:solidFill>
              <a:srgbClr val="5C637A"/>
            </a:solidFill>
            <a:prstDash val="solid"/>
            <a:tailEnd type="triangle"/>
          </a:ln>
        </p:spPr>
      </p:sp>
      <p:sp>
        <p:nvSpPr>
          <p:cNvPr id="10" name="Shape 8"/>
          <p:cNvSpPr/>
          <p:nvPr/>
        </p:nvSpPr>
        <p:spPr>
          <a:xfrm>
            <a:off x="2688336" y="2331720"/>
            <a:ext cx="1572768" cy="868680"/>
          </a:xfrm>
          <a:prstGeom prst="roundRect">
            <a:avLst>
              <a:gd name="adj" fmla="val 8421"/>
            </a:avLst>
          </a:prstGeom>
          <a:solidFill>
            <a:srgbClr val="FFFFFF"/>
          </a:solidFill>
          <a:ln w="12700">
            <a:solidFill>
              <a:srgbClr val="C9CEDD"/>
            </a:solidFill>
            <a:prstDash val="solid"/>
          </a:ln>
        </p:spPr>
      </p:sp>
      <p:sp>
        <p:nvSpPr>
          <p:cNvPr id="11" name="Text 9"/>
          <p:cNvSpPr txBox="1"/>
          <p:nvPr/>
        </p:nvSpPr>
        <p:spPr>
          <a:xfrm>
            <a:off x="2761488" y="23774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Recorder</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tap-capture overlay + UI-tree snapshot per tap</a:t>
            </a:r>
            <a:endParaRPr lang="en-US" sz="1250" dirty="0"/>
          </a:p>
        </p:txBody>
      </p:sp>
      <p:sp>
        <p:nvSpPr>
          <p:cNvPr id="12" name="Shape 10"/>
          <p:cNvSpPr/>
          <p:nvPr/>
        </p:nvSpPr>
        <p:spPr>
          <a:xfrm>
            <a:off x="4288536" y="2766060"/>
            <a:ext cx="237744" cy="0"/>
          </a:xfrm>
          <a:prstGeom prst="line">
            <a:avLst/>
          </a:prstGeom>
          <a:noFill/>
          <a:ln w="15875">
            <a:solidFill>
              <a:srgbClr val="5C637A"/>
            </a:solidFill>
            <a:prstDash val="solid"/>
            <a:tailEnd type="triangle"/>
          </a:ln>
        </p:spPr>
      </p:sp>
      <p:sp>
        <p:nvSpPr>
          <p:cNvPr id="13" name="Shape 11"/>
          <p:cNvSpPr/>
          <p:nvPr/>
        </p:nvSpPr>
        <p:spPr>
          <a:xfrm>
            <a:off x="4553712" y="2331720"/>
            <a:ext cx="1572768" cy="868680"/>
          </a:xfrm>
          <a:prstGeom prst="roundRect">
            <a:avLst>
              <a:gd name="adj" fmla="val 8421"/>
            </a:avLst>
          </a:prstGeom>
          <a:solidFill>
            <a:srgbClr val="FFFFFF"/>
          </a:solidFill>
          <a:ln w="12700">
            <a:solidFill>
              <a:srgbClr val="C9CEDD"/>
            </a:solidFill>
            <a:prstDash val="solid"/>
          </a:ln>
        </p:spPr>
      </p:sp>
      <p:sp>
        <p:nvSpPr>
          <p:cNvPr id="14" name="Text 12"/>
          <p:cNvSpPr txBox="1"/>
          <p:nvPr/>
        </p:nvSpPr>
        <p:spPr>
          <a:xfrm>
            <a:off x="4626864" y="23774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Generaliser</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slots from command words, card anchors</a:t>
            </a:r>
            <a:endParaRPr lang="en-US" sz="1250" dirty="0"/>
          </a:p>
        </p:txBody>
      </p:sp>
      <p:sp>
        <p:nvSpPr>
          <p:cNvPr id="15" name="Shape 13"/>
          <p:cNvSpPr/>
          <p:nvPr/>
        </p:nvSpPr>
        <p:spPr>
          <a:xfrm>
            <a:off x="6153912" y="2766060"/>
            <a:ext cx="237744" cy="0"/>
          </a:xfrm>
          <a:prstGeom prst="line">
            <a:avLst/>
          </a:prstGeom>
          <a:noFill/>
          <a:ln w="15875">
            <a:solidFill>
              <a:srgbClr val="5C637A"/>
            </a:solidFill>
            <a:prstDash val="solid"/>
            <a:tailEnd type="triangle"/>
          </a:ln>
        </p:spPr>
      </p:sp>
      <p:sp>
        <p:nvSpPr>
          <p:cNvPr id="16" name="Shape 14"/>
          <p:cNvSpPr/>
          <p:nvPr/>
        </p:nvSpPr>
        <p:spPr>
          <a:xfrm>
            <a:off x="6419088" y="2331720"/>
            <a:ext cx="1572768" cy="868680"/>
          </a:xfrm>
          <a:prstGeom prst="roundRect">
            <a:avLst>
              <a:gd name="adj" fmla="val 8421"/>
            </a:avLst>
          </a:prstGeom>
          <a:solidFill>
            <a:srgbClr val="FFFFFF"/>
          </a:solidFill>
          <a:ln w="12700">
            <a:solidFill>
              <a:srgbClr val="C9CEDD"/>
            </a:solidFill>
            <a:prstDash val="solid"/>
          </a:ln>
        </p:spPr>
      </p:sp>
      <p:sp>
        <p:nvSpPr>
          <p:cNvPr id="17" name="Text 15"/>
          <p:cNvSpPr txBox="1"/>
          <p:nvPr/>
        </p:nvSpPr>
        <p:spPr>
          <a:xfrm>
            <a:off x="6492240" y="23774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Refine</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slot names, step intents, noise, goals</a:t>
            </a:r>
            <a:endParaRPr lang="en-US" sz="1250" dirty="0"/>
          </a:p>
        </p:txBody>
      </p:sp>
      <p:sp>
        <p:nvSpPr>
          <p:cNvPr id="18" name="Shape 16"/>
          <p:cNvSpPr/>
          <p:nvPr/>
        </p:nvSpPr>
        <p:spPr>
          <a:xfrm>
            <a:off x="7534656" y="2212848"/>
            <a:ext cx="420624" cy="219456"/>
          </a:xfrm>
          <a:prstGeom prst="roundRect">
            <a:avLst>
              <a:gd name="adj" fmla="val 50000"/>
            </a:avLst>
          </a:prstGeom>
          <a:solidFill>
            <a:srgbClr val="FF5B3A"/>
          </a:solidFill>
          <a:ln w="12700">
            <a:solidFill>
              <a:srgbClr val="FF5B3A"/>
            </a:solidFill>
            <a:prstDash val="solid"/>
          </a:ln>
        </p:spPr>
      </p:sp>
      <p:sp>
        <p:nvSpPr>
          <p:cNvPr id="19" name="Text 17"/>
          <p:cNvSpPr txBox="1"/>
          <p:nvPr/>
        </p:nvSpPr>
        <p:spPr>
          <a:xfrm>
            <a:off x="7534656" y="2212848"/>
            <a:ext cx="42062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LLM</a:t>
            </a:r>
            <a:endParaRPr lang="en-US" sz="850" dirty="0"/>
          </a:p>
        </p:txBody>
      </p:sp>
      <p:sp>
        <p:nvSpPr>
          <p:cNvPr id="20" name="Shape 18"/>
          <p:cNvSpPr/>
          <p:nvPr/>
        </p:nvSpPr>
        <p:spPr>
          <a:xfrm>
            <a:off x="8019288" y="2766060"/>
            <a:ext cx="237744" cy="0"/>
          </a:xfrm>
          <a:prstGeom prst="line">
            <a:avLst/>
          </a:prstGeom>
          <a:noFill/>
          <a:ln w="15875">
            <a:solidFill>
              <a:srgbClr val="5C637A"/>
            </a:solidFill>
            <a:prstDash val="solid"/>
            <a:tailEnd type="triangle"/>
          </a:ln>
        </p:spPr>
      </p:sp>
      <p:sp>
        <p:nvSpPr>
          <p:cNvPr id="21" name="Shape 19"/>
          <p:cNvSpPr/>
          <p:nvPr/>
        </p:nvSpPr>
        <p:spPr>
          <a:xfrm>
            <a:off x="8284464" y="2331720"/>
            <a:ext cx="1572768" cy="868680"/>
          </a:xfrm>
          <a:prstGeom prst="roundRect">
            <a:avLst>
              <a:gd name="adj" fmla="val 8421"/>
            </a:avLst>
          </a:prstGeom>
          <a:solidFill>
            <a:srgbClr val="FFFFFF"/>
          </a:solidFill>
          <a:ln w="12700">
            <a:solidFill>
              <a:srgbClr val="C9CEDD"/>
            </a:solidFill>
            <a:prstDash val="solid"/>
          </a:ln>
        </p:spPr>
      </p:sp>
      <p:sp>
        <p:nvSpPr>
          <p:cNvPr id="22" name="Text 20"/>
          <p:cNvSpPr txBox="1"/>
          <p:nvPr/>
        </p:nvSpPr>
        <p:spPr>
          <a:xfrm>
            <a:off x="8357616" y="23774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User review</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steps shown in words; delete / re-teach</a:t>
            </a:r>
            <a:endParaRPr lang="en-US" sz="1250" dirty="0"/>
          </a:p>
        </p:txBody>
      </p:sp>
      <p:sp>
        <p:nvSpPr>
          <p:cNvPr id="23" name="Shape 21"/>
          <p:cNvSpPr/>
          <p:nvPr/>
        </p:nvSpPr>
        <p:spPr>
          <a:xfrm>
            <a:off x="9884664" y="2766060"/>
            <a:ext cx="237744" cy="0"/>
          </a:xfrm>
          <a:prstGeom prst="line">
            <a:avLst/>
          </a:prstGeom>
          <a:noFill/>
          <a:ln w="15875">
            <a:solidFill>
              <a:srgbClr val="5C637A"/>
            </a:solidFill>
            <a:prstDash val="solid"/>
            <a:tailEnd type="triangle"/>
          </a:ln>
        </p:spPr>
      </p:sp>
      <p:sp>
        <p:nvSpPr>
          <p:cNvPr id="24" name="Shape 22"/>
          <p:cNvSpPr/>
          <p:nvPr/>
        </p:nvSpPr>
        <p:spPr>
          <a:xfrm>
            <a:off x="10149840" y="2331720"/>
            <a:ext cx="1572768" cy="868680"/>
          </a:xfrm>
          <a:prstGeom prst="roundRect">
            <a:avLst>
              <a:gd name="adj" fmla="val 8421"/>
            </a:avLst>
          </a:prstGeom>
          <a:solidFill>
            <a:srgbClr val="121833"/>
          </a:solidFill>
          <a:ln w="12700">
            <a:solidFill>
              <a:srgbClr val="121833"/>
            </a:solidFill>
            <a:prstDash val="solid"/>
          </a:ln>
        </p:spPr>
      </p:sp>
      <p:sp>
        <p:nvSpPr>
          <p:cNvPr id="25" name="Text 23"/>
          <p:cNvSpPr txBox="1"/>
          <p:nvPr/>
        </p:nvSpPr>
        <p:spPr>
          <a:xfrm>
            <a:off x="10222992" y="2377440"/>
            <a:ext cx="1426464" cy="7772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Recipe store</a:t>
            </a:r>
            <a:endParaRPr lang="en-US" sz="1250" dirty="0"/>
          </a:p>
          <a:p>
            <a:pPr algn="ctr" indent="0" marL="0">
              <a:buNone/>
            </a:pPr>
            <a:r>
              <a:rPr lang="en-US" sz="1000" dirty="0">
                <a:solidFill>
                  <a:srgbClr val="C8CDE6"/>
                </a:solidFill>
                <a:latin typeface="Calibri" pitchFamily="34" charset="0"/>
                <a:ea typeface="Calibri" pitchFamily="34" charset="-122"/>
                <a:cs typeface="Calibri" pitchFamily="34" charset="-120"/>
              </a:rPr>
              <a:t>JSON on the phone</a:t>
            </a:r>
            <a:endParaRPr lang="en-US" sz="1250" dirty="0"/>
          </a:p>
        </p:txBody>
      </p:sp>
      <p:sp>
        <p:nvSpPr>
          <p:cNvPr id="26" name="Text 24"/>
          <p:cNvSpPr txBox="1"/>
          <p:nvPr/>
        </p:nvSpPr>
        <p:spPr>
          <a:xfrm>
            <a:off x="822960" y="3831336"/>
            <a:ext cx="2743200" cy="274320"/>
          </a:xfrm>
          <a:prstGeom prst="rect">
            <a:avLst/>
          </a:prstGeom>
          <a:noFill/>
          <a:ln/>
        </p:spPr>
        <p:txBody>
          <a:bodyPr wrap="square" lIns="0" tIns="0" rIns="0" bIns="0" rtlCol="0" anchor="ctr"/>
          <a:lstStyle/>
          <a:p>
            <a:pPr indent="0" marL="0">
              <a:buNone/>
            </a:pPr>
            <a:r>
              <a:rPr lang="en-US" sz="1300" b="1" dirty="0">
                <a:solidFill>
                  <a:srgbClr val="1A1F36"/>
                </a:solidFill>
                <a:latin typeface="Arial" pitchFamily="34" charset="0"/>
                <a:ea typeface="Arial" pitchFamily="34" charset="-122"/>
                <a:cs typeface="Arial" pitchFamily="34" charset="-120"/>
              </a:rPr>
              <a:t>Run on command</a:t>
            </a:r>
            <a:endParaRPr lang="en-US" sz="1300" dirty="0"/>
          </a:p>
        </p:txBody>
      </p:sp>
      <p:sp>
        <p:nvSpPr>
          <p:cNvPr id="27" name="Shape 25"/>
          <p:cNvSpPr/>
          <p:nvPr/>
        </p:nvSpPr>
        <p:spPr>
          <a:xfrm>
            <a:off x="822960" y="4160520"/>
            <a:ext cx="1572768" cy="868680"/>
          </a:xfrm>
          <a:prstGeom prst="roundRect">
            <a:avLst>
              <a:gd name="adj" fmla="val 8421"/>
            </a:avLst>
          </a:prstGeom>
          <a:solidFill>
            <a:srgbClr val="FFFFFF"/>
          </a:solidFill>
          <a:ln w="12700">
            <a:solidFill>
              <a:srgbClr val="C9CEDD"/>
            </a:solidFill>
            <a:prstDash val="solid"/>
          </a:ln>
        </p:spPr>
      </p:sp>
      <p:sp>
        <p:nvSpPr>
          <p:cNvPr id="28" name="Text 26"/>
          <p:cNvSpPr txBox="1"/>
          <p:nvPr/>
        </p:nvSpPr>
        <p:spPr>
          <a:xfrm>
            <a:off x="896112" y="42062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Voice command</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or typed</a:t>
            </a:r>
            <a:endParaRPr lang="en-US" sz="1250" dirty="0"/>
          </a:p>
        </p:txBody>
      </p:sp>
      <p:sp>
        <p:nvSpPr>
          <p:cNvPr id="29" name="Shape 27"/>
          <p:cNvSpPr/>
          <p:nvPr/>
        </p:nvSpPr>
        <p:spPr>
          <a:xfrm>
            <a:off x="2423160" y="4594860"/>
            <a:ext cx="237744" cy="0"/>
          </a:xfrm>
          <a:prstGeom prst="line">
            <a:avLst/>
          </a:prstGeom>
          <a:noFill/>
          <a:ln w="15875">
            <a:solidFill>
              <a:srgbClr val="5C637A"/>
            </a:solidFill>
            <a:prstDash val="solid"/>
            <a:tailEnd type="triangle"/>
          </a:ln>
        </p:spPr>
      </p:sp>
      <p:sp>
        <p:nvSpPr>
          <p:cNvPr id="30" name="Shape 28"/>
          <p:cNvSpPr/>
          <p:nvPr/>
        </p:nvSpPr>
        <p:spPr>
          <a:xfrm>
            <a:off x="2688336" y="4160520"/>
            <a:ext cx="1572768" cy="868680"/>
          </a:xfrm>
          <a:prstGeom prst="roundRect">
            <a:avLst>
              <a:gd name="adj" fmla="val 8421"/>
            </a:avLst>
          </a:prstGeom>
          <a:solidFill>
            <a:srgbClr val="FFFFFF"/>
          </a:solidFill>
          <a:ln w="12700">
            <a:solidFill>
              <a:srgbClr val="C9CEDD"/>
            </a:solidFill>
            <a:prstDash val="solid"/>
          </a:ln>
        </p:spPr>
      </p:sp>
      <p:sp>
        <p:nvSpPr>
          <p:cNvPr id="31" name="Text 29"/>
          <p:cNvSpPr txBox="1"/>
          <p:nvPr/>
        </p:nvSpPr>
        <p:spPr>
          <a:xfrm>
            <a:off x="2761488" y="42062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Matcher</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exact / template offline, else LLM → flow + slots + app</a:t>
            </a:r>
            <a:endParaRPr lang="en-US" sz="1250" dirty="0"/>
          </a:p>
        </p:txBody>
      </p:sp>
      <p:sp>
        <p:nvSpPr>
          <p:cNvPr id="32" name="Shape 30"/>
          <p:cNvSpPr/>
          <p:nvPr/>
        </p:nvSpPr>
        <p:spPr>
          <a:xfrm>
            <a:off x="3803904" y="4041648"/>
            <a:ext cx="420624" cy="219456"/>
          </a:xfrm>
          <a:prstGeom prst="roundRect">
            <a:avLst>
              <a:gd name="adj" fmla="val 50000"/>
            </a:avLst>
          </a:prstGeom>
          <a:solidFill>
            <a:srgbClr val="FF5B3A"/>
          </a:solidFill>
          <a:ln w="12700">
            <a:solidFill>
              <a:srgbClr val="FF5B3A"/>
            </a:solidFill>
            <a:prstDash val="solid"/>
          </a:ln>
        </p:spPr>
      </p:sp>
      <p:sp>
        <p:nvSpPr>
          <p:cNvPr id="33" name="Text 31"/>
          <p:cNvSpPr txBox="1"/>
          <p:nvPr/>
        </p:nvSpPr>
        <p:spPr>
          <a:xfrm>
            <a:off x="3803904" y="4041648"/>
            <a:ext cx="42062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LLM</a:t>
            </a:r>
            <a:endParaRPr lang="en-US" sz="850" dirty="0"/>
          </a:p>
        </p:txBody>
      </p:sp>
      <p:sp>
        <p:nvSpPr>
          <p:cNvPr id="34" name="Shape 32"/>
          <p:cNvSpPr/>
          <p:nvPr/>
        </p:nvSpPr>
        <p:spPr>
          <a:xfrm>
            <a:off x="4288536" y="4594860"/>
            <a:ext cx="237744" cy="0"/>
          </a:xfrm>
          <a:prstGeom prst="line">
            <a:avLst/>
          </a:prstGeom>
          <a:noFill/>
          <a:ln w="15875">
            <a:solidFill>
              <a:srgbClr val="5C637A"/>
            </a:solidFill>
            <a:prstDash val="solid"/>
            <a:tailEnd type="triangle"/>
          </a:ln>
        </p:spPr>
      </p:sp>
      <p:sp>
        <p:nvSpPr>
          <p:cNvPr id="35" name="Shape 33"/>
          <p:cNvSpPr/>
          <p:nvPr/>
        </p:nvSpPr>
        <p:spPr>
          <a:xfrm>
            <a:off x="4553712" y="4160520"/>
            <a:ext cx="1572768" cy="868680"/>
          </a:xfrm>
          <a:prstGeom prst="roundRect">
            <a:avLst>
              <a:gd name="adj" fmla="val 8421"/>
            </a:avLst>
          </a:prstGeom>
          <a:solidFill>
            <a:srgbClr val="FFFFFF"/>
          </a:solidFill>
          <a:ln w="12700">
            <a:solidFill>
              <a:srgbClr val="C9CEDD"/>
            </a:solidFill>
            <a:prstDash val="solid"/>
          </a:ln>
        </p:spPr>
      </p:sp>
      <p:sp>
        <p:nvSpPr>
          <p:cNvPr id="36" name="Text 34"/>
          <p:cNvSpPr txBox="1"/>
          <p:nvPr/>
        </p:nvSpPr>
        <p:spPr>
          <a:xfrm>
            <a:off x="4626864" y="42062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Executor</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fast path → scroll / search → LLM action → ask</a:t>
            </a:r>
            <a:endParaRPr lang="en-US" sz="1250" dirty="0"/>
          </a:p>
        </p:txBody>
      </p:sp>
      <p:sp>
        <p:nvSpPr>
          <p:cNvPr id="37" name="Shape 35"/>
          <p:cNvSpPr/>
          <p:nvPr/>
        </p:nvSpPr>
        <p:spPr>
          <a:xfrm>
            <a:off x="5669280" y="4041648"/>
            <a:ext cx="420624" cy="219456"/>
          </a:xfrm>
          <a:prstGeom prst="roundRect">
            <a:avLst>
              <a:gd name="adj" fmla="val 50000"/>
            </a:avLst>
          </a:prstGeom>
          <a:solidFill>
            <a:srgbClr val="FF5B3A"/>
          </a:solidFill>
          <a:ln w="12700">
            <a:solidFill>
              <a:srgbClr val="FF5B3A"/>
            </a:solidFill>
            <a:prstDash val="solid"/>
          </a:ln>
        </p:spPr>
      </p:sp>
      <p:sp>
        <p:nvSpPr>
          <p:cNvPr id="38" name="Text 36"/>
          <p:cNvSpPr txBox="1"/>
          <p:nvPr/>
        </p:nvSpPr>
        <p:spPr>
          <a:xfrm>
            <a:off x="5669280" y="4041648"/>
            <a:ext cx="42062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LLM</a:t>
            </a:r>
            <a:endParaRPr lang="en-US" sz="850" dirty="0"/>
          </a:p>
        </p:txBody>
      </p:sp>
      <p:sp>
        <p:nvSpPr>
          <p:cNvPr id="39" name="Shape 37"/>
          <p:cNvSpPr/>
          <p:nvPr/>
        </p:nvSpPr>
        <p:spPr>
          <a:xfrm>
            <a:off x="6153912" y="4594860"/>
            <a:ext cx="237744" cy="0"/>
          </a:xfrm>
          <a:prstGeom prst="line">
            <a:avLst/>
          </a:prstGeom>
          <a:noFill/>
          <a:ln w="15875">
            <a:solidFill>
              <a:srgbClr val="5C637A"/>
            </a:solidFill>
            <a:prstDash val="solid"/>
            <a:tailEnd type="triangle"/>
          </a:ln>
        </p:spPr>
      </p:sp>
      <p:sp>
        <p:nvSpPr>
          <p:cNvPr id="40" name="Shape 38"/>
          <p:cNvSpPr/>
          <p:nvPr/>
        </p:nvSpPr>
        <p:spPr>
          <a:xfrm>
            <a:off x="6419088" y="4160520"/>
            <a:ext cx="1572768" cy="868680"/>
          </a:xfrm>
          <a:prstGeom prst="roundRect">
            <a:avLst>
              <a:gd name="adj" fmla="val 8421"/>
            </a:avLst>
          </a:prstGeom>
          <a:solidFill>
            <a:srgbClr val="FFFFFF"/>
          </a:solidFill>
          <a:ln w="12700">
            <a:solidFill>
              <a:srgbClr val="C9CEDD"/>
            </a:solidFill>
            <a:prstDash val="solid"/>
          </a:ln>
        </p:spPr>
      </p:sp>
      <p:sp>
        <p:nvSpPr>
          <p:cNvPr id="41" name="Text 39"/>
          <p:cNvSpPr txBox="1"/>
          <p:nvPr/>
        </p:nvSpPr>
        <p:spPr>
          <a:xfrm>
            <a:off x="6492240" y="42062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Checks</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cart count, the right dish, not an advert</a:t>
            </a:r>
            <a:endParaRPr lang="en-US" sz="1250" dirty="0"/>
          </a:p>
        </p:txBody>
      </p:sp>
      <p:sp>
        <p:nvSpPr>
          <p:cNvPr id="42" name="Shape 40"/>
          <p:cNvSpPr/>
          <p:nvPr/>
        </p:nvSpPr>
        <p:spPr>
          <a:xfrm>
            <a:off x="8019288" y="4594860"/>
            <a:ext cx="237744" cy="0"/>
          </a:xfrm>
          <a:prstGeom prst="line">
            <a:avLst/>
          </a:prstGeom>
          <a:noFill/>
          <a:ln w="15875">
            <a:solidFill>
              <a:srgbClr val="5C637A"/>
            </a:solidFill>
            <a:prstDash val="solid"/>
            <a:tailEnd type="triangle"/>
          </a:ln>
        </p:spPr>
      </p:sp>
      <p:sp>
        <p:nvSpPr>
          <p:cNvPr id="43" name="Shape 41"/>
          <p:cNvSpPr/>
          <p:nvPr/>
        </p:nvSpPr>
        <p:spPr>
          <a:xfrm>
            <a:off x="8284464" y="4160520"/>
            <a:ext cx="1572768" cy="868680"/>
          </a:xfrm>
          <a:prstGeom prst="roundRect">
            <a:avLst>
              <a:gd name="adj" fmla="val 8421"/>
            </a:avLst>
          </a:prstGeom>
          <a:solidFill>
            <a:srgbClr val="FFFFFF"/>
          </a:solidFill>
          <a:ln w="12700">
            <a:solidFill>
              <a:srgbClr val="C9CEDD"/>
            </a:solidFill>
            <a:prstDash val="solid"/>
          </a:ln>
        </p:spPr>
      </p:sp>
      <p:sp>
        <p:nvSpPr>
          <p:cNvPr id="44" name="Text 42"/>
          <p:cNvSpPr txBox="1"/>
          <p:nvPr/>
        </p:nvSpPr>
        <p:spPr>
          <a:xfrm>
            <a:off x="8357616" y="4206240"/>
            <a:ext cx="1426464" cy="777240"/>
          </a:xfrm>
          <a:prstGeom prst="rect">
            <a:avLst/>
          </a:prstGeom>
          <a:noFill/>
          <a:ln/>
        </p:spPr>
        <p:txBody>
          <a:bodyPr wrap="square" lIns="0" tIns="0" rIns="0" bIns="0" rtlCol="0" anchor="ctr"/>
          <a:lstStyle/>
          <a:p>
            <a:pPr algn="ctr" indent="0" marL="0">
              <a:buNone/>
            </a:pPr>
            <a:r>
              <a:rPr lang="en-US" sz="1250" b="1" dirty="0">
                <a:solidFill>
                  <a:srgbClr val="1A1F36"/>
                </a:solidFill>
                <a:latin typeface="Calibri" pitchFamily="34" charset="0"/>
                <a:ea typeface="Calibri" pitchFamily="34" charset="-122"/>
                <a:cs typeface="Calibri" pitchFamily="34" charset="-120"/>
              </a:rPr>
              <a:t>Guard</a:t>
            </a:r>
            <a:endParaRPr lang="en-US" sz="1250" dirty="0"/>
          </a:p>
          <a:p>
            <a:pPr algn="ctr" indent="0" marL="0">
              <a:buNone/>
            </a:pPr>
            <a:r>
              <a:rPr lang="en-US" sz="1000" dirty="0">
                <a:solidFill>
                  <a:srgbClr val="5C637A"/>
                </a:solidFill>
                <a:latin typeface="Calibri" pitchFamily="34" charset="0"/>
                <a:ea typeface="Calibri" pitchFamily="34" charset="-122"/>
                <a:cs typeface="Calibri" pitchFamily="34" charset="-120"/>
              </a:rPr>
              <a:t>payment, login, OTP, password, closed shop</a:t>
            </a:r>
            <a:endParaRPr lang="en-US" sz="1250" dirty="0"/>
          </a:p>
        </p:txBody>
      </p:sp>
      <p:sp>
        <p:nvSpPr>
          <p:cNvPr id="45" name="Shape 43"/>
          <p:cNvSpPr/>
          <p:nvPr/>
        </p:nvSpPr>
        <p:spPr>
          <a:xfrm>
            <a:off x="9884664" y="4594860"/>
            <a:ext cx="237744" cy="0"/>
          </a:xfrm>
          <a:prstGeom prst="line">
            <a:avLst/>
          </a:prstGeom>
          <a:noFill/>
          <a:ln w="15875">
            <a:solidFill>
              <a:srgbClr val="5C637A"/>
            </a:solidFill>
            <a:prstDash val="solid"/>
            <a:tailEnd type="triangle"/>
          </a:ln>
        </p:spPr>
      </p:sp>
      <p:sp>
        <p:nvSpPr>
          <p:cNvPr id="46" name="Shape 44"/>
          <p:cNvSpPr/>
          <p:nvPr/>
        </p:nvSpPr>
        <p:spPr>
          <a:xfrm>
            <a:off x="10149840" y="4160520"/>
            <a:ext cx="1572768" cy="868680"/>
          </a:xfrm>
          <a:prstGeom prst="roundRect">
            <a:avLst>
              <a:gd name="adj" fmla="val 8421"/>
            </a:avLst>
          </a:prstGeom>
          <a:solidFill>
            <a:srgbClr val="FF5B3A"/>
          </a:solidFill>
          <a:ln w="12700">
            <a:solidFill>
              <a:srgbClr val="FF5B3A"/>
            </a:solidFill>
            <a:prstDash val="solid"/>
          </a:ln>
        </p:spPr>
      </p:sp>
      <p:sp>
        <p:nvSpPr>
          <p:cNvPr id="47" name="Text 45"/>
          <p:cNvSpPr txBox="1"/>
          <p:nvPr/>
        </p:nvSpPr>
        <p:spPr>
          <a:xfrm>
            <a:off x="10222992" y="4206240"/>
            <a:ext cx="1426464" cy="7772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Done / hand back</a:t>
            </a:r>
            <a:endParaRPr lang="en-US" sz="1250" dirty="0"/>
          </a:p>
          <a:p>
            <a:pPr algn="ctr" indent="0" marL="0">
              <a:buNone/>
            </a:pPr>
            <a:r>
              <a:rPr lang="en-US" sz="1000" dirty="0">
                <a:solidFill>
                  <a:srgbClr val="C8CDE6"/>
                </a:solidFill>
                <a:latin typeface="Calibri" pitchFamily="34" charset="0"/>
                <a:ea typeface="Calibri" pitchFamily="34" charset="-122"/>
                <a:cs typeface="Calibri" pitchFamily="34" charset="-120"/>
              </a:rPr>
              <a:t>spoken reply + run log</a:t>
            </a:r>
            <a:endParaRPr lang="en-US" sz="1250" dirty="0"/>
          </a:p>
        </p:txBody>
      </p:sp>
      <p:sp>
        <p:nvSpPr>
          <p:cNvPr id="48" name="Shape 46"/>
          <p:cNvSpPr/>
          <p:nvPr/>
        </p:nvSpPr>
        <p:spPr>
          <a:xfrm>
            <a:off x="10936224" y="3200400"/>
            <a:ext cx="0" cy="457200"/>
          </a:xfrm>
          <a:prstGeom prst="line">
            <a:avLst/>
          </a:prstGeom>
          <a:noFill/>
          <a:ln w="15875">
            <a:solidFill>
              <a:srgbClr val="121833"/>
            </a:solidFill>
            <a:prstDash val="dash"/>
          </a:ln>
        </p:spPr>
      </p:sp>
      <p:sp>
        <p:nvSpPr>
          <p:cNvPr id="49" name="Shape 47"/>
          <p:cNvSpPr/>
          <p:nvPr/>
        </p:nvSpPr>
        <p:spPr>
          <a:xfrm>
            <a:off x="5340096" y="3657600"/>
            <a:ext cx="5596128" cy="0"/>
          </a:xfrm>
          <a:prstGeom prst="line">
            <a:avLst/>
          </a:prstGeom>
          <a:noFill/>
          <a:ln w="15875">
            <a:solidFill>
              <a:srgbClr val="121833"/>
            </a:solidFill>
            <a:prstDash val="dash"/>
          </a:ln>
        </p:spPr>
      </p:sp>
      <p:sp>
        <p:nvSpPr>
          <p:cNvPr id="50" name="Shape 48"/>
          <p:cNvSpPr/>
          <p:nvPr/>
        </p:nvSpPr>
        <p:spPr>
          <a:xfrm>
            <a:off x="5340096" y="3657600"/>
            <a:ext cx="0" cy="438912"/>
          </a:xfrm>
          <a:prstGeom prst="line">
            <a:avLst/>
          </a:prstGeom>
          <a:noFill/>
          <a:ln w="15875">
            <a:solidFill>
              <a:srgbClr val="121833"/>
            </a:solidFill>
            <a:prstDash val="dash"/>
            <a:tailEnd type="triangle"/>
          </a:ln>
        </p:spPr>
      </p:sp>
      <p:sp>
        <p:nvSpPr>
          <p:cNvPr id="51" name="Shape 49"/>
          <p:cNvSpPr/>
          <p:nvPr/>
        </p:nvSpPr>
        <p:spPr>
          <a:xfrm>
            <a:off x="548640" y="5577840"/>
            <a:ext cx="11094415" cy="566928"/>
          </a:xfrm>
          <a:prstGeom prst="roundRect">
            <a:avLst>
              <a:gd name="adj" fmla="val 16129"/>
            </a:avLst>
          </a:prstGeom>
          <a:solidFill>
            <a:srgbClr val="FFFFFF"/>
          </a:solidFill>
          <a:ln w="15875">
            <a:solidFill>
              <a:srgbClr val="FF5B3A"/>
            </a:solidFill>
            <a:prstDash val="dash"/>
          </a:ln>
        </p:spPr>
      </p:sp>
      <p:sp>
        <p:nvSpPr>
          <p:cNvPr id="52" name="Shape 50"/>
          <p:cNvSpPr/>
          <p:nvPr/>
        </p:nvSpPr>
        <p:spPr>
          <a:xfrm>
            <a:off x="685800" y="5641848"/>
            <a:ext cx="438912" cy="438912"/>
          </a:xfrm>
          <a:prstGeom prst="ellipse">
            <a:avLst/>
          </a:prstGeom>
          <a:solidFill>
            <a:srgbClr val="FF5B3A"/>
          </a:solidFill>
          <a:ln w="12700">
            <a:solidFill>
              <a:srgbClr val="FF5B3A"/>
            </a:solidFill>
            <a:prstDash val="solid"/>
          </a:ln>
        </p:spPr>
      </p:sp>
      <p:pic>
        <p:nvPicPr>
          <p:cNvPr id="53" name="Image 0" descr="preencoded.png">    </p:cNvPr>
          <p:cNvPicPr>
            <a:picLocks noChangeAspect="1"/>
          </p:cNvPicPr>
          <p:nvPr/>
        </p:nvPicPr>
        <p:blipFill>
          <a:blip r:embed="rId1"/>
          <a:stretch>
            <a:fillRect/>
          </a:stretch>
        </p:blipFill>
        <p:spPr>
          <a:xfrm>
            <a:off x="782361" y="5738409"/>
            <a:ext cx="245791" cy="245791"/>
          </a:xfrm>
          <a:prstGeom prst="rect">
            <a:avLst/>
          </a:prstGeom>
        </p:spPr>
      </p:pic>
      <p:sp>
        <p:nvSpPr>
          <p:cNvPr id="54" name="Text 51"/>
          <p:cNvSpPr txBox="1"/>
          <p:nvPr/>
        </p:nvSpPr>
        <p:spPr>
          <a:xfrm>
            <a:off x="1280160" y="5577840"/>
            <a:ext cx="10180015" cy="566928"/>
          </a:xfrm>
          <a:prstGeom prst="rect">
            <a:avLst/>
          </a:prstGeom>
          <a:noFill/>
          <a:ln/>
        </p:spPr>
        <p:txBody>
          <a:bodyPr wrap="square" lIns="0" tIns="0" rIns="0" bIns="0" rtlCol="0" anchor="ctr"/>
          <a:lstStyle/>
          <a:p>
            <a:pPr indent="0" marL="0">
              <a:buNone/>
            </a:pPr>
            <a:r>
              <a:rPr lang="en-US" sz="1300" b="1" dirty="0">
                <a:solidFill>
                  <a:srgbClr val="1A1F36"/>
                </a:solidFill>
                <a:latin typeface="Calibri" pitchFamily="34" charset="0"/>
                <a:ea typeface="Calibri" pitchFamily="34" charset="-122"/>
                <a:cs typeface="Calibri" pitchFamily="34" charset="-120"/>
              </a:rPr>
              <a:t>Fireworks AI · gpt-oss-120b  </a:t>
            </a:r>
            <a:pPr indent="0" marL="0">
              <a:buNone/>
            </a:pPr>
            <a:r>
              <a:rPr lang="en-US" sz="1300" dirty="0">
                <a:solidFill>
                  <a:srgbClr val="5C637A"/>
                </a:solidFill>
                <a:latin typeface="Calibri" pitchFamily="34" charset="0"/>
                <a:ea typeface="Calibri" pitchFamily="34" charset="-122"/>
                <a:cs typeface="Calibri" pitchFamily="34" charset="-120"/>
              </a:rPr>
              <a:t>— the only network call: refine a demo once, understand a paraphrase, choose one action on an unfamiliar screen. About 1–2 s each.</a:t>
            </a:r>
            <a:endParaRPr lang="en-US" sz="1300" dirty="0"/>
          </a:p>
        </p:txBody>
      </p:sp>
      <p:sp>
        <p:nvSpPr>
          <p:cNvPr id="56" name="Text 52"/>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57" name="Text 53"/>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HOW IT WORKS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Speech to intent, UI capture, generalisation, slots, replay</a:t>
            </a:r>
            <a:endParaRPr lang="en-US" sz="3000" dirty="0"/>
          </a:p>
        </p:txBody>
      </p:sp>
      <p:sp>
        <p:nvSpPr>
          <p:cNvPr id="4" name="Shape 2"/>
          <p:cNvSpPr/>
          <p:nvPr/>
        </p:nvSpPr>
        <p:spPr>
          <a:xfrm>
            <a:off x="548640" y="1609344"/>
            <a:ext cx="566928" cy="566928"/>
          </a:xfrm>
          <a:prstGeom prst="ellipse">
            <a:avLst/>
          </a:prstGeom>
          <a:solidFill>
            <a:srgbClr val="121833"/>
          </a:solidFill>
          <a:ln w="12700">
            <a:solidFill>
              <a:srgbClr val="121833"/>
            </a:solidFill>
            <a:prstDash val="solid"/>
          </a:ln>
        </p:spPr>
      </p:sp>
      <p:pic>
        <p:nvPicPr>
          <p:cNvPr id="5" name="Image 0" descr="preencoded.png">    </p:cNvPr>
          <p:cNvPicPr>
            <a:picLocks noChangeAspect="1"/>
          </p:cNvPicPr>
          <p:nvPr/>
        </p:nvPicPr>
        <p:blipFill>
          <a:blip r:embed="rId1"/>
          <a:stretch>
            <a:fillRect/>
          </a:stretch>
        </p:blipFill>
        <p:spPr>
          <a:xfrm>
            <a:off x="673364" y="1734068"/>
            <a:ext cx="317480" cy="317480"/>
          </a:xfrm>
          <a:prstGeom prst="rect">
            <a:avLst/>
          </a:prstGeom>
        </p:spPr>
      </p:pic>
      <p:sp>
        <p:nvSpPr>
          <p:cNvPr id="6" name="Text 3"/>
          <p:cNvSpPr txBox="1"/>
          <p:nvPr/>
        </p:nvSpPr>
        <p:spPr>
          <a:xfrm>
            <a:off x="1325880" y="1627632"/>
            <a:ext cx="2148840" cy="45720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Speech → intent</a:t>
            </a:r>
            <a:endParaRPr lang="en-US" sz="1500" dirty="0"/>
          </a:p>
        </p:txBody>
      </p:sp>
      <p:sp>
        <p:nvSpPr>
          <p:cNvPr id="7" name="Text 4"/>
          <p:cNvSpPr txBox="1"/>
          <p:nvPr/>
        </p:nvSpPr>
        <p:spPr>
          <a:xfrm>
            <a:off x="3520440" y="1536192"/>
            <a:ext cx="8122615" cy="786384"/>
          </a:xfrm>
          <a:prstGeom prst="rect">
            <a:avLst/>
          </a:prstGeom>
          <a:noFill/>
          <a:ln/>
        </p:spPr>
        <p:txBody>
          <a:bodyPr wrap="square" lIns="0" tIns="0" rIns="0" bIns="0" rtlCol="0" anchor="ctr"/>
          <a:lstStyle/>
          <a:p>
            <a:pPr indent="0" marL="0">
              <a:buNone/>
            </a:pPr>
            <a:r>
              <a:rPr lang="en-US" sz="1300" dirty="0">
                <a:solidFill>
                  <a:srgbClr val="5C637A"/>
                </a:solidFill>
                <a:latin typeface="Calibri" pitchFamily="34" charset="0"/>
                <a:ea typeface="Calibri" pitchFamily="34" charset="-122"/>
                <a:cs typeface="Calibri" pitchFamily="34" charset="-120"/>
              </a:rPr>
              <a:t>The phone’s recogniser (English, India) gives text. Exact and template matches run offline in milliseconds; paraphrases, Hinglish, missing values and “did the last run succeed?” go to the LLM, which returns flow, slot values, app and confidence as JSON.</a:t>
            </a:r>
            <a:endParaRPr lang="en-US" sz="1300" dirty="0"/>
          </a:p>
        </p:txBody>
      </p:sp>
      <p:sp>
        <p:nvSpPr>
          <p:cNvPr id="8" name="Shape 5"/>
          <p:cNvSpPr/>
          <p:nvPr/>
        </p:nvSpPr>
        <p:spPr>
          <a:xfrm>
            <a:off x="1325880" y="2404872"/>
            <a:ext cx="10317175" cy="0"/>
          </a:xfrm>
          <a:prstGeom prst="line">
            <a:avLst/>
          </a:prstGeom>
          <a:noFill/>
          <a:ln w="9525">
            <a:solidFill>
              <a:srgbClr val="E2E5EE"/>
            </a:solidFill>
            <a:prstDash val="solid"/>
          </a:ln>
        </p:spPr>
      </p:sp>
      <p:sp>
        <p:nvSpPr>
          <p:cNvPr id="9" name="Shape 6"/>
          <p:cNvSpPr/>
          <p:nvPr/>
        </p:nvSpPr>
        <p:spPr>
          <a:xfrm>
            <a:off x="548640" y="2523744"/>
            <a:ext cx="566928" cy="566928"/>
          </a:xfrm>
          <a:prstGeom prst="ellipse">
            <a:avLst/>
          </a:prstGeom>
          <a:solidFill>
            <a:srgbClr val="121833"/>
          </a:solidFill>
          <a:ln w="12700">
            <a:solidFill>
              <a:srgbClr val="121833"/>
            </a:solidFill>
            <a:prstDash val="solid"/>
          </a:ln>
        </p:spPr>
      </p:sp>
      <p:pic>
        <p:nvPicPr>
          <p:cNvPr id="10" name="Image 1" descr="preencoded.png">    </p:cNvPr>
          <p:cNvPicPr>
            <a:picLocks noChangeAspect="1"/>
          </p:cNvPicPr>
          <p:nvPr/>
        </p:nvPicPr>
        <p:blipFill>
          <a:blip r:embed="rId2"/>
          <a:stretch>
            <a:fillRect/>
          </a:stretch>
        </p:blipFill>
        <p:spPr>
          <a:xfrm>
            <a:off x="673364" y="2648468"/>
            <a:ext cx="317480" cy="317480"/>
          </a:xfrm>
          <a:prstGeom prst="rect">
            <a:avLst/>
          </a:prstGeom>
        </p:spPr>
      </p:pic>
      <p:sp>
        <p:nvSpPr>
          <p:cNvPr id="11" name="Text 7"/>
          <p:cNvSpPr txBox="1"/>
          <p:nvPr/>
        </p:nvSpPr>
        <p:spPr>
          <a:xfrm>
            <a:off x="1325880" y="2542032"/>
            <a:ext cx="2148840" cy="45720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UI-tree capture</a:t>
            </a:r>
            <a:endParaRPr lang="en-US" sz="1500" dirty="0"/>
          </a:p>
        </p:txBody>
      </p:sp>
      <p:sp>
        <p:nvSpPr>
          <p:cNvPr id="12" name="Text 8"/>
          <p:cNvSpPr txBox="1"/>
          <p:nvPr/>
        </p:nvSpPr>
        <p:spPr>
          <a:xfrm>
            <a:off x="3520440" y="2450592"/>
            <a:ext cx="8122615" cy="786384"/>
          </a:xfrm>
          <a:prstGeom prst="rect">
            <a:avLst/>
          </a:prstGeom>
          <a:noFill/>
          <a:ln/>
        </p:spPr>
        <p:txBody>
          <a:bodyPr wrap="square" lIns="0" tIns="0" rIns="0" bIns="0" rtlCol="0" anchor="ctr"/>
          <a:lstStyle/>
          <a:p>
            <a:pPr indent="0" marL="0">
              <a:buNone/>
            </a:pPr>
            <a:r>
              <a:rPr lang="en-US" sz="1300" dirty="0">
                <a:solidFill>
                  <a:srgbClr val="5C637A"/>
                </a:solidFill>
                <a:latin typeface="Calibri" pitchFamily="34" charset="0"/>
                <a:ea typeface="Calibri" pitchFamily="34" charset="-122"/>
                <a:cs typeface="Calibri" pitchFamily="34" charset="-120"/>
              </a:rPr>
              <a:t>Just before each demo tap reaches the app, every window’s accessibility tree is snapshotted and the touch is hit-tested the way Android dispatches it — so taps are captured on Jetpack Compose screens and web views that report none.</a:t>
            </a:r>
            <a:endParaRPr lang="en-US" sz="1300" dirty="0"/>
          </a:p>
        </p:txBody>
      </p:sp>
      <p:sp>
        <p:nvSpPr>
          <p:cNvPr id="13" name="Shape 9"/>
          <p:cNvSpPr/>
          <p:nvPr/>
        </p:nvSpPr>
        <p:spPr>
          <a:xfrm>
            <a:off x="1325880" y="3319272"/>
            <a:ext cx="10317175" cy="0"/>
          </a:xfrm>
          <a:prstGeom prst="line">
            <a:avLst/>
          </a:prstGeom>
          <a:noFill/>
          <a:ln w="9525">
            <a:solidFill>
              <a:srgbClr val="E2E5EE"/>
            </a:solidFill>
            <a:prstDash val="solid"/>
          </a:ln>
        </p:spPr>
      </p:sp>
      <p:sp>
        <p:nvSpPr>
          <p:cNvPr id="14" name="Shape 10"/>
          <p:cNvSpPr/>
          <p:nvPr/>
        </p:nvSpPr>
        <p:spPr>
          <a:xfrm>
            <a:off x="548640" y="3438144"/>
            <a:ext cx="566928" cy="566928"/>
          </a:xfrm>
          <a:prstGeom prst="ellipse">
            <a:avLst/>
          </a:prstGeom>
          <a:solidFill>
            <a:srgbClr val="121833"/>
          </a:solidFill>
          <a:ln w="12700">
            <a:solidFill>
              <a:srgbClr val="121833"/>
            </a:solidFill>
            <a:prstDash val="solid"/>
          </a:ln>
        </p:spPr>
      </p:sp>
      <p:pic>
        <p:nvPicPr>
          <p:cNvPr id="15" name="Image 2" descr="preencoded.png">    </p:cNvPr>
          <p:cNvPicPr>
            <a:picLocks noChangeAspect="1"/>
          </p:cNvPicPr>
          <p:nvPr/>
        </p:nvPicPr>
        <p:blipFill>
          <a:blip r:embed="rId3"/>
          <a:stretch>
            <a:fillRect/>
          </a:stretch>
        </p:blipFill>
        <p:spPr>
          <a:xfrm>
            <a:off x="673364" y="3562868"/>
            <a:ext cx="317480" cy="317480"/>
          </a:xfrm>
          <a:prstGeom prst="rect">
            <a:avLst/>
          </a:prstGeom>
        </p:spPr>
      </p:pic>
      <p:sp>
        <p:nvSpPr>
          <p:cNvPr id="16" name="Text 11"/>
          <p:cNvSpPr txBox="1"/>
          <p:nvPr/>
        </p:nvSpPr>
        <p:spPr>
          <a:xfrm>
            <a:off x="1325880" y="3456432"/>
            <a:ext cx="2148840" cy="45720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Generalisation</a:t>
            </a:r>
            <a:endParaRPr lang="en-US" sz="1500" dirty="0"/>
          </a:p>
        </p:txBody>
      </p:sp>
      <p:sp>
        <p:nvSpPr>
          <p:cNvPr id="17" name="Text 12"/>
          <p:cNvSpPr txBox="1"/>
          <p:nvPr/>
        </p:nvSpPr>
        <p:spPr>
          <a:xfrm>
            <a:off x="3520440" y="3364992"/>
            <a:ext cx="8122615" cy="786384"/>
          </a:xfrm>
          <a:prstGeom prst="rect">
            <a:avLst/>
          </a:prstGeom>
          <a:noFill/>
          <a:ln/>
        </p:spPr>
        <p:txBody>
          <a:bodyPr wrap="square" lIns="0" tIns="0" rIns="0" bIns="0" rtlCol="0" anchor="ctr"/>
          <a:lstStyle/>
          <a:p>
            <a:pPr indent="0" marL="0">
              <a:buNone/>
            </a:pPr>
            <a:r>
              <a:rPr lang="en-US" sz="1300" dirty="0">
                <a:solidFill>
                  <a:srgbClr val="5C637A"/>
                </a:solidFill>
                <a:latin typeface="Calibri" pitchFamily="34" charset="0"/>
                <a:ea typeface="Calibri" pitchFamily="34" charset="-122"/>
                <a:cs typeface="Calibri" pitchFamily="34" charset="-120"/>
              </a:rPr>
              <a:t>Each step keeps the element, the card it sits in (“ADD next to Margherita”), its position and a plain-language intent. Mis-taps, an answered call and a filter the task didn’t need are marked as noise.</a:t>
            </a:r>
            <a:endParaRPr lang="en-US" sz="1300" dirty="0"/>
          </a:p>
        </p:txBody>
      </p:sp>
      <p:sp>
        <p:nvSpPr>
          <p:cNvPr id="18" name="Shape 13"/>
          <p:cNvSpPr/>
          <p:nvPr/>
        </p:nvSpPr>
        <p:spPr>
          <a:xfrm>
            <a:off x="1325880" y="4233672"/>
            <a:ext cx="10317175" cy="0"/>
          </a:xfrm>
          <a:prstGeom prst="line">
            <a:avLst/>
          </a:prstGeom>
          <a:noFill/>
          <a:ln w="9525">
            <a:solidFill>
              <a:srgbClr val="E2E5EE"/>
            </a:solidFill>
            <a:prstDash val="solid"/>
          </a:ln>
        </p:spPr>
      </p:sp>
      <p:sp>
        <p:nvSpPr>
          <p:cNvPr id="19" name="Shape 14"/>
          <p:cNvSpPr/>
          <p:nvPr/>
        </p:nvSpPr>
        <p:spPr>
          <a:xfrm>
            <a:off x="548640" y="4352544"/>
            <a:ext cx="566928" cy="566928"/>
          </a:xfrm>
          <a:prstGeom prst="ellipse">
            <a:avLst/>
          </a:prstGeom>
          <a:solidFill>
            <a:srgbClr val="121833"/>
          </a:solidFill>
          <a:ln w="12700">
            <a:solidFill>
              <a:srgbClr val="121833"/>
            </a:solidFill>
            <a:prstDash val="solid"/>
          </a:ln>
        </p:spPr>
      </p:sp>
      <p:pic>
        <p:nvPicPr>
          <p:cNvPr id="20" name="Image 3" descr="preencoded.png">    </p:cNvPr>
          <p:cNvPicPr>
            <a:picLocks noChangeAspect="1"/>
          </p:cNvPicPr>
          <p:nvPr/>
        </p:nvPicPr>
        <p:blipFill>
          <a:blip r:embed="rId4"/>
          <a:stretch>
            <a:fillRect/>
          </a:stretch>
        </p:blipFill>
        <p:spPr>
          <a:xfrm>
            <a:off x="673364" y="4477268"/>
            <a:ext cx="317480" cy="317480"/>
          </a:xfrm>
          <a:prstGeom prst="rect">
            <a:avLst/>
          </a:prstGeom>
        </p:spPr>
      </p:pic>
      <p:sp>
        <p:nvSpPr>
          <p:cNvPr id="21" name="Text 15"/>
          <p:cNvSpPr txBox="1"/>
          <p:nvPr/>
        </p:nvSpPr>
        <p:spPr>
          <a:xfrm>
            <a:off x="1325880" y="4370832"/>
            <a:ext cx="2148840" cy="45720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Slot extraction</a:t>
            </a:r>
            <a:endParaRPr lang="en-US" sz="1500" dirty="0"/>
          </a:p>
        </p:txBody>
      </p:sp>
      <p:sp>
        <p:nvSpPr>
          <p:cNvPr id="22" name="Text 16"/>
          <p:cNvSpPr txBox="1"/>
          <p:nvPr/>
        </p:nvSpPr>
        <p:spPr>
          <a:xfrm>
            <a:off x="3520440" y="4279392"/>
            <a:ext cx="8122615" cy="786384"/>
          </a:xfrm>
          <a:prstGeom prst="rect">
            <a:avLst/>
          </a:prstGeom>
          <a:noFill/>
          <a:ln/>
        </p:spPr>
        <p:txBody>
          <a:bodyPr wrap="square" lIns="0" tIns="0" rIns="0" bIns="0" rtlCol="0" anchor="ctr"/>
          <a:lstStyle/>
          <a:p>
            <a:pPr indent="0" marL="0">
              <a:buNone/>
            </a:pPr>
            <a:r>
              <a:rPr lang="en-US" sz="1300" dirty="0">
                <a:solidFill>
                  <a:srgbClr val="5C637A"/>
                </a:solidFill>
                <a:latin typeface="Calibri" pitchFamily="34" charset="0"/>
                <a:ea typeface="Calibri" pitchFamily="34" charset="-122"/>
                <a:cs typeface="Calibri" pitchFamily="34" charset="-120"/>
              </a:rPr>
              <a:t>A command word that reappears in typed text, a tapped label or the tapped card becomes a slot. The LLM adds goals the demo didn’t show — quantity, delivery address — and where to apply them.</a:t>
            </a:r>
            <a:endParaRPr lang="en-US" sz="1300" dirty="0"/>
          </a:p>
        </p:txBody>
      </p:sp>
      <p:sp>
        <p:nvSpPr>
          <p:cNvPr id="23" name="Shape 17"/>
          <p:cNvSpPr/>
          <p:nvPr/>
        </p:nvSpPr>
        <p:spPr>
          <a:xfrm>
            <a:off x="1325880" y="5148072"/>
            <a:ext cx="10317175" cy="0"/>
          </a:xfrm>
          <a:prstGeom prst="line">
            <a:avLst/>
          </a:prstGeom>
          <a:noFill/>
          <a:ln w="9525">
            <a:solidFill>
              <a:srgbClr val="E2E5EE"/>
            </a:solidFill>
            <a:prstDash val="solid"/>
          </a:ln>
        </p:spPr>
      </p:sp>
      <p:sp>
        <p:nvSpPr>
          <p:cNvPr id="24" name="Shape 18"/>
          <p:cNvSpPr/>
          <p:nvPr/>
        </p:nvSpPr>
        <p:spPr>
          <a:xfrm>
            <a:off x="548640" y="5266944"/>
            <a:ext cx="566928" cy="566928"/>
          </a:xfrm>
          <a:prstGeom prst="ellipse">
            <a:avLst/>
          </a:prstGeom>
          <a:solidFill>
            <a:srgbClr val="FF5B3A"/>
          </a:solidFill>
          <a:ln w="12700">
            <a:solidFill>
              <a:srgbClr val="FF5B3A"/>
            </a:solidFill>
            <a:prstDash val="solid"/>
          </a:ln>
        </p:spPr>
      </p:sp>
      <p:pic>
        <p:nvPicPr>
          <p:cNvPr id="25" name="Image 4" descr="preencoded.png">    </p:cNvPr>
          <p:cNvPicPr>
            <a:picLocks noChangeAspect="1"/>
          </p:cNvPicPr>
          <p:nvPr/>
        </p:nvPicPr>
        <p:blipFill>
          <a:blip r:embed="rId5"/>
          <a:stretch>
            <a:fillRect/>
          </a:stretch>
        </p:blipFill>
        <p:spPr>
          <a:xfrm>
            <a:off x="673364" y="5391668"/>
            <a:ext cx="317480" cy="317480"/>
          </a:xfrm>
          <a:prstGeom prst="rect">
            <a:avLst/>
          </a:prstGeom>
        </p:spPr>
      </p:pic>
      <p:sp>
        <p:nvSpPr>
          <p:cNvPr id="26" name="Text 19"/>
          <p:cNvSpPr txBox="1"/>
          <p:nvPr/>
        </p:nvSpPr>
        <p:spPr>
          <a:xfrm>
            <a:off x="1325880" y="5285232"/>
            <a:ext cx="2148840" cy="457200"/>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Replay</a:t>
            </a:r>
            <a:endParaRPr lang="en-US" sz="1500" dirty="0"/>
          </a:p>
        </p:txBody>
      </p:sp>
      <p:sp>
        <p:nvSpPr>
          <p:cNvPr id="27" name="Text 20"/>
          <p:cNvSpPr txBox="1"/>
          <p:nvPr/>
        </p:nvSpPr>
        <p:spPr>
          <a:xfrm>
            <a:off x="3520440" y="5193792"/>
            <a:ext cx="8122615" cy="786384"/>
          </a:xfrm>
          <a:prstGeom prst="rect">
            <a:avLst/>
          </a:prstGeom>
          <a:noFill/>
          <a:ln/>
        </p:spPr>
        <p:txBody>
          <a:bodyPr wrap="square" lIns="0" tIns="0" rIns="0" bIns="0" rtlCol="0" anchor="ctr"/>
          <a:lstStyle/>
          <a:p>
            <a:pPr indent="0" marL="0">
              <a:buNone/>
            </a:pPr>
            <a:r>
              <a:rPr lang="en-US" sz="1300" dirty="0">
                <a:solidFill>
                  <a:srgbClr val="5C637A"/>
                </a:solidFill>
                <a:latin typeface="Calibri" pitchFamily="34" charset="0"/>
                <a:ea typeface="Calibri" pitchFamily="34" charset="-122"/>
                <a:cs typeface="Calibri" pitchFamily="34" charset="-120"/>
              </a:rPr>
              <a:t>A scored matcher finds each step’s element on the live screen by label, id, card and position. Only when nothing is clearly ahead does the LLM choose one action; every step needs proof on screen before the next.</a:t>
            </a:r>
            <a:endParaRPr lang="en-US" sz="1300" dirty="0"/>
          </a:p>
        </p:txBody>
      </p:sp>
      <p:sp>
        <p:nvSpPr>
          <p:cNvPr id="29" name="Text 21"/>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0" name="Text 22"/>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REPLAY ENGINE</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Cheapest step first; the language model only when needed</a:t>
            </a:r>
            <a:endParaRPr lang="en-US" sz="3000" dirty="0"/>
          </a:p>
        </p:txBody>
      </p:sp>
      <p:sp>
        <p:nvSpPr>
          <p:cNvPr id="4" name="Shape 2"/>
          <p:cNvSpPr/>
          <p:nvPr/>
        </p:nvSpPr>
        <p:spPr>
          <a:xfrm>
            <a:off x="548640" y="4800600"/>
            <a:ext cx="1097280" cy="914400"/>
          </a:xfrm>
          <a:prstGeom prst="rect">
            <a:avLst/>
          </a:prstGeom>
          <a:solidFill>
            <a:srgbClr val="0E9F8A"/>
          </a:solidFill>
          <a:ln w="12700">
            <a:solidFill>
              <a:srgbClr val="0E9F8A"/>
            </a:solidFill>
            <a:prstDash val="solid"/>
          </a:ln>
        </p:spPr>
      </p:sp>
      <p:sp>
        <p:nvSpPr>
          <p:cNvPr id="5" name="Text 3"/>
          <p:cNvSpPr txBox="1"/>
          <p:nvPr/>
        </p:nvSpPr>
        <p:spPr>
          <a:xfrm>
            <a:off x="548640" y="4873752"/>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530352" y="3886200"/>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Fast path</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scored match, no network</a:t>
            </a:r>
            <a:endParaRPr lang="en-US" sz="1150" dirty="0"/>
          </a:p>
        </p:txBody>
      </p:sp>
      <p:sp>
        <p:nvSpPr>
          <p:cNvPr id="7" name="Shape 5"/>
          <p:cNvSpPr/>
          <p:nvPr/>
        </p:nvSpPr>
        <p:spPr>
          <a:xfrm>
            <a:off x="1719072" y="4325112"/>
            <a:ext cx="1097280" cy="1389888"/>
          </a:xfrm>
          <a:prstGeom prst="rect">
            <a:avLst/>
          </a:prstGeom>
          <a:solidFill>
            <a:srgbClr val="121833"/>
          </a:solidFill>
          <a:ln w="12700">
            <a:solidFill>
              <a:srgbClr val="121833"/>
            </a:solidFill>
            <a:prstDash val="solid"/>
          </a:ln>
        </p:spPr>
      </p:sp>
      <p:sp>
        <p:nvSpPr>
          <p:cNvPr id="8" name="Text 6"/>
          <p:cNvSpPr txBox="1"/>
          <p:nvPr/>
        </p:nvSpPr>
        <p:spPr>
          <a:xfrm>
            <a:off x="1719072" y="4398264"/>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700784" y="3410712"/>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Scroll, search the page</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thumb-style swipes; the menu’s own search</a:t>
            </a:r>
            <a:endParaRPr lang="en-US" sz="1150" dirty="0"/>
          </a:p>
        </p:txBody>
      </p:sp>
      <p:sp>
        <p:nvSpPr>
          <p:cNvPr id="10" name="Shape 8"/>
          <p:cNvSpPr/>
          <p:nvPr/>
        </p:nvSpPr>
        <p:spPr>
          <a:xfrm>
            <a:off x="2889504" y="3849624"/>
            <a:ext cx="1097280" cy="1865376"/>
          </a:xfrm>
          <a:prstGeom prst="rect">
            <a:avLst/>
          </a:prstGeom>
          <a:solidFill>
            <a:srgbClr val="121833"/>
          </a:solidFill>
          <a:ln w="12700">
            <a:solidFill>
              <a:srgbClr val="121833"/>
            </a:solidFill>
            <a:prstDash val="solid"/>
          </a:ln>
        </p:spPr>
      </p:sp>
      <p:sp>
        <p:nvSpPr>
          <p:cNvPr id="11" name="Text 9"/>
          <p:cNvSpPr txBox="1"/>
          <p:nvPr/>
        </p:nvSpPr>
        <p:spPr>
          <a:xfrm>
            <a:off x="2889504" y="3922776"/>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2" name="Text 10"/>
          <p:cNvSpPr txBox="1"/>
          <p:nvPr/>
        </p:nvSpPr>
        <p:spPr>
          <a:xfrm>
            <a:off x="2871216" y="2935224"/>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Open the first real result</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in another app; skips Sponsored / AD</a:t>
            </a:r>
            <a:endParaRPr lang="en-US" sz="1150" dirty="0"/>
          </a:p>
        </p:txBody>
      </p:sp>
      <p:sp>
        <p:nvSpPr>
          <p:cNvPr id="13" name="Shape 11"/>
          <p:cNvSpPr/>
          <p:nvPr/>
        </p:nvSpPr>
        <p:spPr>
          <a:xfrm>
            <a:off x="4059936" y="3374136"/>
            <a:ext cx="1097280" cy="2340864"/>
          </a:xfrm>
          <a:prstGeom prst="rect">
            <a:avLst/>
          </a:prstGeom>
          <a:solidFill>
            <a:srgbClr val="222B55"/>
          </a:solidFill>
          <a:ln w="12700">
            <a:solidFill>
              <a:srgbClr val="222B55"/>
            </a:solidFill>
            <a:prstDash val="solid"/>
          </a:ln>
        </p:spPr>
      </p:sp>
      <p:sp>
        <p:nvSpPr>
          <p:cNvPr id="14" name="Text 12"/>
          <p:cNvSpPr txBox="1"/>
          <p:nvPr/>
        </p:nvSpPr>
        <p:spPr>
          <a:xfrm>
            <a:off x="4059936" y="3447288"/>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5" name="Text 13"/>
          <p:cNvSpPr txBox="1"/>
          <p:nvPr/>
        </p:nvSpPr>
        <p:spPr>
          <a:xfrm>
            <a:off x="4041648" y="2459736"/>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LLM picks one action</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dismiss a pop-up, pick an outlet</a:t>
            </a:r>
            <a:endParaRPr lang="en-US" sz="1150" dirty="0"/>
          </a:p>
        </p:txBody>
      </p:sp>
      <p:sp>
        <p:nvSpPr>
          <p:cNvPr id="16" name="Shape 14"/>
          <p:cNvSpPr/>
          <p:nvPr/>
        </p:nvSpPr>
        <p:spPr>
          <a:xfrm>
            <a:off x="5230368" y="2898648"/>
            <a:ext cx="1097280" cy="2816352"/>
          </a:xfrm>
          <a:prstGeom prst="rect">
            <a:avLst/>
          </a:prstGeom>
          <a:solidFill>
            <a:srgbClr val="FF5B3A"/>
          </a:solidFill>
          <a:ln w="12700">
            <a:solidFill>
              <a:srgbClr val="FF5B3A"/>
            </a:solidFill>
            <a:prstDash val="solid"/>
          </a:ln>
        </p:spPr>
      </p:sp>
      <p:sp>
        <p:nvSpPr>
          <p:cNvPr id="17" name="Text 15"/>
          <p:cNvSpPr txBox="1"/>
          <p:nvPr/>
        </p:nvSpPr>
        <p:spPr>
          <a:xfrm>
            <a:off x="5230368" y="2971800"/>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18" name="Text 16"/>
          <p:cNvSpPr txBox="1"/>
          <p:nvPr/>
        </p:nvSpPr>
        <p:spPr>
          <a:xfrm>
            <a:off x="5212080" y="1984248"/>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Ask one question</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“Which restaurant?” “Which size?”</a:t>
            </a:r>
            <a:endParaRPr lang="en-US" sz="1150" dirty="0"/>
          </a:p>
        </p:txBody>
      </p:sp>
      <p:sp>
        <p:nvSpPr>
          <p:cNvPr id="19" name="Shape 17"/>
          <p:cNvSpPr/>
          <p:nvPr/>
        </p:nvSpPr>
        <p:spPr>
          <a:xfrm>
            <a:off x="6400800" y="2423160"/>
            <a:ext cx="1097280" cy="3291840"/>
          </a:xfrm>
          <a:prstGeom prst="rect">
            <a:avLst/>
          </a:prstGeom>
          <a:solidFill>
            <a:srgbClr val="FF5B3A"/>
          </a:solidFill>
          <a:ln w="12700">
            <a:solidFill>
              <a:srgbClr val="FF5B3A"/>
            </a:solidFill>
            <a:prstDash val="solid"/>
          </a:ln>
        </p:spPr>
      </p:sp>
      <p:sp>
        <p:nvSpPr>
          <p:cNvPr id="20" name="Text 18"/>
          <p:cNvSpPr txBox="1"/>
          <p:nvPr/>
        </p:nvSpPr>
        <p:spPr>
          <a:xfrm>
            <a:off x="6400800" y="2496312"/>
            <a:ext cx="109728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1" name="Text 19"/>
          <p:cNvSpPr txBox="1"/>
          <p:nvPr/>
        </p:nvSpPr>
        <p:spPr>
          <a:xfrm>
            <a:off x="6382512" y="1508760"/>
            <a:ext cx="1133856" cy="868680"/>
          </a:xfrm>
          <a:prstGeom prst="rect">
            <a:avLst/>
          </a:prstGeom>
          <a:noFill/>
          <a:ln/>
        </p:spPr>
        <p:txBody>
          <a:bodyPr wrap="square" lIns="0" tIns="0" rIns="0" bIns="0" rtlCol="0" anchor="b"/>
          <a:lstStyle/>
          <a:p>
            <a:pPr algn="ctr" indent="0" marL="0">
              <a:buNone/>
            </a:pPr>
            <a:r>
              <a:rPr lang="en-US" sz="1150" b="1" dirty="0">
                <a:solidFill>
                  <a:srgbClr val="1A1F36"/>
                </a:solidFill>
                <a:latin typeface="Calibri" pitchFamily="34" charset="0"/>
                <a:ea typeface="Calibri" pitchFamily="34" charset="-122"/>
                <a:cs typeface="Calibri" pitchFamily="34" charset="-120"/>
              </a:rPr>
              <a:t>Hand back</a:t>
            </a:r>
            <a:endParaRPr lang="en-US" sz="1150" dirty="0"/>
          </a:p>
          <a:p>
            <a:pPr algn="ctr" indent="0" marL="0">
              <a:buNone/>
            </a:pPr>
            <a:r>
              <a:rPr lang="en-US" sz="1000" dirty="0">
                <a:solidFill>
                  <a:srgbClr val="5C637A"/>
                </a:solidFill>
                <a:latin typeface="Calibri" pitchFamily="34" charset="0"/>
                <a:ea typeface="Calibri" pitchFamily="34" charset="-122"/>
                <a:cs typeface="Calibri" pitchFamily="34" charset="-120"/>
              </a:rPr>
              <a:t>“…before paying. Your turn.”</a:t>
            </a:r>
            <a:endParaRPr lang="en-US" sz="1150" dirty="0"/>
          </a:p>
        </p:txBody>
      </p:sp>
      <p:sp>
        <p:nvSpPr>
          <p:cNvPr id="22" name="Text 20"/>
          <p:cNvSpPr txBox="1"/>
          <p:nvPr/>
        </p:nvSpPr>
        <p:spPr>
          <a:xfrm>
            <a:off x="548640" y="5788152"/>
            <a:ext cx="7022592" cy="274320"/>
          </a:xfrm>
          <a:prstGeom prst="rect">
            <a:avLst/>
          </a:prstGeom>
          <a:noFill/>
          <a:ln/>
        </p:spPr>
        <p:txBody>
          <a:bodyPr wrap="square" lIns="0" tIns="0" rIns="0" bIns="0" rtlCol="0" anchor="ctr"/>
          <a:lstStyle/>
          <a:p>
            <a:pPr algn="r" indent="0" marL="0">
              <a:buNone/>
            </a:pPr>
            <a:r>
              <a:rPr lang="en-US" sz="1100" i="1" dirty="0">
                <a:solidFill>
                  <a:srgbClr val="5C637A"/>
                </a:solidFill>
                <a:latin typeface="Calibri" pitchFamily="34" charset="0"/>
                <a:ea typeface="Calibri" pitchFamily="34" charset="-122"/>
                <a:cs typeface="Calibri" pitchFamily="34" charset="-120"/>
              </a:rPr>
              <a:t>cost and latency  →</a:t>
            </a:r>
            <a:endParaRPr lang="en-US" sz="1100" dirty="0"/>
          </a:p>
        </p:txBody>
      </p:sp>
      <p:sp>
        <p:nvSpPr>
          <p:cNvPr id="23" name="Shape 21"/>
          <p:cNvSpPr/>
          <p:nvPr/>
        </p:nvSpPr>
        <p:spPr>
          <a:xfrm>
            <a:off x="7818120" y="1554480"/>
            <a:ext cx="3822192" cy="1234440"/>
          </a:xfrm>
          <a:prstGeom prst="roundRect">
            <a:avLst>
              <a:gd name="adj" fmla="val 8889"/>
            </a:avLst>
          </a:prstGeom>
          <a:solidFill>
            <a:srgbClr val="F4F5FA"/>
          </a:solidFill>
          <a:ln w="12700">
            <a:solidFill>
              <a:srgbClr val="F4F5FA"/>
            </a:solidFill>
            <a:prstDash val="solid"/>
          </a:ln>
        </p:spPr>
      </p:sp>
      <p:sp>
        <p:nvSpPr>
          <p:cNvPr id="24" name="Text 22"/>
          <p:cNvSpPr txBox="1"/>
          <p:nvPr/>
        </p:nvSpPr>
        <p:spPr>
          <a:xfrm>
            <a:off x="8046720" y="1664208"/>
            <a:ext cx="3474720" cy="566928"/>
          </a:xfrm>
          <a:prstGeom prst="rect">
            <a:avLst/>
          </a:prstGeom>
          <a:noFill/>
          <a:ln/>
        </p:spPr>
        <p:txBody>
          <a:bodyPr wrap="square" lIns="0" tIns="0" rIns="0" bIns="0" rtlCol="0" anchor="ctr"/>
          <a:lstStyle/>
          <a:p>
            <a:pPr indent="0" marL="0">
              <a:buNone/>
            </a:pPr>
            <a:r>
              <a:rPr lang="en-US" sz="3400" b="1" dirty="0">
                <a:solidFill>
                  <a:srgbClr val="0E9F8A"/>
                </a:solidFill>
                <a:latin typeface="Arial" pitchFamily="34" charset="0"/>
                <a:ea typeface="Arial" pitchFamily="34" charset="-122"/>
                <a:cs typeface="Arial" pitchFamily="34" charset="-120"/>
              </a:rPr>
              <a:t>0</a:t>
            </a:r>
            <a:endParaRPr lang="en-US" sz="3400" dirty="0"/>
          </a:p>
        </p:txBody>
      </p:sp>
      <p:sp>
        <p:nvSpPr>
          <p:cNvPr id="25" name="Text 23"/>
          <p:cNvSpPr txBox="1"/>
          <p:nvPr/>
        </p:nvSpPr>
        <p:spPr>
          <a:xfrm>
            <a:off x="8046720" y="2231136"/>
            <a:ext cx="3474720" cy="502920"/>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LLM calls on the judges’ Zomato sentence, in all 8 runs (31–47 s each)</a:t>
            </a:r>
            <a:endParaRPr lang="en-US" sz="1250" dirty="0"/>
          </a:p>
        </p:txBody>
      </p:sp>
      <p:sp>
        <p:nvSpPr>
          <p:cNvPr id="26" name="Shape 24"/>
          <p:cNvSpPr/>
          <p:nvPr/>
        </p:nvSpPr>
        <p:spPr>
          <a:xfrm>
            <a:off x="7818120" y="2971800"/>
            <a:ext cx="3822192" cy="1234440"/>
          </a:xfrm>
          <a:prstGeom prst="roundRect">
            <a:avLst>
              <a:gd name="adj" fmla="val 8889"/>
            </a:avLst>
          </a:prstGeom>
          <a:solidFill>
            <a:srgbClr val="F4F5FA"/>
          </a:solidFill>
          <a:ln w="12700">
            <a:solidFill>
              <a:srgbClr val="F4F5FA"/>
            </a:solidFill>
            <a:prstDash val="solid"/>
          </a:ln>
        </p:spPr>
      </p:sp>
      <p:sp>
        <p:nvSpPr>
          <p:cNvPr id="27" name="Text 25"/>
          <p:cNvSpPr txBox="1"/>
          <p:nvPr/>
        </p:nvSpPr>
        <p:spPr>
          <a:xfrm>
            <a:off x="8046720" y="3081528"/>
            <a:ext cx="3474720" cy="566928"/>
          </a:xfrm>
          <a:prstGeom prst="rect">
            <a:avLst/>
          </a:prstGeom>
          <a:noFill/>
          <a:ln/>
        </p:spPr>
        <p:txBody>
          <a:bodyPr wrap="square" lIns="0" tIns="0" rIns="0" bIns="0" rtlCol="0" anchor="ctr"/>
          <a:lstStyle/>
          <a:p>
            <a:pPr indent="0" marL="0">
              <a:buNone/>
            </a:pPr>
            <a:r>
              <a:rPr lang="en-US" sz="3400" b="1" dirty="0">
                <a:solidFill>
                  <a:srgbClr val="0E9F8A"/>
                </a:solidFill>
                <a:latin typeface="Arial" pitchFamily="34" charset="0"/>
                <a:ea typeface="Arial" pitchFamily="34" charset="-122"/>
                <a:cs typeface="Arial" pitchFamily="34" charset="-120"/>
              </a:rPr>
              <a:t>35 / 38</a:t>
            </a:r>
            <a:endParaRPr lang="en-US" sz="3400" dirty="0"/>
          </a:p>
        </p:txBody>
      </p:sp>
      <p:sp>
        <p:nvSpPr>
          <p:cNvPr id="28" name="Text 26"/>
          <p:cNvSpPr txBox="1"/>
          <p:nvPr/>
        </p:nvSpPr>
        <p:spPr>
          <a:xfrm>
            <a:off x="8046720" y="3648456"/>
            <a:ext cx="3474720" cy="502920"/>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Zomato steps replayed without the LLM across the first six test commands</a:t>
            </a:r>
            <a:endParaRPr lang="en-US" sz="1250" dirty="0"/>
          </a:p>
        </p:txBody>
      </p:sp>
      <p:sp>
        <p:nvSpPr>
          <p:cNvPr id="29" name="Shape 27"/>
          <p:cNvSpPr/>
          <p:nvPr/>
        </p:nvSpPr>
        <p:spPr>
          <a:xfrm>
            <a:off x="7818120" y="4389120"/>
            <a:ext cx="3822192" cy="1234440"/>
          </a:xfrm>
          <a:prstGeom prst="roundRect">
            <a:avLst>
              <a:gd name="adj" fmla="val 8889"/>
            </a:avLst>
          </a:prstGeom>
          <a:solidFill>
            <a:srgbClr val="F4F5FA"/>
          </a:solidFill>
          <a:ln w="12700">
            <a:solidFill>
              <a:srgbClr val="F4F5FA"/>
            </a:solidFill>
            <a:prstDash val="solid"/>
          </a:ln>
        </p:spPr>
      </p:sp>
      <p:sp>
        <p:nvSpPr>
          <p:cNvPr id="30" name="Text 28"/>
          <p:cNvSpPr txBox="1"/>
          <p:nvPr/>
        </p:nvSpPr>
        <p:spPr>
          <a:xfrm>
            <a:off x="8046720" y="4498848"/>
            <a:ext cx="3474720" cy="566928"/>
          </a:xfrm>
          <a:prstGeom prst="rect">
            <a:avLst/>
          </a:prstGeom>
          <a:noFill/>
          <a:ln/>
        </p:spPr>
        <p:txBody>
          <a:bodyPr wrap="square" lIns="0" tIns="0" rIns="0" bIns="0" rtlCol="0" anchor="ctr"/>
          <a:lstStyle/>
          <a:p>
            <a:pPr indent="0" marL="0">
              <a:buNone/>
            </a:pPr>
            <a:r>
              <a:rPr lang="en-US" sz="3400" b="1" dirty="0">
                <a:solidFill>
                  <a:srgbClr val="FF5B3A"/>
                </a:solidFill>
                <a:latin typeface="Arial" pitchFamily="34" charset="0"/>
                <a:ea typeface="Arial" pitchFamily="34" charset="-122"/>
                <a:cs typeface="Arial" pitchFamily="34" charset="-120"/>
              </a:rPr>
              <a:t>≤ 5 s</a:t>
            </a:r>
            <a:endParaRPr lang="en-US" sz="3400" dirty="0"/>
          </a:p>
        </p:txBody>
      </p:sp>
      <p:sp>
        <p:nvSpPr>
          <p:cNvPr id="31" name="Text 29"/>
          <p:cNvSpPr txBox="1"/>
          <p:nvPr/>
        </p:nvSpPr>
        <p:spPr>
          <a:xfrm>
            <a:off x="8046720" y="5065776"/>
            <a:ext cx="3474720" cy="502920"/>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to stop and say why when the app is signed out (2.8 s) or switched to Hindi (5 s) — no taps</a:t>
            </a:r>
            <a:endParaRPr lang="en-US" sz="1250" dirty="0"/>
          </a:p>
        </p:txBody>
      </p:sp>
      <p:sp>
        <p:nvSpPr>
          <p:cNvPr id="33" name="Text 3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4" name="Text 31"/>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CORRECT AND SAFE</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Every step needs proof. Money and logins stay with you.</a:t>
            </a:r>
            <a:endParaRPr lang="en-US" sz="3000" dirty="0"/>
          </a:p>
        </p:txBody>
      </p:sp>
      <p:sp>
        <p:nvSpPr>
          <p:cNvPr id="4" name="Shape 2"/>
          <p:cNvSpPr/>
          <p:nvPr/>
        </p:nvSpPr>
        <p:spPr>
          <a:xfrm>
            <a:off x="548640" y="1554480"/>
            <a:ext cx="4160520" cy="4526280"/>
          </a:xfrm>
          <a:prstGeom prst="roundRect">
            <a:avLst>
              <a:gd name="adj" fmla="val 2637"/>
            </a:avLst>
          </a:prstGeom>
          <a:solidFill>
            <a:srgbClr val="F4F5FA"/>
          </a:solidFill>
          <a:ln w="12700">
            <a:solidFill>
              <a:srgbClr val="F4F5FA"/>
            </a:solidFill>
            <a:prstDash val="solid"/>
          </a:ln>
        </p:spPr>
      </p:sp>
      <p:sp>
        <p:nvSpPr>
          <p:cNvPr id="5" name="Text 3"/>
          <p:cNvSpPr txBox="1"/>
          <p:nvPr/>
        </p:nvSpPr>
        <p:spPr>
          <a:xfrm>
            <a:off x="822960" y="1737360"/>
            <a:ext cx="3657600" cy="365760"/>
          </a:xfrm>
          <a:prstGeom prst="rect">
            <a:avLst/>
          </a:prstGeom>
          <a:noFill/>
          <a:ln/>
        </p:spPr>
        <p:txBody>
          <a:bodyPr wrap="square" lIns="0" tIns="0" rIns="0" bIns="0" rtlCol="0" anchor="ctr"/>
          <a:lstStyle/>
          <a:p>
            <a:pPr indent="0" marL="0">
              <a:buNone/>
            </a:pPr>
            <a:r>
              <a:rPr lang="en-US" sz="1700" b="1" dirty="0">
                <a:solidFill>
                  <a:srgbClr val="0E9F8A"/>
                </a:solidFill>
                <a:latin typeface="Arial" pitchFamily="34" charset="0"/>
                <a:ea typeface="Arial" pitchFamily="34" charset="-122"/>
                <a:cs typeface="Arial" pitchFamily="34" charset="-120"/>
              </a:rPr>
              <a:t>Proof before “done”</a:t>
            </a:r>
            <a:endParaRPr lang="en-US" sz="1700" dirty="0"/>
          </a:p>
        </p:txBody>
      </p:sp>
      <p:pic>
        <p:nvPicPr>
          <p:cNvPr id="6" name="Image 0" descr="preencoded.png">    </p:cNvPr>
          <p:cNvPicPr>
            <a:picLocks noChangeAspect="1"/>
          </p:cNvPicPr>
          <p:nvPr/>
        </p:nvPicPr>
        <p:blipFill>
          <a:blip r:embed="rId1"/>
          <a:stretch>
            <a:fillRect/>
          </a:stretch>
        </p:blipFill>
        <p:spPr>
          <a:xfrm>
            <a:off x="822960" y="2276856"/>
            <a:ext cx="292608" cy="292608"/>
          </a:xfrm>
          <a:prstGeom prst="rect">
            <a:avLst/>
          </a:prstGeom>
        </p:spPr>
      </p:pic>
      <p:sp>
        <p:nvSpPr>
          <p:cNvPr id="7" name="Text 4"/>
          <p:cNvSpPr txBox="1"/>
          <p:nvPr/>
        </p:nvSpPr>
        <p:spPr>
          <a:xfrm>
            <a:off x="1234440" y="2240280"/>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The cart or bag count went up</a:t>
            </a:r>
            <a:endParaRPr lang="en-US" sz="1400" dirty="0"/>
          </a:p>
        </p:txBody>
      </p:sp>
      <p:pic>
        <p:nvPicPr>
          <p:cNvPr id="8" name="Image 1" descr="preencoded.png">    </p:cNvPr>
          <p:cNvPicPr>
            <a:picLocks noChangeAspect="1"/>
          </p:cNvPicPr>
          <p:nvPr/>
        </p:nvPicPr>
        <p:blipFill>
          <a:blip r:embed="rId2"/>
          <a:stretch>
            <a:fillRect/>
          </a:stretch>
        </p:blipFill>
        <p:spPr>
          <a:xfrm>
            <a:off x="822960" y="2889504"/>
            <a:ext cx="292608" cy="292608"/>
          </a:xfrm>
          <a:prstGeom prst="rect">
            <a:avLst/>
          </a:prstGeom>
        </p:spPr>
      </p:pic>
      <p:sp>
        <p:nvSpPr>
          <p:cNvPr id="9" name="Text 5"/>
          <p:cNvSpPr txBox="1"/>
          <p:nvPr/>
        </p:nvSpPr>
        <p:spPr>
          <a:xfrm>
            <a:off x="1234440" y="2852928"/>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The item’s card now shows − 1 +</a:t>
            </a:r>
            <a:endParaRPr lang="en-US" sz="1400" dirty="0"/>
          </a:p>
        </p:txBody>
      </p:sp>
      <p:pic>
        <p:nvPicPr>
          <p:cNvPr id="10" name="Image 2" descr="preencoded.png">    </p:cNvPr>
          <p:cNvPicPr>
            <a:picLocks noChangeAspect="1"/>
          </p:cNvPicPr>
          <p:nvPr/>
        </p:nvPicPr>
        <p:blipFill>
          <a:blip r:embed="rId3"/>
          <a:stretch>
            <a:fillRect/>
          </a:stretch>
        </p:blipFill>
        <p:spPr>
          <a:xfrm>
            <a:off x="822960" y="3502152"/>
            <a:ext cx="292608" cy="292608"/>
          </a:xfrm>
          <a:prstGeom prst="rect">
            <a:avLst/>
          </a:prstGeom>
        </p:spPr>
      </p:pic>
      <p:sp>
        <p:nvSpPr>
          <p:cNvPr id="11" name="Text 6"/>
          <p:cNvSpPr txBox="1"/>
          <p:nvPr/>
        </p:nvSpPr>
        <p:spPr>
          <a:xfrm>
            <a:off x="1234440" y="3465576"/>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The next step’s button is on screen</a:t>
            </a:r>
            <a:endParaRPr lang="en-US" sz="1400" dirty="0"/>
          </a:p>
        </p:txBody>
      </p:sp>
      <p:pic>
        <p:nvPicPr>
          <p:cNvPr id="12" name="Image 3" descr="preencoded.png">    </p:cNvPr>
          <p:cNvPicPr>
            <a:picLocks noChangeAspect="1"/>
          </p:cNvPicPr>
          <p:nvPr/>
        </p:nvPicPr>
        <p:blipFill>
          <a:blip r:embed="rId4"/>
          <a:stretch>
            <a:fillRect/>
          </a:stretch>
        </p:blipFill>
        <p:spPr>
          <a:xfrm>
            <a:off x="822960" y="4114800"/>
            <a:ext cx="292608" cy="292608"/>
          </a:xfrm>
          <a:prstGeom prst="rect">
            <a:avLst/>
          </a:prstGeom>
        </p:spPr>
      </p:pic>
      <p:sp>
        <p:nvSpPr>
          <p:cNvPr id="13" name="Text 7"/>
          <p:cNvSpPr txBox="1"/>
          <p:nvPr/>
        </p:nvSpPr>
        <p:spPr>
          <a:xfrm>
            <a:off x="1234440" y="4078224"/>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The options sheet names the dish asked for</a:t>
            </a:r>
            <a:endParaRPr lang="en-US" sz="1400" dirty="0"/>
          </a:p>
        </p:txBody>
      </p:sp>
      <p:pic>
        <p:nvPicPr>
          <p:cNvPr id="14" name="Image 4" descr="preencoded.png">    </p:cNvPr>
          <p:cNvPicPr>
            <a:picLocks noChangeAspect="1"/>
          </p:cNvPicPr>
          <p:nvPr/>
        </p:nvPicPr>
        <p:blipFill>
          <a:blip r:embed="rId5"/>
          <a:stretch>
            <a:fillRect/>
          </a:stretch>
        </p:blipFill>
        <p:spPr>
          <a:xfrm>
            <a:off x="822960" y="4727448"/>
            <a:ext cx="292608" cy="292608"/>
          </a:xfrm>
          <a:prstGeom prst="rect">
            <a:avLst/>
          </a:prstGeom>
        </p:spPr>
      </p:pic>
      <p:sp>
        <p:nvSpPr>
          <p:cNvPr id="15" name="Text 8"/>
          <p:cNvSpPr txBox="1"/>
          <p:nvPr/>
        </p:nvSpPr>
        <p:spPr>
          <a:xfrm>
            <a:off x="1234440" y="4690872"/>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“First result” skips Sponsored / AD cards</a:t>
            </a:r>
            <a:endParaRPr lang="en-US" sz="1400" dirty="0"/>
          </a:p>
        </p:txBody>
      </p:sp>
      <p:pic>
        <p:nvPicPr>
          <p:cNvPr id="16" name="Image 5" descr="preencoded.png">    </p:cNvPr>
          <p:cNvPicPr>
            <a:picLocks noChangeAspect="1"/>
          </p:cNvPicPr>
          <p:nvPr/>
        </p:nvPicPr>
        <p:blipFill>
          <a:blip r:embed="rId6"/>
          <a:stretch>
            <a:fillRect/>
          </a:stretch>
        </p:blipFill>
        <p:spPr>
          <a:xfrm>
            <a:off x="822960" y="5340096"/>
            <a:ext cx="292608" cy="292608"/>
          </a:xfrm>
          <a:prstGeom prst="rect">
            <a:avLst/>
          </a:prstGeom>
        </p:spPr>
      </p:pic>
      <p:sp>
        <p:nvSpPr>
          <p:cNvPr id="17" name="Text 9"/>
          <p:cNvSpPr txBox="1"/>
          <p:nvPr/>
        </p:nvSpPr>
        <p:spPr>
          <a:xfrm>
            <a:off x="1234440" y="5303520"/>
            <a:ext cx="3383280" cy="384048"/>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One add per run — never a second product</a:t>
            </a:r>
            <a:endParaRPr lang="en-US" sz="1400" dirty="0"/>
          </a:p>
        </p:txBody>
      </p:sp>
      <p:sp>
        <p:nvSpPr>
          <p:cNvPr id="18" name="Shape 10"/>
          <p:cNvSpPr/>
          <p:nvPr/>
        </p:nvSpPr>
        <p:spPr>
          <a:xfrm>
            <a:off x="4937760" y="1554480"/>
            <a:ext cx="4160520" cy="4526280"/>
          </a:xfrm>
          <a:prstGeom prst="roundRect">
            <a:avLst>
              <a:gd name="adj" fmla="val 2637"/>
            </a:avLst>
          </a:prstGeom>
          <a:solidFill>
            <a:srgbClr val="121833"/>
          </a:solidFill>
          <a:ln w="12700">
            <a:solidFill>
              <a:srgbClr val="121833"/>
            </a:solidFill>
            <a:prstDash val="solid"/>
          </a:ln>
        </p:spPr>
      </p:sp>
      <p:sp>
        <p:nvSpPr>
          <p:cNvPr id="19" name="Text 11"/>
          <p:cNvSpPr txBox="1"/>
          <p:nvPr/>
        </p:nvSpPr>
        <p:spPr>
          <a:xfrm>
            <a:off x="5212080" y="1737360"/>
            <a:ext cx="3657600" cy="365760"/>
          </a:xfrm>
          <a:prstGeom prst="rect">
            <a:avLst/>
          </a:prstGeom>
          <a:noFill/>
          <a:ln/>
        </p:spPr>
        <p:txBody>
          <a:bodyPr wrap="square" lIns="0" tIns="0" rIns="0" bIns="0" rtlCol="0" anchor="ctr"/>
          <a:lstStyle/>
          <a:p>
            <a:pPr indent="0" marL="0">
              <a:buNone/>
            </a:pPr>
            <a:r>
              <a:rPr lang="en-US" sz="1700" b="1" dirty="0">
                <a:solidFill>
                  <a:srgbClr val="FF5B3A"/>
                </a:solidFill>
                <a:latin typeface="Arial" pitchFamily="34" charset="0"/>
                <a:ea typeface="Arial" pitchFamily="34" charset="-122"/>
                <a:cs typeface="Arial" pitchFamily="34" charset="-120"/>
              </a:rPr>
              <a:t>Always hands back</a:t>
            </a:r>
            <a:endParaRPr lang="en-US" sz="1700" dirty="0"/>
          </a:p>
        </p:txBody>
      </p:sp>
      <p:pic>
        <p:nvPicPr>
          <p:cNvPr id="20" name="Image 6" descr="preencoded.png">    </p:cNvPr>
          <p:cNvPicPr>
            <a:picLocks noChangeAspect="1"/>
          </p:cNvPicPr>
          <p:nvPr/>
        </p:nvPicPr>
        <p:blipFill>
          <a:blip r:embed="rId7"/>
          <a:stretch>
            <a:fillRect/>
          </a:stretch>
        </p:blipFill>
        <p:spPr>
          <a:xfrm>
            <a:off x="5212080" y="2286000"/>
            <a:ext cx="292608" cy="292608"/>
          </a:xfrm>
          <a:prstGeom prst="rect">
            <a:avLst/>
          </a:prstGeom>
        </p:spPr>
      </p:pic>
      <p:sp>
        <p:nvSpPr>
          <p:cNvPr id="21" name="Text 12"/>
          <p:cNvSpPr txBox="1"/>
          <p:nvPr/>
        </p:nvSpPr>
        <p:spPr>
          <a:xfrm>
            <a:off x="5623560" y="2240280"/>
            <a:ext cx="338328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Pay, Place order, Proceed to buy</a:t>
            </a:r>
            <a:endParaRPr lang="en-US" sz="1400" dirty="0"/>
          </a:p>
          <a:p>
            <a:pPr indent="0" marL="0">
              <a:buNone/>
            </a:pPr>
            <a:r>
              <a:rPr lang="en-US" sz="1250" dirty="0">
                <a:solidFill>
                  <a:srgbClr val="C8CDE6"/>
                </a:solidFill>
                <a:latin typeface="Calibri" pitchFamily="34" charset="0"/>
                <a:ea typeface="Calibri" pitchFamily="34" charset="-122"/>
                <a:cs typeface="Calibri" pitchFamily="34" charset="-120"/>
              </a:rPr>
              <a:t>never tapped</a:t>
            </a:r>
            <a:endParaRPr lang="en-US" sz="1400" dirty="0"/>
          </a:p>
        </p:txBody>
      </p:sp>
      <p:pic>
        <p:nvPicPr>
          <p:cNvPr id="22" name="Image 7" descr="preencoded.png">    </p:cNvPr>
          <p:cNvPicPr>
            <a:picLocks noChangeAspect="1"/>
          </p:cNvPicPr>
          <p:nvPr/>
        </p:nvPicPr>
        <p:blipFill>
          <a:blip r:embed="rId8"/>
          <a:stretch>
            <a:fillRect/>
          </a:stretch>
        </p:blipFill>
        <p:spPr>
          <a:xfrm>
            <a:off x="5212080" y="3017520"/>
            <a:ext cx="292608" cy="292608"/>
          </a:xfrm>
          <a:prstGeom prst="rect">
            <a:avLst/>
          </a:prstGeom>
        </p:spPr>
      </p:pic>
      <p:sp>
        <p:nvSpPr>
          <p:cNvPr id="23" name="Text 13"/>
          <p:cNvSpPr txBox="1"/>
          <p:nvPr/>
        </p:nvSpPr>
        <p:spPr>
          <a:xfrm>
            <a:off x="5623560" y="2971800"/>
            <a:ext cx="338328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Login, OTP, password screens</a:t>
            </a:r>
            <a:endParaRPr lang="en-US" sz="1400" dirty="0"/>
          </a:p>
          <a:p>
            <a:pPr indent="0" marL="0">
              <a:buNone/>
            </a:pPr>
            <a:r>
              <a:rPr lang="en-US" sz="1250" dirty="0">
                <a:solidFill>
                  <a:srgbClr val="C8CDE6"/>
                </a:solidFill>
                <a:latin typeface="Calibri" pitchFamily="34" charset="0"/>
                <a:ea typeface="Calibri" pitchFamily="34" charset="-122"/>
                <a:cs typeface="Calibri" pitchFamily="34" charset="-120"/>
              </a:rPr>
              <a:t>never touched, even without a field</a:t>
            </a:r>
            <a:endParaRPr lang="en-US" sz="1400" dirty="0"/>
          </a:p>
        </p:txBody>
      </p:sp>
      <p:pic>
        <p:nvPicPr>
          <p:cNvPr id="24" name="Image 8" descr="preencoded.png">    </p:cNvPr>
          <p:cNvPicPr>
            <a:picLocks noChangeAspect="1"/>
          </p:cNvPicPr>
          <p:nvPr/>
        </p:nvPicPr>
        <p:blipFill>
          <a:blip r:embed="rId9"/>
          <a:stretch>
            <a:fillRect/>
          </a:stretch>
        </p:blipFill>
        <p:spPr>
          <a:xfrm>
            <a:off x="5212080" y="3749040"/>
            <a:ext cx="292608" cy="292608"/>
          </a:xfrm>
          <a:prstGeom prst="rect">
            <a:avLst/>
          </a:prstGeom>
        </p:spPr>
      </p:pic>
      <p:sp>
        <p:nvSpPr>
          <p:cNvPr id="25" name="Text 14"/>
          <p:cNvSpPr txBox="1"/>
          <p:nvPr/>
        </p:nvSpPr>
        <p:spPr>
          <a:xfrm>
            <a:off x="5623560" y="3703320"/>
            <a:ext cx="338328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“Not accepting orders”</a:t>
            </a:r>
            <a:endParaRPr lang="en-US" sz="1400" dirty="0"/>
          </a:p>
          <a:p>
            <a:pPr indent="0" marL="0">
              <a:buNone/>
            </a:pPr>
            <a:r>
              <a:rPr lang="en-US" sz="1250" dirty="0">
                <a:solidFill>
                  <a:srgbClr val="C8CDE6"/>
                </a:solidFill>
                <a:latin typeface="Calibri" pitchFamily="34" charset="0"/>
                <a:ea typeface="Calibri" pitchFamily="34" charset="-122"/>
                <a:cs typeface="Calibri" pitchFamily="34" charset="-120"/>
              </a:rPr>
              <a:t>stops with the app’s own words</a:t>
            </a:r>
            <a:endParaRPr lang="en-US" sz="1400" dirty="0"/>
          </a:p>
        </p:txBody>
      </p:sp>
      <p:pic>
        <p:nvPicPr>
          <p:cNvPr id="26" name="Image 9" descr="preencoded.png">    </p:cNvPr>
          <p:cNvPicPr>
            <a:picLocks noChangeAspect="1"/>
          </p:cNvPicPr>
          <p:nvPr/>
        </p:nvPicPr>
        <p:blipFill>
          <a:blip r:embed="rId10"/>
          <a:stretch>
            <a:fillRect/>
          </a:stretch>
        </p:blipFill>
        <p:spPr>
          <a:xfrm>
            <a:off x="5212080" y="4480560"/>
            <a:ext cx="292608" cy="292608"/>
          </a:xfrm>
          <a:prstGeom prst="rect">
            <a:avLst/>
          </a:prstGeom>
        </p:spPr>
      </p:pic>
      <p:sp>
        <p:nvSpPr>
          <p:cNvPr id="27" name="Text 15"/>
          <p:cNvSpPr txBox="1"/>
          <p:nvPr/>
        </p:nvSpPr>
        <p:spPr>
          <a:xfrm>
            <a:off x="5623560" y="4434840"/>
            <a:ext cx="338328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Replace or clear a cart</a:t>
            </a:r>
            <a:endParaRPr lang="en-US" sz="1400" dirty="0"/>
          </a:p>
          <a:p>
            <a:pPr indent="0" marL="0">
              <a:buNone/>
            </a:pPr>
            <a:r>
              <a:rPr lang="en-US" sz="1250" dirty="0">
                <a:solidFill>
                  <a:srgbClr val="C8CDE6"/>
                </a:solidFill>
                <a:latin typeface="Calibri" pitchFamily="34" charset="0"/>
                <a:ea typeface="Calibri" pitchFamily="34" charset="-122"/>
                <a:cs typeface="Calibri" pitchFamily="34" charset="-120"/>
              </a:rPr>
              <a:t>asks the user first</a:t>
            </a:r>
            <a:endParaRPr lang="en-US" sz="1400" dirty="0"/>
          </a:p>
        </p:txBody>
      </p:sp>
      <p:pic>
        <p:nvPicPr>
          <p:cNvPr id="28" name="Image 10" descr="preencoded.png">    </p:cNvPr>
          <p:cNvPicPr>
            <a:picLocks noChangeAspect="1"/>
          </p:cNvPicPr>
          <p:nvPr/>
        </p:nvPicPr>
        <p:blipFill>
          <a:blip r:embed="rId11"/>
          <a:stretch>
            <a:fillRect/>
          </a:stretch>
        </p:blipFill>
        <p:spPr>
          <a:xfrm>
            <a:off x="5212080" y="5212080"/>
            <a:ext cx="292608" cy="292608"/>
          </a:xfrm>
          <a:prstGeom prst="rect">
            <a:avLst/>
          </a:prstGeom>
        </p:spPr>
      </p:pic>
      <p:sp>
        <p:nvSpPr>
          <p:cNvPr id="29" name="Text 16"/>
          <p:cNvSpPr txBox="1"/>
          <p:nvPr/>
        </p:nvSpPr>
        <p:spPr>
          <a:xfrm>
            <a:off x="5623560" y="5166360"/>
            <a:ext cx="3383280" cy="6400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Stuck: signed out, app in Hindi</a:t>
            </a:r>
            <a:endParaRPr lang="en-US" sz="1400" dirty="0"/>
          </a:p>
          <a:p>
            <a:pPr indent="0" marL="0">
              <a:buNone/>
            </a:pPr>
            <a:r>
              <a:rPr lang="en-US" sz="1250" dirty="0">
                <a:solidFill>
                  <a:srgbClr val="C8CDE6"/>
                </a:solidFill>
                <a:latin typeface="Calibri" pitchFamily="34" charset="0"/>
                <a:ea typeface="Calibri" pitchFamily="34" charset="-122"/>
                <a:cs typeface="Calibri" pitchFamily="34" charset="-120"/>
              </a:rPr>
              <a:t>says why within 5 s, taps nothing</a:t>
            </a:r>
            <a:endParaRPr lang="en-US" sz="1400" dirty="0"/>
          </a:p>
        </p:txBody>
      </p:sp>
      <p:sp>
        <p:nvSpPr>
          <p:cNvPr id="30" name="Shape 17"/>
          <p:cNvSpPr/>
          <p:nvPr/>
        </p:nvSpPr>
        <p:spPr>
          <a:xfrm>
            <a:off x="9582912" y="1508760"/>
            <a:ext cx="2195501" cy="3877056"/>
          </a:xfrm>
          <a:prstGeom prst="roundRect">
            <a:avLst>
              <a:gd name="adj" fmla="val 9163"/>
            </a:avLst>
          </a:prstGeom>
          <a:solidFill>
            <a:srgbClr val="121833"/>
          </a:solidFill>
          <a:ln w="12700">
            <a:solidFill>
              <a:srgbClr val="121833"/>
            </a:solidFill>
            <a:prstDash val="solid"/>
          </a:ln>
          <a:effectLst>
            <a:outerShdw sx="100000" sy="100000" kx="0" ky="0" algn="bl" rotWithShape="0" blurRad="127000" dist="38100" dir="5400000">
              <a:srgbClr val="000000">
                <a:alpha val="18000"/>
              </a:srgbClr>
            </a:outerShdw>
          </a:effectLst>
        </p:spPr>
      </p:sp>
      <p:pic>
        <p:nvPicPr>
          <p:cNvPr id="31" name="Image 11" descr="/home/claude/deck/img/sheet.png">    </p:cNvPr>
          <p:cNvPicPr>
            <a:picLocks noChangeAspect="1"/>
          </p:cNvPicPr>
          <p:nvPr/>
        </p:nvPicPr>
        <p:blipFill>
          <a:blip r:embed="rId12"/>
          <a:stretch>
            <a:fillRect/>
          </a:stretch>
        </p:blipFill>
        <p:spPr>
          <a:xfrm>
            <a:off x="9646920" y="1572768"/>
            <a:ext cx="2067485" cy="3749040"/>
          </a:xfrm>
          <a:prstGeom prst="rect">
            <a:avLst/>
          </a:prstGeom>
        </p:spPr>
      </p:pic>
      <p:sp>
        <p:nvSpPr>
          <p:cNvPr id="32" name="Text 18"/>
          <p:cNvSpPr txBox="1"/>
          <p:nvPr/>
        </p:nvSpPr>
        <p:spPr>
          <a:xfrm>
            <a:off x="9418320" y="5468112"/>
            <a:ext cx="2240280" cy="640080"/>
          </a:xfrm>
          <a:prstGeom prst="rect">
            <a:avLst/>
          </a:prstGeom>
          <a:noFill/>
          <a:ln/>
        </p:spPr>
        <p:txBody>
          <a:bodyPr wrap="square" lIns="0" tIns="0" rIns="0" bIns="0" rtlCol="0" anchor="t"/>
          <a:lstStyle/>
          <a:p>
            <a:pPr indent="0" marL="0">
              <a:buNone/>
            </a:pPr>
            <a:r>
              <a:rPr lang="en-US" sz="1150" dirty="0">
                <a:solidFill>
                  <a:srgbClr val="5C637A"/>
                </a:solidFill>
                <a:latin typeface="Calibri" pitchFamily="34" charset="0"/>
                <a:ea typeface="Calibri" pitchFamily="34" charset="-122"/>
                <a:cs typeface="Calibri" pitchFamily="34" charset="-120"/>
              </a:rPr>
              <a:t>Checked before adding: the sheet says “Margherita”.</a:t>
            </a:r>
            <a:endParaRPr lang="en-US" sz="1150" dirty="0"/>
          </a:p>
        </p:txBody>
      </p:sp>
      <p:sp>
        <p:nvSpPr>
          <p:cNvPr id="34" name="Text 19"/>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5" name="Text 20"/>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833"/>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RESULTS ON A REAL PHONE</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Measured cold-start runs, not a scripted demo</a:t>
            </a:r>
            <a:endParaRPr lang="en-US" sz="3000" dirty="0"/>
          </a:p>
        </p:txBody>
      </p:sp>
      <p:sp>
        <p:nvSpPr>
          <p:cNvPr id="4" name="Shape 2"/>
          <p:cNvSpPr/>
          <p:nvPr/>
        </p:nvSpPr>
        <p:spPr>
          <a:xfrm>
            <a:off x="548640" y="1600200"/>
            <a:ext cx="2606040" cy="2331720"/>
          </a:xfrm>
          <a:prstGeom prst="roundRect">
            <a:avLst>
              <a:gd name="adj" fmla="val 4706"/>
            </a:avLst>
          </a:prstGeom>
          <a:solidFill>
            <a:srgbClr val="222B55"/>
          </a:solidFill>
          <a:ln w="12700">
            <a:solidFill>
              <a:srgbClr val="222B55"/>
            </a:solidFill>
            <a:prstDash val="solid"/>
          </a:ln>
        </p:spPr>
      </p:sp>
      <p:sp>
        <p:nvSpPr>
          <p:cNvPr id="5" name="Text 3"/>
          <p:cNvSpPr txBox="1"/>
          <p:nvPr/>
        </p:nvSpPr>
        <p:spPr>
          <a:xfrm>
            <a:off x="777240" y="1783080"/>
            <a:ext cx="2240280" cy="868680"/>
          </a:xfrm>
          <a:prstGeom prst="rect">
            <a:avLst/>
          </a:prstGeom>
          <a:noFill/>
          <a:ln/>
        </p:spPr>
        <p:txBody>
          <a:bodyPr wrap="square" lIns="0" tIns="0" rIns="0" bIns="0" rtlCol="0" anchor="ctr"/>
          <a:lstStyle/>
          <a:p>
            <a:pPr indent="0" marL="0">
              <a:buNone/>
            </a:pPr>
            <a:r>
              <a:rPr lang="en-US" sz="4400" b="1" dirty="0">
                <a:solidFill>
                  <a:srgbClr val="3FD1B8"/>
                </a:solidFill>
                <a:latin typeface="Arial" pitchFamily="34" charset="0"/>
                <a:ea typeface="Arial" pitchFamily="34" charset="-122"/>
                <a:cs typeface="Arial" pitchFamily="34" charset="-120"/>
              </a:rPr>
              <a:t>8 / 8</a:t>
            </a:r>
            <a:endParaRPr lang="en-US" sz="4400" dirty="0"/>
          </a:p>
        </p:txBody>
      </p:sp>
      <p:sp>
        <p:nvSpPr>
          <p:cNvPr id="6" name="Text 4"/>
          <p:cNvSpPr txBox="1"/>
          <p:nvPr/>
        </p:nvSpPr>
        <p:spPr>
          <a:xfrm>
            <a:off x="777240" y="2697480"/>
            <a:ext cx="22402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Judges’ sentence</a:t>
            </a:r>
            <a:endParaRPr lang="en-US" sz="1500" dirty="0"/>
          </a:p>
        </p:txBody>
      </p:sp>
      <p:sp>
        <p:nvSpPr>
          <p:cNvPr id="7" name="Text 5"/>
          <p:cNvSpPr txBox="1"/>
          <p:nvPr/>
        </p:nvSpPr>
        <p:spPr>
          <a:xfrm>
            <a:off x="777240" y="3090672"/>
            <a:ext cx="2240280" cy="731520"/>
          </a:xfrm>
          <a:prstGeom prst="rect">
            <a:avLst/>
          </a:prstGeom>
          <a:noFill/>
          <a:ln/>
        </p:spPr>
        <p:txBody>
          <a:bodyPr wrap="square" lIns="0" tIns="0" rIns="0" bIns="0" rtlCol="0" anchor="t"/>
          <a:lstStyle/>
          <a:p>
            <a:pPr indent="0" marL="0">
              <a:buNone/>
            </a:pPr>
            <a:r>
              <a:rPr lang="en-US" sz="1250" dirty="0">
                <a:solidFill>
                  <a:srgbClr val="C8CDE6"/>
                </a:solidFill>
                <a:latin typeface="Calibri" pitchFamily="34" charset="0"/>
                <a:ea typeface="Calibri" pitchFamily="34" charset="-122"/>
                <a:cs typeface="Calibri" pitchFamily="34" charset="-120"/>
              </a:rPr>
              <a:t>Zomato, stops before paying · 0 LLM calls · 31–47 s</a:t>
            </a:r>
            <a:endParaRPr lang="en-US" sz="1250" dirty="0"/>
          </a:p>
        </p:txBody>
      </p:sp>
      <p:sp>
        <p:nvSpPr>
          <p:cNvPr id="8" name="Shape 6"/>
          <p:cNvSpPr/>
          <p:nvPr/>
        </p:nvSpPr>
        <p:spPr>
          <a:xfrm>
            <a:off x="3346704" y="1600200"/>
            <a:ext cx="2606040" cy="2331720"/>
          </a:xfrm>
          <a:prstGeom prst="roundRect">
            <a:avLst>
              <a:gd name="adj" fmla="val 4706"/>
            </a:avLst>
          </a:prstGeom>
          <a:solidFill>
            <a:srgbClr val="222B55"/>
          </a:solidFill>
          <a:ln w="12700">
            <a:solidFill>
              <a:srgbClr val="222B55"/>
            </a:solidFill>
            <a:prstDash val="solid"/>
          </a:ln>
        </p:spPr>
      </p:sp>
      <p:sp>
        <p:nvSpPr>
          <p:cNvPr id="9" name="Text 7"/>
          <p:cNvSpPr txBox="1"/>
          <p:nvPr/>
        </p:nvSpPr>
        <p:spPr>
          <a:xfrm>
            <a:off x="3575304" y="1783080"/>
            <a:ext cx="2240280" cy="868680"/>
          </a:xfrm>
          <a:prstGeom prst="rect">
            <a:avLst/>
          </a:prstGeom>
          <a:noFill/>
          <a:ln/>
        </p:spPr>
        <p:txBody>
          <a:bodyPr wrap="square" lIns="0" tIns="0" rIns="0" bIns="0" rtlCol="0" anchor="ctr"/>
          <a:lstStyle/>
          <a:p>
            <a:pPr indent="0" marL="0">
              <a:buNone/>
            </a:pPr>
            <a:r>
              <a:rPr lang="en-US" sz="4400" b="1" dirty="0">
                <a:solidFill>
                  <a:srgbClr val="3FD1B8"/>
                </a:solidFill>
                <a:latin typeface="Arial" pitchFamily="34" charset="0"/>
                <a:ea typeface="Arial" pitchFamily="34" charset="-122"/>
                <a:cs typeface="Arial" pitchFamily="34" charset="-120"/>
              </a:rPr>
              <a:t>14 / 14</a:t>
            </a:r>
            <a:endParaRPr lang="en-US" sz="4400" dirty="0"/>
          </a:p>
        </p:txBody>
      </p:sp>
      <p:sp>
        <p:nvSpPr>
          <p:cNvPr id="10" name="Text 8"/>
          <p:cNvSpPr txBox="1"/>
          <p:nvPr/>
        </p:nvSpPr>
        <p:spPr>
          <a:xfrm>
            <a:off x="3575304" y="2697480"/>
            <a:ext cx="22402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Amazon, taught by hand</a:t>
            </a:r>
            <a:endParaRPr lang="en-US" sz="1500" dirty="0"/>
          </a:p>
        </p:txBody>
      </p:sp>
      <p:sp>
        <p:nvSpPr>
          <p:cNvPr id="11" name="Text 9"/>
          <p:cNvSpPr txBox="1"/>
          <p:nvPr/>
        </p:nvSpPr>
        <p:spPr>
          <a:xfrm>
            <a:off x="3575304" y="3090672"/>
            <a:ext cx="2240280" cy="731520"/>
          </a:xfrm>
          <a:prstGeom prst="rect">
            <a:avLst/>
          </a:prstGeom>
          <a:noFill/>
          <a:ln/>
        </p:spPr>
        <p:txBody>
          <a:bodyPr wrap="square" lIns="0" tIns="0" rIns="0" bIns="0" rtlCol="0" anchor="t"/>
          <a:lstStyle/>
          <a:p>
            <a:pPr indent="0" marL="0">
              <a:buNone/>
            </a:pPr>
            <a:r>
              <a:rPr lang="en-US" sz="1250" dirty="0">
                <a:solidFill>
                  <a:srgbClr val="C8CDE6"/>
                </a:solidFill>
                <a:latin typeface="Calibri" pitchFamily="34" charset="0"/>
                <a:ea typeface="Calibri" pitchFamily="34" charset="-122"/>
                <a:cs typeface="Calibri" pitchFamily="34" charset="-120"/>
              </a:rPr>
              <a:t>first non-sponsored result · incl. Hinglish and paraphrases</a:t>
            </a:r>
            <a:endParaRPr lang="en-US" sz="1250" dirty="0"/>
          </a:p>
        </p:txBody>
      </p:sp>
      <p:sp>
        <p:nvSpPr>
          <p:cNvPr id="12" name="Shape 10"/>
          <p:cNvSpPr/>
          <p:nvPr/>
        </p:nvSpPr>
        <p:spPr>
          <a:xfrm>
            <a:off x="6144768" y="1600200"/>
            <a:ext cx="2606040" cy="2331720"/>
          </a:xfrm>
          <a:prstGeom prst="roundRect">
            <a:avLst>
              <a:gd name="adj" fmla="val 4706"/>
            </a:avLst>
          </a:prstGeom>
          <a:solidFill>
            <a:srgbClr val="222B55"/>
          </a:solidFill>
          <a:ln w="12700">
            <a:solidFill>
              <a:srgbClr val="222B55"/>
            </a:solidFill>
            <a:prstDash val="solid"/>
          </a:ln>
        </p:spPr>
      </p:sp>
      <p:sp>
        <p:nvSpPr>
          <p:cNvPr id="13" name="Text 11"/>
          <p:cNvSpPr txBox="1"/>
          <p:nvPr/>
        </p:nvSpPr>
        <p:spPr>
          <a:xfrm>
            <a:off x="6373368" y="1783080"/>
            <a:ext cx="2240280" cy="868680"/>
          </a:xfrm>
          <a:prstGeom prst="rect">
            <a:avLst/>
          </a:prstGeom>
          <a:noFill/>
          <a:ln/>
        </p:spPr>
        <p:txBody>
          <a:bodyPr wrap="square" lIns="0" tIns="0" rIns="0" bIns="0" rtlCol="0" anchor="ctr"/>
          <a:lstStyle/>
          <a:p>
            <a:pPr indent="0" marL="0">
              <a:buNone/>
            </a:pPr>
            <a:r>
              <a:rPr lang="en-US" sz="4400" b="1" dirty="0">
                <a:solidFill>
                  <a:srgbClr val="FF5B3A"/>
                </a:solidFill>
                <a:latin typeface="Arial" pitchFamily="34" charset="0"/>
                <a:ea typeface="Arial" pitchFamily="34" charset="-122"/>
                <a:cs typeface="Arial" pitchFamily="34" charset="-120"/>
              </a:rPr>
              <a:t>7 / 7</a:t>
            </a:r>
            <a:endParaRPr lang="en-US" sz="4400" dirty="0"/>
          </a:p>
        </p:txBody>
      </p:sp>
      <p:sp>
        <p:nvSpPr>
          <p:cNvPr id="14" name="Text 12"/>
          <p:cNvSpPr txBox="1"/>
          <p:nvPr/>
        </p:nvSpPr>
        <p:spPr>
          <a:xfrm>
            <a:off x="6373368" y="2697480"/>
            <a:ext cx="22402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Myntra (Amazon task)</a:t>
            </a:r>
            <a:endParaRPr lang="en-US" sz="1500" dirty="0"/>
          </a:p>
        </p:txBody>
      </p:sp>
      <p:sp>
        <p:nvSpPr>
          <p:cNvPr id="15" name="Text 13"/>
          <p:cNvSpPr txBox="1"/>
          <p:nvPr/>
        </p:nvSpPr>
        <p:spPr>
          <a:xfrm>
            <a:off x="6373368" y="3090672"/>
            <a:ext cx="2240280" cy="731520"/>
          </a:xfrm>
          <a:prstGeom prst="rect">
            <a:avLst/>
          </a:prstGeom>
          <a:noFill/>
          <a:ln/>
        </p:spPr>
        <p:txBody>
          <a:bodyPr wrap="square" lIns="0" tIns="0" rIns="0" bIns="0" rtlCol="0" anchor="t"/>
          <a:lstStyle/>
          <a:p>
            <a:pPr indent="0" marL="0">
              <a:buNone/>
            </a:pPr>
            <a:r>
              <a:rPr lang="en-US" sz="1250" dirty="0">
                <a:solidFill>
                  <a:srgbClr val="C8CDE6"/>
                </a:solidFill>
                <a:latin typeface="Calibri" pitchFamily="34" charset="0"/>
                <a:ea typeface="Calibri" pitchFamily="34" charset="-122"/>
                <a:cs typeface="Calibri" pitchFamily="34" charset="-120"/>
              </a:rPr>
              <a:t>skipped “AD” tiles · asked the size every time</a:t>
            </a:r>
            <a:endParaRPr lang="en-US" sz="1250" dirty="0"/>
          </a:p>
        </p:txBody>
      </p:sp>
      <p:sp>
        <p:nvSpPr>
          <p:cNvPr id="16" name="Shape 14"/>
          <p:cNvSpPr/>
          <p:nvPr/>
        </p:nvSpPr>
        <p:spPr>
          <a:xfrm>
            <a:off x="8942832" y="1600200"/>
            <a:ext cx="2606040" cy="2331720"/>
          </a:xfrm>
          <a:prstGeom prst="roundRect">
            <a:avLst>
              <a:gd name="adj" fmla="val 4706"/>
            </a:avLst>
          </a:prstGeom>
          <a:solidFill>
            <a:srgbClr val="222B55"/>
          </a:solidFill>
          <a:ln w="12700">
            <a:solidFill>
              <a:srgbClr val="222B55"/>
            </a:solidFill>
            <a:prstDash val="solid"/>
          </a:ln>
        </p:spPr>
      </p:sp>
      <p:sp>
        <p:nvSpPr>
          <p:cNvPr id="17" name="Text 15"/>
          <p:cNvSpPr txBox="1"/>
          <p:nvPr/>
        </p:nvSpPr>
        <p:spPr>
          <a:xfrm>
            <a:off x="9171432" y="1783080"/>
            <a:ext cx="2240280" cy="868680"/>
          </a:xfrm>
          <a:prstGeom prst="rect">
            <a:avLst/>
          </a:prstGeom>
          <a:noFill/>
          <a:ln/>
        </p:spPr>
        <p:txBody>
          <a:bodyPr wrap="square" lIns="0" tIns="0" rIns="0" bIns="0" rtlCol="0" anchor="ctr"/>
          <a:lstStyle/>
          <a:p>
            <a:pPr indent="0" marL="0">
              <a:buNone/>
            </a:pPr>
            <a:r>
              <a:rPr lang="en-US" sz="4400" b="1" dirty="0">
                <a:solidFill>
                  <a:srgbClr val="3FD1B8"/>
                </a:solidFill>
                <a:latin typeface="Arial" pitchFamily="34" charset="0"/>
                <a:ea typeface="Arial" pitchFamily="34" charset="-122"/>
                <a:cs typeface="Arial" pitchFamily="34" charset="-120"/>
              </a:rPr>
              <a:t>18 / 18</a:t>
            </a:r>
            <a:endParaRPr lang="en-US" sz="4400" dirty="0"/>
          </a:p>
        </p:txBody>
      </p:sp>
      <p:sp>
        <p:nvSpPr>
          <p:cNvPr id="18" name="Text 16"/>
          <p:cNvSpPr txBox="1"/>
          <p:nvPr/>
        </p:nvSpPr>
        <p:spPr>
          <a:xfrm>
            <a:off x="9171432" y="2697480"/>
            <a:ext cx="224028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Commands understood</a:t>
            </a:r>
            <a:endParaRPr lang="en-US" sz="1500" dirty="0"/>
          </a:p>
        </p:txBody>
      </p:sp>
      <p:sp>
        <p:nvSpPr>
          <p:cNvPr id="19" name="Text 17"/>
          <p:cNvSpPr txBox="1"/>
          <p:nvPr/>
        </p:nvSpPr>
        <p:spPr>
          <a:xfrm>
            <a:off x="9171432" y="3090672"/>
            <a:ext cx="2240280" cy="731520"/>
          </a:xfrm>
          <a:prstGeom prst="rect">
            <a:avLst/>
          </a:prstGeom>
          <a:noFill/>
          <a:ln/>
        </p:spPr>
        <p:txBody>
          <a:bodyPr wrap="square" lIns="0" tIns="0" rIns="0" bIns="0" rtlCol="0" anchor="t"/>
          <a:lstStyle/>
          <a:p>
            <a:pPr indent="0" marL="0">
              <a:buNone/>
            </a:pPr>
            <a:r>
              <a:rPr lang="en-US" sz="1250" dirty="0">
                <a:solidFill>
                  <a:srgbClr val="C8CDE6"/>
                </a:solidFill>
                <a:latin typeface="Calibri" pitchFamily="34" charset="0"/>
                <a:ea typeface="Calibri" pitchFamily="34" charset="-122"/>
                <a:cs typeface="Calibri" pitchFamily="34" charset="-120"/>
              </a:rPr>
              <a:t>Amazon test set · median 1.1 s</a:t>
            </a:r>
            <a:endParaRPr lang="en-US" sz="1250" dirty="0"/>
          </a:p>
        </p:txBody>
      </p:sp>
      <p:pic>
        <p:nvPicPr>
          <p:cNvPr id="20" name="Image 0" descr="preencoded.png">    </p:cNvPr>
          <p:cNvPicPr>
            <a:picLocks noChangeAspect="1"/>
          </p:cNvPicPr>
          <p:nvPr/>
        </p:nvPicPr>
        <p:blipFill>
          <a:blip r:embed="rId1"/>
          <a:stretch>
            <a:fillRect/>
          </a:stretch>
        </p:blipFill>
        <p:spPr>
          <a:xfrm>
            <a:off x="548640" y="4251960"/>
            <a:ext cx="274320" cy="274320"/>
          </a:xfrm>
          <a:prstGeom prst="rect">
            <a:avLst/>
          </a:prstGeom>
        </p:spPr>
      </p:pic>
      <p:sp>
        <p:nvSpPr>
          <p:cNvPr id="21" name="Text 18"/>
          <p:cNvSpPr txBox="1"/>
          <p:nvPr/>
        </p:nvSpPr>
        <p:spPr>
          <a:xfrm>
            <a:off x="960120" y="4206240"/>
            <a:ext cx="5120640" cy="7315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Every judges’ sentence, verbatim</a:t>
            </a:r>
            <a:endParaRPr lang="en-US" sz="1400" dirty="0"/>
          </a:p>
          <a:p>
            <a:pPr indent="0" marL="0">
              <a:buNone/>
            </a:pPr>
            <a:r>
              <a:rPr lang="en-US" sz="1200" dirty="0">
                <a:solidFill>
                  <a:srgbClr val="C8CDE6"/>
                </a:solidFill>
                <a:latin typeface="Calibri" pitchFamily="34" charset="0"/>
                <a:ea typeface="Calibri" pitchFamily="34" charset="-122"/>
                <a:cs typeface="Calibri" pitchFamily="34" charset="-120"/>
              </a:rPr>
              <a:t>exact, both paraphrases, Farmhouse, two pizzas, to Work, “Order pizza.”: all handled</a:t>
            </a:r>
            <a:endParaRPr lang="en-US" sz="1400" dirty="0"/>
          </a:p>
        </p:txBody>
      </p:sp>
      <p:pic>
        <p:nvPicPr>
          <p:cNvPr id="22" name="Image 1" descr="preencoded.png">    </p:cNvPr>
          <p:cNvPicPr>
            <a:picLocks noChangeAspect="1"/>
          </p:cNvPicPr>
          <p:nvPr/>
        </p:nvPicPr>
        <p:blipFill>
          <a:blip r:embed="rId2"/>
          <a:stretch>
            <a:fillRect/>
          </a:stretch>
        </p:blipFill>
        <p:spPr>
          <a:xfrm>
            <a:off x="6190488" y="4251960"/>
            <a:ext cx="274320" cy="274320"/>
          </a:xfrm>
          <a:prstGeom prst="rect">
            <a:avLst/>
          </a:prstGeom>
        </p:spPr>
      </p:pic>
      <p:sp>
        <p:nvSpPr>
          <p:cNvPr id="23" name="Text 19"/>
          <p:cNvSpPr txBox="1"/>
          <p:nvPr/>
        </p:nvSpPr>
        <p:spPr>
          <a:xfrm>
            <a:off x="6601968" y="4206240"/>
            <a:ext cx="5120640" cy="7315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“Order garlic bread from dominos”</a:t>
            </a:r>
            <a:endParaRPr lang="en-US" sz="1400" dirty="0"/>
          </a:p>
          <a:p>
            <a:pPr indent="0" marL="0">
              <a:buNone/>
            </a:pPr>
            <a:r>
              <a:rPr lang="en-US" sz="1200" dirty="0">
                <a:solidFill>
                  <a:srgbClr val="C8CDE6"/>
                </a:solidFill>
                <a:latin typeface="Calibri" pitchFamily="34" charset="0"/>
                <a:ea typeface="Calibri" pitchFamily="34" charset="-122"/>
                <a:cs typeface="Calibri" pitchFamily="34" charset="-120"/>
              </a:rPr>
              <a:t>Classic Stuffed Garlic Bread in the cart — 58 s, no LLM calls</a:t>
            </a:r>
            <a:endParaRPr lang="en-US" sz="1400" dirty="0"/>
          </a:p>
        </p:txBody>
      </p:sp>
      <p:pic>
        <p:nvPicPr>
          <p:cNvPr id="24" name="Image 2" descr="preencoded.png">    </p:cNvPr>
          <p:cNvPicPr>
            <a:picLocks noChangeAspect="1"/>
          </p:cNvPicPr>
          <p:nvPr/>
        </p:nvPicPr>
        <p:blipFill>
          <a:blip r:embed="rId3"/>
          <a:stretch>
            <a:fillRect/>
          </a:stretch>
        </p:blipFill>
        <p:spPr>
          <a:xfrm>
            <a:off x="548640" y="5120640"/>
            <a:ext cx="274320" cy="274320"/>
          </a:xfrm>
          <a:prstGeom prst="rect">
            <a:avLst/>
          </a:prstGeom>
        </p:spPr>
      </p:pic>
      <p:sp>
        <p:nvSpPr>
          <p:cNvPr id="25" name="Text 20"/>
          <p:cNvSpPr txBox="1"/>
          <p:nvPr/>
        </p:nvSpPr>
        <p:spPr>
          <a:xfrm>
            <a:off x="960120" y="5074920"/>
            <a:ext cx="5120640" cy="7315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Taught on Domino’s, ordered from Pizza Hut</a:t>
            </a:r>
            <a:endParaRPr lang="en-US" sz="1400" dirty="0"/>
          </a:p>
          <a:p>
            <a:pPr indent="0" marL="0">
              <a:buNone/>
            </a:pPr>
            <a:r>
              <a:rPr lang="en-US" sz="1200" dirty="0">
                <a:solidFill>
                  <a:srgbClr val="C8CDE6"/>
                </a:solidFill>
                <a:latin typeface="Calibri" pitchFamily="34" charset="0"/>
                <a:ea typeface="Calibri" pitchFamily="34" charset="-122"/>
                <a:cs typeface="Calibri" pitchFamily="34" charset="-120"/>
              </a:rPr>
              <a:t>outlet picker, menu search, the plain Margherita — 63 s</a:t>
            </a:r>
            <a:endParaRPr lang="en-US" sz="1400" dirty="0"/>
          </a:p>
        </p:txBody>
      </p:sp>
      <p:pic>
        <p:nvPicPr>
          <p:cNvPr id="26" name="Image 3" descr="preencoded.png">    </p:cNvPr>
          <p:cNvPicPr>
            <a:picLocks noChangeAspect="1"/>
          </p:cNvPicPr>
          <p:nvPr/>
        </p:nvPicPr>
        <p:blipFill>
          <a:blip r:embed="rId4"/>
          <a:stretch>
            <a:fillRect/>
          </a:stretch>
        </p:blipFill>
        <p:spPr>
          <a:xfrm>
            <a:off x="6190488" y="5120640"/>
            <a:ext cx="274320" cy="274320"/>
          </a:xfrm>
          <a:prstGeom prst="rect">
            <a:avLst/>
          </a:prstGeom>
        </p:spPr>
      </p:pic>
      <p:sp>
        <p:nvSpPr>
          <p:cNvPr id="27" name="Text 21"/>
          <p:cNvSpPr txBox="1"/>
          <p:nvPr/>
        </p:nvSpPr>
        <p:spPr>
          <a:xfrm>
            <a:off x="6601968" y="5074920"/>
            <a:ext cx="5120640" cy="7315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Learn from one demo, replay with a new value</a:t>
            </a:r>
            <a:endParaRPr lang="en-US" sz="1400" dirty="0"/>
          </a:p>
          <a:p>
            <a:pPr indent="0" marL="0">
              <a:buNone/>
            </a:pPr>
            <a:r>
              <a:rPr lang="en-US" sz="1200" dirty="0">
                <a:solidFill>
                  <a:srgbClr val="C8CDE6"/>
                </a:solidFill>
                <a:latin typeface="Calibri" pitchFamily="34" charset="0"/>
                <a:ea typeface="Calibri" pitchFamily="34" charset="-122"/>
                <a:cs typeface="Calibri" pitchFamily="34" charset="-120"/>
              </a:rPr>
              <a:t>4/4, including a demo interrupted by switching apps</a:t>
            </a:r>
            <a:endParaRPr lang="en-US" sz="1400" dirty="0"/>
          </a:p>
        </p:txBody>
      </p:sp>
      <p:sp>
        <p:nvSpPr>
          <p:cNvPr id="28" name="Text 22"/>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100" dirty="0">
                <a:solidFill>
                  <a:srgbClr val="8A91B4"/>
                </a:solidFill>
                <a:latin typeface="Calibri" pitchFamily="34" charset="0"/>
                <a:ea typeface="Calibri" pitchFamily="34" charset="-122"/>
                <a:cs typeface="Calibri" pitchFamily="34" charset="-120"/>
              </a:rPr>
              <a:t>Oppo Reno3, Android 12 · 28–30 Sep · app force-stopped before every run · full tables and method in docs/ of the repository</a:t>
            </a:r>
            <a:endParaRPr lang="en-US" sz="1100" dirty="0"/>
          </a:p>
        </p:txBody>
      </p:sp>
      <p:sp>
        <p:nvSpPr>
          <p:cNvPr id="30" name="Text 2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1B4"/>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1" name="Text 24"/>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8A91B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NO HARD-CODED FLOWS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Taught on an app it had never seen</a:t>
            </a:r>
            <a:endParaRPr lang="en-US" sz="3000" dirty="0"/>
          </a:p>
        </p:txBody>
      </p:sp>
      <p:sp>
        <p:nvSpPr>
          <p:cNvPr id="4" name="Shape 2"/>
          <p:cNvSpPr/>
          <p:nvPr/>
        </p:nvSpPr>
        <p:spPr>
          <a:xfrm>
            <a:off x="548640" y="1554480"/>
            <a:ext cx="4846320" cy="4480560"/>
          </a:xfrm>
          <a:prstGeom prst="roundRect">
            <a:avLst>
              <a:gd name="adj" fmla="val 2449"/>
            </a:avLst>
          </a:prstGeom>
          <a:solidFill>
            <a:srgbClr val="F4F5FA"/>
          </a:solidFill>
          <a:ln w="12700">
            <a:solidFill>
              <a:srgbClr val="F4F5FA"/>
            </a:solidFill>
            <a:prstDash val="solid"/>
          </a:ln>
        </p:spPr>
      </p:sp>
      <p:sp>
        <p:nvSpPr>
          <p:cNvPr id="5" name="Text 3"/>
          <p:cNvSpPr txBox="1"/>
          <p:nvPr/>
        </p:nvSpPr>
        <p:spPr>
          <a:xfrm>
            <a:off x="822960" y="1755648"/>
            <a:ext cx="4389120" cy="274320"/>
          </a:xfrm>
          <a:prstGeom prst="rect">
            <a:avLst/>
          </a:prstGeom>
          <a:noFill/>
          <a:ln/>
        </p:spPr>
        <p:txBody>
          <a:bodyPr wrap="square" lIns="0" tIns="0" rIns="0" bIns="0" rtlCol="0" anchor="ctr"/>
          <a:lstStyle/>
          <a:p>
            <a:pPr indent="0" marL="0">
              <a:buNone/>
            </a:pPr>
            <a:r>
              <a:rPr lang="en-US" sz="1100" b="1" spc="200" kern="0" dirty="0">
                <a:solidFill>
                  <a:srgbClr val="5C637A"/>
                </a:solidFill>
                <a:latin typeface="Arial" pitchFamily="34" charset="0"/>
                <a:ea typeface="Arial" pitchFamily="34" charset="-122"/>
                <a:cs typeface="Arial" pitchFamily="34" charset="-120"/>
              </a:rPr>
              <a:t>TAUGHT ONCE, BY TAPPING THROUGH IT</a:t>
            </a:r>
            <a:endParaRPr lang="en-US" sz="1100" dirty="0"/>
          </a:p>
        </p:txBody>
      </p:sp>
      <p:sp>
        <p:nvSpPr>
          <p:cNvPr id="6" name="Shape 4"/>
          <p:cNvSpPr/>
          <p:nvPr/>
        </p:nvSpPr>
        <p:spPr>
          <a:xfrm>
            <a:off x="822960" y="2103120"/>
            <a:ext cx="4297680" cy="502920"/>
          </a:xfrm>
          <a:prstGeom prst="roundRect">
            <a:avLst>
              <a:gd name="adj" fmla="val 50000"/>
            </a:avLst>
          </a:prstGeom>
          <a:solidFill>
            <a:srgbClr val="121833"/>
          </a:solidFill>
          <a:ln w="12700">
            <a:solidFill>
              <a:srgbClr val="121833"/>
            </a:solidFill>
            <a:prstDash val="solid"/>
          </a:ln>
        </p:spPr>
      </p:sp>
      <p:sp>
        <p:nvSpPr>
          <p:cNvPr id="7" name="Shape 5"/>
          <p:cNvSpPr/>
          <p:nvPr/>
        </p:nvSpPr>
        <p:spPr>
          <a:xfrm>
            <a:off x="886968" y="2167128"/>
            <a:ext cx="374904" cy="374904"/>
          </a:xfrm>
          <a:prstGeom prst="ellipse">
            <a:avLst/>
          </a:prstGeom>
          <a:solidFill>
            <a:srgbClr val="FF5B3A"/>
          </a:solidFill>
          <a:ln w="12700">
            <a:solidFill>
              <a:srgbClr val="FF5B3A"/>
            </a:solidFill>
            <a:prstDash val="solid"/>
          </a:ln>
        </p:spPr>
      </p:sp>
      <p:pic>
        <p:nvPicPr>
          <p:cNvPr id="8" name="Image 0" descr="preencoded.png">    </p:cNvPr>
          <p:cNvPicPr>
            <a:picLocks noChangeAspect="1"/>
          </p:cNvPicPr>
          <p:nvPr/>
        </p:nvPicPr>
        <p:blipFill>
          <a:blip r:embed="rId1"/>
          <a:stretch>
            <a:fillRect/>
          </a:stretch>
        </p:blipFill>
        <p:spPr>
          <a:xfrm>
            <a:off x="961949" y="2242109"/>
            <a:ext cx="224942" cy="224942"/>
          </a:xfrm>
          <a:prstGeom prst="rect">
            <a:avLst/>
          </a:prstGeom>
        </p:spPr>
      </p:pic>
      <p:sp>
        <p:nvSpPr>
          <p:cNvPr id="9" name="Text 6"/>
          <p:cNvSpPr txBox="1"/>
          <p:nvPr/>
        </p:nvSpPr>
        <p:spPr>
          <a:xfrm>
            <a:off x="1380744" y="2103120"/>
            <a:ext cx="3648456" cy="502920"/>
          </a:xfrm>
          <a:prstGeom prst="rect">
            <a:avLst/>
          </a:prstGeom>
          <a:noFill/>
          <a:ln/>
        </p:spPr>
        <p:txBody>
          <a:bodyPr wrap="square" lIns="0" tIns="0" rIns="0" bIns="0" rtlCol="0" anchor="ctr">
            <a:normAutofit/>
          </a:bodyPr>
          <a:lstStyle/>
          <a:p>
            <a:pPr indent="0" marL="0">
              <a:buNone/>
            </a:pPr>
            <a:r>
              <a:rPr lang="en-US" sz="1400" i="1" dirty="0">
                <a:solidFill>
                  <a:srgbClr val="FFFFFF"/>
                </a:solidFill>
                <a:latin typeface="Calibri" pitchFamily="34" charset="0"/>
                <a:ea typeface="Calibri" pitchFamily="34" charset="-122"/>
                <a:cs typeface="Calibri" pitchFamily="34" charset="-120"/>
              </a:rPr>
              <a:t>“Open the pytorch repository on GitHub”</a:t>
            </a:r>
            <a:endParaRPr lang="en-US" sz="1400" dirty="0"/>
          </a:p>
        </p:txBody>
      </p:sp>
      <p:sp>
        <p:nvSpPr>
          <p:cNvPr id="10" name="Text 7"/>
          <p:cNvSpPr txBox="1"/>
          <p:nvPr/>
        </p:nvSpPr>
        <p:spPr>
          <a:xfrm>
            <a:off x="822960" y="2880360"/>
            <a:ext cx="4297680" cy="320040"/>
          </a:xfrm>
          <a:prstGeom prst="rect">
            <a:avLst/>
          </a:prstGeom>
          <a:noFill/>
          <a:ln/>
        </p:spPr>
        <p:txBody>
          <a:bodyPr wrap="square" lIns="0" tIns="0" rIns="0" bIns="0" rtlCol="0" anchor="ctr"/>
          <a:lstStyle/>
          <a:p>
            <a:pPr indent="0" marL="0">
              <a:buNone/>
            </a:pPr>
            <a:r>
              <a:rPr lang="en-US" sz="1300" b="1" dirty="0">
                <a:solidFill>
                  <a:srgbClr val="5C637A"/>
                </a:solidFill>
                <a:latin typeface="Arial" pitchFamily="34" charset="0"/>
                <a:ea typeface="Arial" pitchFamily="34" charset="-122"/>
                <a:cs typeface="Arial" pitchFamily="34" charset="-120"/>
              </a:rPr>
              <a:t>What it learned</a:t>
            </a:r>
            <a:endParaRPr lang="en-US" sz="1300" dirty="0"/>
          </a:p>
        </p:txBody>
      </p:sp>
      <p:sp>
        <p:nvSpPr>
          <p:cNvPr id="11" name="Text 8"/>
          <p:cNvSpPr txBox="1"/>
          <p:nvPr/>
        </p:nvSpPr>
        <p:spPr>
          <a:xfrm>
            <a:off x="822960" y="3200400"/>
            <a:ext cx="4389120" cy="411480"/>
          </a:xfrm>
          <a:prstGeom prst="rect">
            <a:avLst/>
          </a:prstGeom>
          <a:noFill/>
          <a:ln/>
        </p:spPr>
        <p:txBody>
          <a:bodyPr wrap="square" lIns="0" tIns="0" rIns="0" bIns="0" rtlCol="0" anchor="ctr"/>
          <a:lstStyle/>
          <a:p>
            <a:pPr indent="0" marL="0">
              <a:buNone/>
            </a:pPr>
            <a:r>
              <a:rPr lang="en-US" sz="1700" b="1" dirty="0">
                <a:solidFill>
                  <a:srgbClr val="1A1F36"/>
                </a:solidFill>
                <a:latin typeface="Arial" pitchFamily="34" charset="0"/>
                <a:ea typeface="Arial" pitchFamily="34" charset="-122"/>
                <a:cs typeface="Arial" pitchFamily="34" charset="-120"/>
              </a:rPr>
              <a:t>Open </a:t>
            </a:r>
            <a:pPr indent="0" marL="0">
              <a:buNone/>
            </a:pPr>
            <a:r>
              <a:rPr lang="en-US" sz="1700" b="1" dirty="0">
                <a:solidFill>
                  <a:srgbClr val="FF5B3A"/>
                </a:solidFill>
                <a:latin typeface="Arial" pitchFamily="34" charset="0"/>
                <a:ea typeface="Arial" pitchFamily="34" charset="-122"/>
                <a:cs typeface="Arial" pitchFamily="34" charset="-120"/>
              </a:rPr>
              <a:t>{repository}</a:t>
            </a:r>
            <a:pPr indent="0" marL="0">
              <a:buNone/>
            </a:pPr>
            <a:r>
              <a:rPr lang="en-US" sz="1700" b="1" dirty="0">
                <a:solidFill>
                  <a:srgbClr val="1A1F36"/>
                </a:solidFill>
                <a:latin typeface="Arial" pitchFamily="34" charset="0"/>
                <a:ea typeface="Arial" pitchFamily="34" charset="-122"/>
                <a:cs typeface="Arial" pitchFamily="34" charset="-120"/>
              </a:rPr>
              <a:t> repository on GitHub</a:t>
            </a:r>
            <a:endParaRPr lang="en-US" sz="1700" dirty="0"/>
          </a:p>
        </p:txBody>
      </p:sp>
      <p:sp>
        <p:nvSpPr>
          <p:cNvPr id="12" name="Text 9"/>
          <p:cNvSpPr txBox="1"/>
          <p:nvPr/>
        </p:nvSpPr>
        <p:spPr>
          <a:xfrm>
            <a:off x="822960" y="3703320"/>
            <a:ext cx="4389120" cy="1691640"/>
          </a:xfrm>
          <a:prstGeom prst="rect">
            <a:avLst/>
          </a:prstGeom>
          <a:noFill/>
          <a:ln/>
        </p:spPr>
        <p:txBody>
          <a:bodyPr wrap="square" lIns="0" tIns="0" rIns="0" bIns="0" rtlCol="0" anchor="t"/>
          <a:lstStyle/>
          <a:p>
            <a:pPr indent="0" marL="0">
              <a:spcAft>
                <a:spcPts val="700"/>
              </a:spcAft>
              <a:buNone/>
            </a:pPr>
            <a:r>
              <a:rPr lang="en-US" sz="1450" b="1" dirty="0">
                <a:solidFill>
                  <a:srgbClr val="0E9F8A"/>
                </a:solidFill>
                <a:latin typeface="Calibri" pitchFamily="34" charset="0"/>
                <a:ea typeface="Calibri" pitchFamily="34" charset="-122"/>
                <a:cs typeface="Calibri" pitchFamily="34" charset="-120"/>
              </a:rPr>
              <a:t>1   </a:t>
            </a:r>
            <a:pPr indent="0" marL="0">
              <a:spcAft>
                <a:spcPts val="700"/>
              </a:spcAft>
              <a:buNone/>
            </a:pPr>
            <a:r>
              <a:rPr lang="en-US" sz="1450" dirty="0">
                <a:solidFill>
                  <a:srgbClr val="1A1F36"/>
                </a:solidFill>
                <a:latin typeface="Calibri" pitchFamily="34" charset="0"/>
                <a:ea typeface="Calibri" pitchFamily="34" charset="-122"/>
                <a:cs typeface="Calibri" pitchFamily="34" charset="-120"/>
              </a:rPr>
              <a:t>Launch GitHub</a:t>
            </a:r>
            <a:endParaRPr lang="en-US" sz="1450" dirty="0"/>
          </a:p>
          <a:p>
            <a:pPr indent="0" marL="0">
              <a:spcAft>
                <a:spcPts val="700"/>
              </a:spcAft>
              <a:buNone/>
            </a:pPr>
            <a:r>
              <a:rPr lang="en-US" sz="1450" b="1" dirty="0">
                <a:solidFill>
                  <a:srgbClr val="0E9F8A"/>
                </a:solidFill>
                <a:latin typeface="Calibri" pitchFamily="34" charset="0"/>
                <a:ea typeface="Calibri" pitchFamily="34" charset="-122"/>
                <a:cs typeface="Calibri" pitchFamily="34" charset="-120"/>
              </a:rPr>
              <a:t>2   </a:t>
            </a:r>
            <a:pPr indent="0" marL="0">
              <a:spcAft>
                <a:spcPts val="700"/>
              </a:spcAft>
              <a:buNone/>
            </a:pPr>
            <a:r>
              <a:rPr lang="en-US" sz="1450" dirty="0">
                <a:solidFill>
                  <a:srgbClr val="1A1F36"/>
                </a:solidFill>
                <a:latin typeface="Calibri" pitchFamily="34" charset="0"/>
                <a:ea typeface="Calibri" pitchFamily="34" charset="-122"/>
                <a:cs typeface="Calibri" pitchFamily="34" charset="-120"/>
              </a:rPr>
              <a:t>Open search</a:t>
            </a:r>
            <a:endParaRPr lang="en-US" sz="1450" dirty="0"/>
          </a:p>
          <a:p>
            <a:pPr indent="0" marL="0">
              <a:spcAft>
                <a:spcPts val="700"/>
              </a:spcAft>
              <a:buNone/>
            </a:pPr>
            <a:r>
              <a:rPr lang="en-US" sz="1450" b="1" dirty="0">
                <a:solidFill>
                  <a:srgbClr val="0E9F8A"/>
                </a:solidFill>
                <a:latin typeface="Calibri" pitchFamily="34" charset="0"/>
                <a:ea typeface="Calibri" pitchFamily="34" charset="-122"/>
                <a:cs typeface="Calibri" pitchFamily="34" charset="-120"/>
              </a:rPr>
              <a:t>3   </a:t>
            </a:r>
            <a:pPr indent="0" marL="0">
              <a:spcAft>
                <a:spcPts val="700"/>
              </a:spcAft>
              <a:buNone/>
            </a:pPr>
            <a:r>
              <a:rPr lang="en-US" sz="1450" dirty="0">
                <a:solidFill>
                  <a:srgbClr val="1A1F36"/>
                </a:solidFill>
                <a:latin typeface="Calibri" pitchFamily="34" charset="0"/>
                <a:ea typeface="Calibri" pitchFamily="34" charset="-122"/>
                <a:cs typeface="Calibri" pitchFamily="34" charset="-120"/>
              </a:rPr>
              <a:t>Enter </a:t>
            </a:r>
            <a:pPr indent="0" marL="0">
              <a:spcAft>
                <a:spcPts val="700"/>
              </a:spcAft>
              <a:buNone/>
            </a:pPr>
            <a:r>
              <a:rPr lang="en-US" sz="1450" b="1" dirty="0">
                <a:solidFill>
                  <a:srgbClr val="FF5B3A"/>
                </a:solidFill>
                <a:latin typeface="Calibri" pitchFamily="34" charset="0"/>
                <a:ea typeface="Calibri" pitchFamily="34" charset="-122"/>
                <a:cs typeface="Calibri" pitchFamily="34" charset="-120"/>
              </a:rPr>
              <a:t>{repository}</a:t>
            </a:r>
            <a:endParaRPr lang="en-US" sz="1450" dirty="0"/>
          </a:p>
          <a:p>
            <a:pPr indent="0" marL="0">
              <a:spcAft>
                <a:spcPts val="700"/>
              </a:spcAft>
              <a:buNone/>
            </a:pPr>
            <a:r>
              <a:rPr lang="en-US" sz="1450" b="1" dirty="0">
                <a:solidFill>
                  <a:srgbClr val="0E9F8A"/>
                </a:solidFill>
                <a:latin typeface="Calibri" pitchFamily="34" charset="0"/>
                <a:ea typeface="Calibri" pitchFamily="34" charset="-122"/>
                <a:cs typeface="Calibri" pitchFamily="34" charset="-120"/>
              </a:rPr>
              <a:t>4   </a:t>
            </a:r>
            <a:pPr indent="0" marL="0">
              <a:spcAft>
                <a:spcPts val="700"/>
              </a:spcAft>
              <a:buNone/>
            </a:pPr>
            <a:r>
              <a:rPr lang="en-US" sz="1450" dirty="0">
                <a:solidFill>
                  <a:srgbClr val="1A1F36"/>
                </a:solidFill>
                <a:latin typeface="Calibri" pitchFamily="34" charset="0"/>
                <a:ea typeface="Calibri" pitchFamily="34" charset="-122"/>
                <a:cs typeface="Calibri" pitchFamily="34" charset="-120"/>
              </a:rPr>
              <a:t>Select </a:t>
            </a:r>
            <a:pPr indent="0" marL="0">
              <a:spcAft>
                <a:spcPts val="700"/>
              </a:spcAft>
              <a:buNone/>
            </a:pPr>
            <a:r>
              <a:rPr lang="en-US" sz="1450" b="1" dirty="0">
                <a:solidFill>
                  <a:srgbClr val="FF5B3A"/>
                </a:solidFill>
                <a:latin typeface="Calibri" pitchFamily="34" charset="0"/>
                <a:ea typeface="Calibri" pitchFamily="34" charset="-122"/>
                <a:cs typeface="Calibri" pitchFamily="34" charset="-120"/>
              </a:rPr>
              <a:t>{repository}</a:t>
            </a:r>
            <a:pPr indent="0" marL="0">
              <a:spcAft>
                <a:spcPts val="700"/>
              </a:spcAft>
              <a:buNone/>
            </a:pPr>
            <a:r>
              <a:rPr lang="en-US" sz="1450" dirty="0">
                <a:solidFill>
                  <a:srgbClr val="1A1F36"/>
                </a:solidFill>
                <a:latin typeface="Calibri" pitchFamily="34" charset="0"/>
                <a:ea typeface="Calibri" pitchFamily="34" charset="-122"/>
                <a:cs typeface="Calibri" pitchFamily="34" charset="-120"/>
              </a:rPr>
              <a:t> in the results</a:t>
            </a:r>
            <a:endParaRPr lang="en-US" sz="1450" dirty="0"/>
          </a:p>
          <a:p>
            <a:pPr indent="0" marL="0">
              <a:spcAft>
                <a:spcPts val="700"/>
              </a:spcAft>
              <a:buNone/>
            </a:pPr>
            <a:r>
              <a:rPr lang="en-US" sz="1450" b="1" dirty="0">
                <a:solidFill>
                  <a:srgbClr val="0E9F8A"/>
                </a:solidFill>
                <a:latin typeface="Calibri" pitchFamily="34" charset="0"/>
                <a:ea typeface="Calibri" pitchFamily="34" charset="-122"/>
                <a:cs typeface="Calibri" pitchFamily="34" charset="-120"/>
              </a:rPr>
              <a:t>5   </a:t>
            </a:r>
            <a:pPr indent="0" marL="0">
              <a:spcAft>
                <a:spcPts val="700"/>
              </a:spcAft>
              <a:buNone/>
            </a:pPr>
            <a:r>
              <a:rPr lang="en-US" sz="1450" dirty="0">
                <a:solidFill>
                  <a:srgbClr val="1A1F36"/>
                </a:solidFill>
                <a:latin typeface="Calibri" pitchFamily="34" charset="0"/>
                <a:ea typeface="Calibri" pitchFamily="34" charset="-122"/>
                <a:cs typeface="Calibri" pitchFamily="34" charset="-120"/>
              </a:rPr>
              <a:t>Open the repository</a:t>
            </a:r>
            <a:endParaRPr lang="en-US" sz="1450" dirty="0"/>
          </a:p>
        </p:txBody>
      </p:sp>
      <p:pic>
        <p:nvPicPr>
          <p:cNvPr id="13" name="Image 1" descr="preencoded.png">    </p:cNvPr>
          <p:cNvPicPr>
            <a:picLocks noChangeAspect="1"/>
          </p:cNvPicPr>
          <p:nvPr/>
        </p:nvPicPr>
        <p:blipFill>
          <a:blip r:embed="rId2"/>
          <a:stretch>
            <a:fillRect/>
          </a:stretch>
        </p:blipFill>
        <p:spPr>
          <a:xfrm>
            <a:off x="822960" y="5458968"/>
            <a:ext cx="256032" cy="256032"/>
          </a:xfrm>
          <a:prstGeom prst="rect">
            <a:avLst/>
          </a:prstGeom>
        </p:spPr>
      </p:pic>
      <p:sp>
        <p:nvSpPr>
          <p:cNvPr id="14" name="Text 10"/>
          <p:cNvSpPr txBox="1"/>
          <p:nvPr/>
        </p:nvSpPr>
        <p:spPr>
          <a:xfrm>
            <a:off x="1188720" y="5367528"/>
            <a:ext cx="4023360" cy="457200"/>
          </a:xfrm>
          <a:prstGeom prst="rect">
            <a:avLst/>
          </a:prstGeom>
          <a:noFill/>
          <a:ln/>
        </p:spPr>
        <p:txBody>
          <a:bodyPr wrap="square" lIns="0" tIns="0" rIns="0" bIns="0" rtlCol="0" anchor="ctr"/>
          <a:lstStyle/>
          <a:p>
            <a:pPr indent="0" marL="0">
              <a:buNone/>
            </a:pPr>
            <a:r>
              <a:rPr lang="en-US" sz="1250" dirty="0">
                <a:solidFill>
                  <a:srgbClr val="5C637A"/>
                </a:solidFill>
                <a:latin typeface="Calibri" pitchFamily="34" charset="0"/>
                <a:ea typeface="Calibri" pitchFamily="34" charset="-122"/>
                <a:cs typeface="Calibri" pitchFamily="34" charset="-120"/>
              </a:rPr>
              <a:t>“pytorch” was typed in the demo, so the repository name became a slot on its own.</a:t>
            </a:r>
            <a:endParaRPr lang="en-US" sz="1250" dirty="0"/>
          </a:p>
        </p:txBody>
      </p:sp>
      <p:sp>
        <p:nvSpPr>
          <p:cNvPr id="15" name="Shape 11"/>
          <p:cNvSpPr/>
          <p:nvPr/>
        </p:nvSpPr>
        <p:spPr>
          <a:xfrm>
            <a:off x="5669280" y="1554480"/>
            <a:ext cx="5971032" cy="502920"/>
          </a:xfrm>
          <a:prstGeom prst="roundRect">
            <a:avLst>
              <a:gd name="adj" fmla="val 50000"/>
            </a:avLst>
          </a:prstGeom>
          <a:solidFill>
            <a:srgbClr val="121833"/>
          </a:solidFill>
          <a:ln w="12700">
            <a:solidFill>
              <a:srgbClr val="121833"/>
            </a:solidFill>
            <a:prstDash val="solid"/>
          </a:ln>
        </p:spPr>
      </p:sp>
      <p:sp>
        <p:nvSpPr>
          <p:cNvPr id="16" name="Shape 12"/>
          <p:cNvSpPr/>
          <p:nvPr/>
        </p:nvSpPr>
        <p:spPr>
          <a:xfrm>
            <a:off x="5733288" y="1618488"/>
            <a:ext cx="374904" cy="374904"/>
          </a:xfrm>
          <a:prstGeom prst="ellipse">
            <a:avLst/>
          </a:prstGeom>
          <a:solidFill>
            <a:srgbClr val="FF5B3A"/>
          </a:solidFill>
          <a:ln w="12700">
            <a:solidFill>
              <a:srgbClr val="FF5B3A"/>
            </a:solidFill>
            <a:prstDash val="solid"/>
          </a:ln>
        </p:spPr>
      </p:sp>
      <p:pic>
        <p:nvPicPr>
          <p:cNvPr id="17" name="Image 2" descr="preencoded.png">    </p:cNvPr>
          <p:cNvPicPr>
            <a:picLocks noChangeAspect="1"/>
          </p:cNvPicPr>
          <p:nvPr/>
        </p:nvPicPr>
        <p:blipFill>
          <a:blip r:embed="rId3"/>
          <a:stretch>
            <a:fillRect/>
          </a:stretch>
        </p:blipFill>
        <p:spPr>
          <a:xfrm>
            <a:off x="5808269" y="1693469"/>
            <a:ext cx="224942" cy="224942"/>
          </a:xfrm>
          <a:prstGeom prst="rect">
            <a:avLst/>
          </a:prstGeom>
        </p:spPr>
      </p:pic>
      <p:sp>
        <p:nvSpPr>
          <p:cNvPr id="18" name="Text 13"/>
          <p:cNvSpPr txBox="1"/>
          <p:nvPr/>
        </p:nvSpPr>
        <p:spPr>
          <a:xfrm>
            <a:off x="6227064" y="1554480"/>
            <a:ext cx="5321808" cy="502920"/>
          </a:xfrm>
          <a:prstGeom prst="rect">
            <a:avLst/>
          </a:prstGeom>
          <a:noFill/>
          <a:ln/>
        </p:spPr>
        <p:txBody>
          <a:bodyPr wrap="square" lIns="0" tIns="0" rIns="0" bIns="0" rtlCol="0" anchor="ctr">
            <a:normAutofit/>
          </a:bodyPr>
          <a:lstStyle/>
          <a:p>
            <a:pPr indent="0" marL="0">
              <a:buNone/>
            </a:pPr>
            <a:r>
              <a:rPr lang="en-US" sz="1400" i="1" dirty="0">
                <a:solidFill>
                  <a:srgbClr val="FFFFFF"/>
                </a:solidFill>
                <a:latin typeface="Calibri" pitchFamily="34" charset="0"/>
                <a:ea typeface="Calibri" pitchFamily="34" charset="-122"/>
                <a:cs typeface="Calibri" pitchFamily="34" charset="-120"/>
              </a:rPr>
              <a:t>“Open the tensorflow repository on GitHub”</a:t>
            </a:r>
            <a:endParaRPr lang="en-US" sz="1400" dirty="0"/>
          </a:p>
        </p:txBody>
      </p:sp>
      <p:pic>
        <p:nvPicPr>
          <p:cNvPr id="19" name="Image 3" descr="preencoded.png">    </p:cNvPr>
          <p:cNvPicPr>
            <a:picLocks noChangeAspect="1"/>
          </p:cNvPicPr>
          <p:nvPr/>
        </p:nvPicPr>
        <p:blipFill>
          <a:blip r:embed="rId4"/>
          <a:stretch>
            <a:fillRect/>
          </a:stretch>
        </p:blipFill>
        <p:spPr>
          <a:xfrm>
            <a:off x="5760720" y="2194560"/>
            <a:ext cx="256032" cy="256032"/>
          </a:xfrm>
          <a:prstGeom prst="rect">
            <a:avLst/>
          </a:prstGeom>
        </p:spPr>
      </p:pic>
      <p:sp>
        <p:nvSpPr>
          <p:cNvPr id="20" name="Text 14"/>
          <p:cNvSpPr txBox="1"/>
          <p:nvPr/>
        </p:nvSpPr>
        <p:spPr>
          <a:xfrm>
            <a:off x="6126480" y="2157984"/>
            <a:ext cx="5486400" cy="329184"/>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tensorflow/tensorflow opened · 18 s · no LLM calls</a:t>
            </a:r>
            <a:endParaRPr lang="en-US" sz="1400" dirty="0"/>
          </a:p>
        </p:txBody>
      </p:sp>
      <p:sp>
        <p:nvSpPr>
          <p:cNvPr id="21" name="Shape 15"/>
          <p:cNvSpPr/>
          <p:nvPr/>
        </p:nvSpPr>
        <p:spPr>
          <a:xfrm>
            <a:off x="5669280" y="2670048"/>
            <a:ext cx="5971032" cy="502920"/>
          </a:xfrm>
          <a:prstGeom prst="roundRect">
            <a:avLst>
              <a:gd name="adj" fmla="val 50000"/>
            </a:avLst>
          </a:prstGeom>
          <a:solidFill>
            <a:srgbClr val="121833"/>
          </a:solidFill>
          <a:ln w="12700">
            <a:solidFill>
              <a:srgbClr val="121833"/>
            </a:solidFill>
            <a:prstDash val="solid"/>
          </a:ln>
        </p:spPr>
      </p:sp>
      <p:sp>
        <p:nvSpPr>
          <p:cNvPr id="22" name="Shape 16"/>
          <p:cNvSpPr/>
          <p:nvPr/>
        </p:nvSpPr>
        <p:spPr>
          <a:xfrm>
            <a:off x="5733288" y="2734056"/>
            <a:ext cx="374904" cy="374904"/>
          </a:xfrm>
          <a:prstGeom prst="ellipse">
            <a:avLst/>
          </a:prstGeom>
          <a:solidFill>
            <a:srgbClr val="FF5B3A"/>
          </a:solidFill>
          <a:ln w="12700">
            <a:solidFill>
              <a:srgbClr val="FF5B3A"/>
            </a:solidFill>
            <a:prstDash val="solid"/>
          </a:ln>
        </p:spPr>
      </p:sp>
      <p:pic>
        <p:nvPicPr>
          <p:cNvPr id="23" name="Image 4" descr="preencoded.png">    </p:cNvPr>
          <p:cNvPicPr>
            <a:picLocks noChangeAspect="1"/>
          </p:cNvPicPr>
          <p:nvPr/>
        </p:nvPicPr>
        <p:blipFill>
          <a:blip r:embed="rId5"/>
          <a:stretch>
            <a:fillRect/>
          </a:stretch>
        </p:blipFill>
        <p:spPr>
          <a:xfrm>
            <a:off x="5808269" y="2809037"/>
            <a:ext cx="224942" cy="224942"/>
          </a:xfrm>
          <a:prstGeom prst="rect">
            <a:avLst/>
          </a:prstGeom>
        </p:spPr>
      </p:pic>
      <p:sp>
        <p:nvSpPr>
          <p:cNvPr id="24" name="Text 17"/>
          <p:cNvSpPr txBox="1"/>
          <p:nvPr/>
        </p:nvSpPr>
        <p:spPr>
          <a:xfrm>
            <a:off x="6227064" y="2670048"/>
            <a:ext cx="5321808" cy="502920"/>
          </a:xfrm>
          <a:prstGeom prst="rect">
            <a:avLst/>
          </a:prstGeom>
          <a:noFill/>
          <a:ln/>
        </p:spPr>
        <p:txBody>
          <a:bodyPr wrap="square" lIns="0" tIns="0" rIns="0" bIns="0" rtlCol="0" anchor="ctr">
            <a:normAutofit/>
          </a:bodyPr>
          <a:lstStyle/>
          <a:p>
            <a:pPr indent="0" marL="0">
              <a:buNone/>
            </a:pPr>
            <a:r>
              <a:rPr lang="en-US" sz="1400" i="1" dirty="0">
                <a:solidFill>
                  <a:srgbClr val="FFFFFF"/>
                </a:solidFill>
                <a:latin typeface="Calibri" pitchFamily="34" charset="0"/>
                <a:ea typeface="Calibri" pitchFamily="34" charset="-122"/>
                <a:cs typeface="Calibri" pitchFamily="34" charset="-120"/>
              </a:rPr>
              <a:t>“open the linux repository on github”</a:t>
            </a:r>
            <a:endParaRPr lang="en-US" sz="1400" dirty="0"/>
          </a:p>
        </p:txBody>
      </p:sp>
      <p:pic>
        <p:nvPicPr>
          <p:cNvPr id="25" name="Image 5" descr="preencoded.png">    </p:cNvPr>
          <p:cNvPicPr>
            <a:picLocks noChangeAspect="1"/>
          </p:cNvPicPr>
          <p:nvPr/>
        </p:nvPicPr>
        <p:blipFill>
          <a:blip r:embed="rId6"/>
          <a:stretch>
            <a:fillRect/>
          </a:stretch>
        </p:blipFill>
        <p:spPr>
          <a:xfrm>
            <a:off x="5760720" y="3310128"/>
            <a:ext cx="256032" cy="256032"/>
          </a:xfrm>
          <a:prstGeom prst="rect">
            <a:avLst/>
          </a:prstGeom>
        </p:spPr>
      </p:pic>
      <p:sp>
        <p:nvSpPr>
          <p:cNvPr id="26" name="Text 18"/>
          <p:cNvSpPr txBox="1"/>
          <p:nvPr/>
        </p:nvSpPr>
        <p:spPr>
          <a:xfrm>
            <a:off x="6126480" y="3273552"/>
            <a:ext cx="5486400" cy="329184"/>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torvalds/linux opened · 17 s · no LLM calls</a:t>
            </a:r>
            <a:endParaRPr lang="en-US" sz="1400" dirty="0"/>
          </a:p>
        </p:txBody>
      </p:sp>
      <p:sp>
        <p:nvSpPr>
          <p:cNvPr id="27" name="Shape 19"/>
          <p:cNvSpPr/>
          <p:nvPr/>
        </p:nvSpPr>
        <p:spPr>
          <a:xfrm>
            <a:off x="5669280" y="3785616"/>
            <a:ext cx="5971032" cy="502920"/>
          </a:xfrm>
          <a:prstGeom prst="roundRect">
            <a:avLst>
              <a:gd name="adj" fmla="val 50000"/>
            </a:avLst>
          </a:prstGeom>
          <a:solidFill>
            <a:srgbClr val="121833"/>
          </a:solidFill>
          <a:ln w="12700">
            <a:solidFill>
              <a:srgbClr val="121833"/>
            </a:solidFill>
            <a:prstDash val="solid"/>
          </a:ln>
        </p:spPr>
      </p:sp>
      <p:sp>
        <p:nvSpPr>
          <p:cNvPr id="28" name="Shape 20"/>
          <p:cNvSpPr/>
          <p:nvPr/>
        </p:nvSpPr>
        <p:spPr>
          <a:xfrm>
            <a:off x="5733288" y="3849624"/>
            <a:ext cx="374904" cy="374904"/>
          </a:xfrm>
          <a:prstGeom prst="ellipse">
            <a:avLst/>
          </a:prstGeom>
          <a:solidFill>
            <a:srgbClr val="FF5B3A"/>
          </a:solidFill>
          <a:ln w="12700">
            <a:solidFill>
              <a:srgbClr val="FF5B3A"/>
            </a:solidFill>
            <a:prstDash val="solid"/>
          </a:ln>
        </p:spPr>
      </p:sp>
      <p:pic>
        <p:nvPicPr>
          <p:cNvPr id="29" name="Image 6" descr="preencoded.png">    </p:cNvPr>
          <p:cNvPicPr>
            <a:picLocks noChangeAspect="1"/>
          </p:cNvPicPr>
          <p:nvPr/>
        </p:nvPicPr>
        <p:blipFill>
          <a:blip r:embed="rId7"/>
          <a:stretch>
            <a:fillRect/>
          </a:stretch>
        </p:blipFill>
        <p:spPr>
          <a:xfrm>
            <a:off x="5808269" y="3924605"/>
            <a:ext cx="224942" cy="224942"/>
          </a:xfrm>
          <a:prstGeom prst="rect">
            <a:avLst/>
          </a:prstGeom>
        </p:spPr>
      </p:pic>
      <p:sp>
        <p:nvSpPr>
          <p:cNvPr id="30" name="Text 21"/>
          <p:cNvSpPr txBox="1"/>
          <p:nvPr/>
        </p:nvSpPr>
        <p:spPr>
          <a:xfrm>
            <a:off x="6227064" y="3785616"/>
            <a:ext cx="5321808" cy="502920"/>
          </a:xfrm>
          <a:prstGeom prst="rect">
            <a:avLst/>
          </a:prstGeom>
          <a:noFill/>
          <a:ln/>
        </p:spPr>
        <p:txBody>
          <a:bodyPr wrap="square" lIns="0" tIns="0" rIns="0" bIns="0" rtlCol="0" anchor="ctr">
            <a:normAutofit/>
          </a:bodyPr>
          <a:lstStyle/>
          <a:p>
            <a:pPr indent="0" marL="0">
              <a:buNone/>
            </a:pPr>
            <a:r>
              <a:rPr lang="en-US" sz="1400" i="1" dirty="0">
                <a:solidFill>
                  <a:srgbClr val="FFFFFF"/>
                </a:solidFill>
                <a:latin typeface="Calibri" pitchFamily="34" charset="0"/>
                <a:ea typeface="Calibri" pitchFamily="34" charset="-122"/>
                <a:cs typeface="Calibri" pitchFamily="34" charset="-120"/>
              </a:rPr>
              <a:t>“show me the react repo on github”</a:t>
            </a:r>
            <a:endParaRPr lang="en-US" sz="1400" dirty="0"/>
          </a:p>
        </p:txBody>
      </p:sp>
      <p:pic>
        <p:nvPicPr>
          <p:cNvPr id="31" name="Image 7" descr="preencoded.png">    </p:cNvPr>
          <p:cNvPicPr>
            <a:picLocks noChangeAspect="1"/>
          </p:cNvPicPr>
          <p:nvPr/>
        </p:nvPicPr>
        <p:blipFill>
          <a:blip r:embed="rId8"/>
          <a:stretch>
            <a:fillRect/>
          </a:stretch>
        </p:blipFill>
        <p:spPr>
          <a:xfrm>
            <a:off x="5760720" y="4425696"/>
            <a:ext cx="256032" cy="256032"/>
          </a:xfrm>
          <a:prstGeom prst="rect">
            <a:avLst/>
          </a:prstGeom>
        </p:spPr>
      </p:pic>
      <p:sp>
        <p:nvSpPr>
          <p:cNvPr id="32" name="Text 22"/>
          <p:cNvSpPr txBox="1"/>
          <p:nvPr/>
        </p:nvSpPr>
        <p:spPr>
          <a:xfrm>
            <a:off x="6126480" y="4389120"/>
            <a:ext cx="5486400" cy="329184"/>
          </a:xfrm>
          <a:prstGeom prst="rect">
            <a:avLst/>
          </a:prstGeom>
          <a:noFill/>
          <a:ln/>
        </p:spPr>
        <p:txBody>
          <a:bodyPr wrap="square" lIns="0" tIns="0" rIns="0" bIns="0" rtlCol="0" anchor="ctr"/>
          <a:lstStyle/>
          <a:p>
            <a:pPr indent="0" marL="0">
              <a:buNone/>
            </a:pPr>
            <a:r>
              <a:rPr lang="en-US" sz="1400" dirty="0">
                <a:solidFill>
                  <a:srgbClr val="1A1F36"/>
                </a:solidFill>
                <a:latin typeface="Calibri" pitchFamily="34" charset="0"/>
                <a:ea typeface="Calibri" pitchFamily="34" charset="-122"/>
                <a:cs typeface="Calibri" pitchFamily="34" charset="-120"/>
              </a:rPr>
              <a:t>a paraphrase: understood, and React’s repository opened</a:t>
            </a:r>
            <a:endParaRPr lang="en-US" sz="1400" dirty="0"/>
          </a:p>
        </p:txBody>
      </p:sp>
      <p:sp>
        <p:nvSpPr>
          <p:cNvPr id="33" name="Shape 23"/>
          <p:cNvSpPr/>
          <p:nvPr/>
        </p:nvSpPr>
        <p:spPr>
          <a:xfrm>
            <a:off x="5669280" y="4983480"/>
            <a:ext cx="5971032" cy="1051560"/>
          </a:xfrm>
          <a:prstGeom prst="roundRect">
            <a:avLst>
              <a:gd name="adj" fmla="val 10435"/>
            </a:avLst>
          </a:prstGeom>
          <a:solidFill>
            <a:srgbClr val="121833"/>
          </a:solidFill>
          <a:ln w="12700">
            <a:solidFill>
              <a:srgbClr val="121833"/>
            </a:solidFill>
            <a:prstDash val="solid"/>
          </a:ln>
        </p:spPr>
      </p:sp>
      <p:sp>
        <p:nvSpPr>
          <p:cNvPr id="34" name="Text 24"/>
          <p:cNvSpPr txBox="1"/>
          <p:nvPr/>
        </p:nvSpPr>
        <p:spPr>
          <a:xfrm>
            <a:off x="5897880" y="4983480"/>
            <a:ext cx="557784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There is no per-app code path — not for GitHub, and not for Zomato, Amazon or Myntra either. The same recorder, generaliser and replay engine learned this from one demonstration, the way a judge teaches a new flow.</a:t>
            </a:r>
            <a:endParaRPr lang="en-US" sz="1350" dirty="0"/>
          </a:p>
        </p:txBody>
      </p:sp>
      <p:sp>
        <p:nvSpPr>
          <p:cNvPr id="36" name="Text 25"/>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7" name="Text 26"/>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THEME 3 TEST CASES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All 14 pass on our build, plus the three bonuses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486400" cy="914400"/>
        </p:xfrm>
        <a:graphic>
          <a:graphicData uri="http://schemas.openxmlformats.org/drawingml/2006/table">
            <a:tbl>
              <a:tblPr/>
              <a:tblGrid>
                <a:gridCol w="548640"/>
                <a:gridCol w="1874520"/>
                <a:gridCol w="3063240"/>
              </a:tblGrid>
              <a:tr h="429768">
                <a:tc>
                  <a:txBody>
                    <a:bodyPr/>
                    <a:lstStyle/>
                    <a:p>
                      <a:pPr indent="0" marL="0">
                        <a:buNone/>
                      </a:pP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100" b="1" dirty="0">
                          <a:solidFill>
                            <a:srgbClr val="5C637A"/>
                          </a:solidFill>
                          <a:latin typeface="Arial" pitchFamily="34" charset="0"/>
                          <a:ea typeface="Arial" pitchFamily="34" charset="-122"/>
                          <a:cs typeface="Arial" pitchFamily="34" charset="-120"/>
                        </a:rPr>
                        <a:t>Test</a:t>
                      </a: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100" b="1" dirty="0">
                          <a:solidFill>
                            <a:srgbClr val="5C637A"/>
                          </a:solidFill>
                          <a:latin typeface="Arial" pitchFamily="34" charset="0"/>
                          <a:ea typeface="Arial" pitchFamily="34" charset="-122"/>
                          <a:cs typeface="Arial" pitchFamily="34" charset="-120"/>
                        </a:rPr>
                        <a:t>What happens</a:t>
                      </a: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Teach – food</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Learned from one demo; steps shown in words</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T2</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Exact replay</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Stops before paying, 8/8, no LLM calls</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T3</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Paraphrase</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“Get me a margherita…”, “I want to order…” (asks restaurant)</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T4</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Slot: item</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Farmhouse, garlic bread, another restaurant</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T5</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Slot: quantity</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“two” → quantity 2 on the sheet, verified</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T6</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Slot: address</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“deliver to work” → Work selected</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T7</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Screen change</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Pop-up dismissed, item already in cart, shop closed</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T8</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Teach – e-commerce</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Amazon task learned, distinct from T1</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T9</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Cross slot + replay</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“phone case” → first non-sponsored result</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153912" y="1508760"/>
          <a:ext cx="5486400" cy="914400"/>
        </p:xfrm>
        <a:graphic>
          <a:graphicData uri="http://schemas.openxmlformats.org/drawingml/2006/table">
            <a:tbl>
              <a:tblPr/>
              <a:tblGrid>
                <a:gridCol w="548640"/>
                <a:gridCol w="1874520"/>
                <a:gridCol w="3063240"/>
              </a:tblGrid>
              <a:tr h="429768">
                <a:tc>
                  <a:txBody>
                    <a:bodyPr/>
                    <a:lstStyle/>
                    <a:p>
                      <a:pPr indent="0" marL="0">
                        <a:buNone/>
                      </a:pP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100" b="1" dirty="0">
                          <a:solidFill>
                            <a:srgbClr val="5C637A"/>
                          </a:solidFill>
                          <a:latin typeface="Arial" pitchFamily="34" charset="0"/>
                          <a:ea typeface="Arial" pitchFamily="34" charset="-122"/>
                          <a:cs typeface="Arial" pitchFamily="34" charset="-120"/>
                        </a:rPr>
                        <a:t>Test</a:t>
                      </a: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100" b="1" dirty="0">
                          <a:solidFill>
                            <a:srgbClr val="5C637A"/>
                          </a:solidFill>
                          <a:latin typeface="Arial" pitchFamily="34" charset="0"/>
                          <a:ea typeface="Arial" pitchFamily="34" charset="-122"/>
                          <a:cs typeface="Arial" pitchFamily="34" charset="-120"/>
                        </a:rPr>
                        <a:t>What happens</a:t>
                      </a:r>
                      <a:endParaRPr lang="en-US" sz="1100" dirty="0">
                        <a:latin typeface="Arial" charset="0"/>
                        <a:ea typeface="Arial" charset="0"/>
                        <a:cs typeface="Arial" charset="0"/>
                      </a:endParaRPr>
                    </a:p>
                  </a:txBody>
                  <a:tcPr marL="54864" marR="54864" marT="0" marB="0">
                    <a:lnL w="0" cap="flat" cmpd="sng" algn="ctr">
                      <a:noFill/>
                    </a:lnL>
                    <a:lnR w="0" cap="flat" cmpd="sng" algn="ctr">
                      <a:noFill/>
                    </a:lnR>
                    <a:lnT w="0" cap="flat" cmpd="sng" algn="ctr">
                      <a:noFill/>
                    </a:lnT>
                    <a:lnB w="12700" cap="flat" cmpd="sng" algn="ctr">
                      <a:solidFill>
                        <a:srgbClr val="E2E5EE"/>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T10</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Genuinely stuck</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Signed out 2.8 s · app in Hindi 5 s · no taps</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T11</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Credential boundary</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Stops before paying: “Your turn.”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T12</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Unknown intent</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“I haven’t learned that yet. Teach me?”</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T13</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Ambiguity</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“Order pizza.” → asks restaurant, then pizza</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0E9F8A"/>
                          </a:solidFill>
                          <a:latin typeface="Arial" pitchFamily="34" charset="0"/>
                          <a:ea typeface="Arial" pitchFamily="34" charset="-122"/>
                          <a:cs typeface="Arial" pitchFamily="34" charset="-120"/>
                        </a:rPr>
                        <a:t>T14</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“No… stopped at step 2 of 11 (Open search bar)”</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FF5B3A"/>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Noisy demo</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Mis-tap, call, unneeded filter dropped</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FF5B3A"/>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Similar app</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Amazon task runs on Myntra, 7/7</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r h="429768">
                <a:tc>
                  <a:txBody>
                    <a:bodyPr/>
                    <a:lstStyle/>
                    <a:p>
                      <a:pPr indent="0" marL="0">
                        <a:buNone/>
                      </a:pPr>
                      <a:r>
                        <a:rPr lang="en-US" sz="1150" b="1" dirty="0">
                          <a:solidFill>
                            <a:srgbClr val="FF5B3A"/>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50" b="1" dirty="0">
                          <a:solidFill>
                            <a:srgbClr val="1A1F36"/>
                          </a:solidFill>
                          <a:latin typeface="Calibri" pitchFamily="34" charset="0"/>
                          <a:ea typeface="Calibri" pitchFamily="34" charset="-122"/>
                          <a:cs typeface="Calibri" pitchFamily="34" charset="-120"/>
                        </a:rPr>
                        <a:t>Mid-flow parameter</a:t>
                      </a:r>
                      <a:endParaRPr lang="en-US" sz="115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c>
                  <a:txBody>
                    <a:bodyPr/>
                    <a:lstStyle/>
                    <a:p>
                      <a:pPr indent="0" marL="0">
                        <a:buNone/>
                      </a:pPr>
                      <a:r>
                        <a:rPr lang="en-US" sz="1100" dirty="0">
                          <a:solidFill>
                            <a:srgbClr val="5C637A"/>
                          </a:solidFill>
                          <a:latin typeface="Calibri" pitchFamily="34" charset="0"/>
                          <a:ea typeface="Calibri" pitchFamily="34" charset="-122"/>
                          <a:cs typeface="Calibri" pitchFamily="34" charset="-120"/>
                        </a:rPr>
                        <a:t>“Which restaurant…?”, “Which size…?”</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9525" cap="flat" cmpd="sng" algn="ctr">
                      <a:solidFill>
                        <a:srgbClr val="E2E5EE"/>
                      </a:solidFill>
                      <a:prstDash val="solid"/>
                      <a:round/>
                      <a:headEnd type="none" w="med" len="med"/>
                      <a:tailEnd type="none" w="med" len="med"/>
                    </a:lnB>
                  </a:tcPr>
                </a:tc>
              </a:tr>
            </a:tbl>
          </a:graphicData>
        </a:graphic>
      </p:graphicFrame>
      <p:sp>
        <p:nvSpPr>
          <p:cNvPr id="7" name="Text 2"/>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8" name="Text 3"/>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WHAT’S NEW IN OUR APPROACH</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Six ideas that make a one-shot demo dependable</a:t>
            </a:r>
            <a:endParaRPr lang="en-US" sz="3000" dirty="0"/>
          </a:p>
        </p:txBody>
      </p:sp>
      <p:sp>
        <p:nvSpPr>
          <p:cNvPr id="4" name="Shape 2"/>
          <p:cNvSpPr/>
          <p:nvPr/>
        </p:nvSpPr>
        <p:spPr>
          <a:xfrm>
            <a:off x="548640" y="1554480"/>
            <a:ext cx="3566160" cy="2057400"/>
          </a:xfrm>
          <a:prstGeom prst="roundRect">
            <a:avLst>
              <a:gd name="adj" fmla="val 5333"/>
            </a:avLst>
          </a:prstGeom>
          <a:solidFill>
            <a:srgbClr val="F4F5FA"/>
          </a:solidFill>
          <a:ln w="12700">
            <a:solidFill>
              <a:srgbClr val="F4F5FA"/>
            </a:solidFill>
            <a:prstDash val="solid"/>
          </a:ln>
        </p:spPr>
      </p:sp>
      <p:sp>
        <p:nvSpPr>
          <p:cNvPr id="5" name="Shape 3"/>
          <p:cNvSpPr/>
          <p:nvPr/>
        </p:nvSpPr>
        <p:spPr>
          <a:xfrm>
            <a:off x="804672" y="1810512"/>
            <a:ext cx="603504" cy="603504"/>
          </a:xfrm>
          <a:prstGeom prst="ellipse">
            <a:avLst/>
          </a:prstGeom>
          <a:solidFill>
            <a:srgbClr val="121833"/>
          </a:solidFill>
          <a:ln w="12700">
            <a:solidFill>
              <a:srgbClr val="121833"/>
            </a:solidFill>
            <a:prstDash val="solid"/>
          </a:ln>
        </p:spPr>
      </p:sp>
      <p:pic>
        <p:nvPicPr>
          <p:cNvPr id="6" name="Image 0" descr="preencoded.png">    </p:cNvPr>
          <p:cNvPicPr>
            <a:picLocks noChangeAspect="1"/>
          </p:cNvPicPr>
          <p:nvPr/>
        </p:nvPicPr>
        <p:blipFill>
          <a:blip r:embed="rId1"/>
          <a:stretch>
            <a:fillRect/>
          </a:stretch>
        </p:blipFill>
        <p:spPr>
          <a:xfrm>
            <a:off x="937443" y="1943283"/>
            <a:ext cx="337962" cy="337962"/>
          </a:xfrm>
          <a:prstGeom prst="rect">
            <a:avLst/>
          </a:prstGeom>
        </p:spPr>
      </p:pic>
      <p:sp>
        <p:nvSpPr>
          <p:cNvPr id="7" name="Text 4"/>
          <p:cNvSpPr txBox="1"/>
          <p:nvPr/>
        </p:nvSpPr>
        <p:spPr>
          <a:xfrm>
            <a:off x="1554480" y="181051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Tap capture that works everywhere</a:t>
            </a:r>
            <a:endParaRPr lang="en-US" sz="1500" dirty="0"/>
          </a:p>
        </p:txBody>
      </p:sp>
      <p:sp>
        <p:nvSpPr>
          <p:cNvPr id="8" name="Text 5"/>
          <p:cNvSpPr txBox="1"/>
          <p:nvPr/>
        </p:nvSpPr>
        <p:spPr>
          <a:xfrm>
            <a:off x="804672" y="256032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Our own transparent overlay hit-tests every touch against the UI tree, so taps are recorded even where apps send no accessibility events.</a:t>
            </a:r>
            <a:endParaRPr lang="en-US" sz="1300" dirty="0"/>
          </a:p>
        </p:txBody>
      </p:sp>
      <p:sp>
        <p:nvSpPr>
          <p:cNvPr id="9" name="Shape 6"/>
          <p:cNvSpPr/>
          <p:nvPr/>
        </p:nvSpPr>
        <p:spPr>
          <a:xfrm>
            <a:off x="4361688" y="1554480"/>
            <a:ext cx="3566160" cy="2057400"/>
          </a:xfrm>
          <a:prstGeom prst="roundRect">
            <a:avLst>
              <a:gd name="adj" fmla="val 5333"/>
            </a:avLst>
          </a:prstGeom>
          <a:solidFill>
            <a:srgbClr val="F4F5FA"/>
          </a:solidFill>
          <a:ln w="12700">
            <a:solidFill>
              <a:srgbClr val="F4F5FA"/>
            </a:solidFill>
            <a:prstDash val="solid"/>
          </a:ln>
        </p:spPr>
      </p:sp>
      <p:sp>
        <p:nvSpPr>
          <p:cNvPr id="10" name="Shape 7"/>
          <p:cNvSpPr/>
          <p:nvPr/>
        </p:nvSpPr>
        <p:spPr>
          <a:xfrm>
            <a:off x="4617720" y="1810512"/>
            <a:ext cx="603504" cy="603504"/>
          </a:xfrm>
          <a:prstGeom prst="ellipse">
            <a:avLst/>
          </a:prstGeom>
          <a:solidFill>
            <a:srgbClr val="0E9F8A"/>
          </a:solidFill>
          <a:ln w="12700">
            <a:solidFill>
              <a:srgbClr val="0E9F8A"/>
            </a:solidFill>
            <a:prstDash val="solid"/>
          </a:ln>
        </p:spPr>
      </p:sp>
      <p:pic>
        <p:nvPicPr>
          <p:cNvPr id="11" name="Image 1" descr="preencoded.png">    </p:cNvPr>
          <p:cNvPicPr>
            <a:picLocks noChangeAspect="1"/>
          </p:cNvPicPr>
          <p:nvPr/>
        </p:nvPicPr>
        <p:blipFill>
          <a:blip r:embed="rId2"/>
          <a:stretch>
            <a:fillRect/>
          </a:stretch>
        </p:blipFill>
        <p:spPr>
          <a:xfrm>
            <a:off x="4750491" y="1943283"/>
            <a:ext cx="337962" cy="337962"/>
          </a:xfrm>
          <a:prstGeom prst="rect">
            <a:avLst/>
          </a:prstGeom>
        </p:spPr>
      </p:pic>
      <p:sp>
        <p:nvSpPr>
          <p:cNvPr id="12" name="Text 8"/>
          <p:cNvSpPr txBox="1"/>
          <p:nvPr/>
        </p:nvSpPr>
        <p:spPr>
          <a:xfrm>
            <a:off x="5367528" y="181051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The model only where it’s needed</a:t>
            </a:r>
            <a:endParaRPr lang="en-US" sz="1500" dirty="0"/>
          </a:p>
        </p:txBody>
      </p:sp>
      <p:sp>
        <p:nvSpPr>
          <p:cNvPr id="13" name="Text 9"/>
          <p:cNvSpPr txBox="1"/>
          <p:nvPr/>
        </p:nvSpPr>
        <p:spPr>
          <a:xfrm>
            <a:off x="4617720" y="256032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Known screens replay with a scored matcher: fast, free, deterministic. Exact commands work with no network at all.</a:t>
            </a:r>
            <a:endParaRPr lang="en-US" sz="1300" dirty="0"/>
          </a:p>
        </p:txBody>
      </p:sp>
      <p:sp>
        <p:nvSpPr>
          <p:cNvPr id="14" name="Shape 10"/>
          <p:cNvSpPr/>
          <p:nvPr/>
        </p:nvSpPr>
        <p:spPr>
          <a:xfrm>
            <a:off x="8174736" y="1554480"/>
            <a:ext cx="3566160" cy="2057400"/>
          </a:xfrm>
          <a:prstGeom prst="roundRect">
            <a:avLst>
              <a:gd name="adj" fmla="val 5333"/>
            </a:avLst>
          </a:prstGeom>
          <a:solidFill>
            <a:srgbClr val="F4F5FA"/>
          </a:solidFill>
          <a:ln w="12700">
            <a:solidFill>
              <a:srgbClr val="F4F5FA"/>
            </a:solidFill>
            <a:prstDash val="solid"/>
          </a:ln>
        </p:spPr>
      </p:sp>
      <p:sp>
        <p:nvSpPr>
          <p:cNvPr id="15" name="Shape 11"/>
          <p:cNvSpPr/>
          <p:nvPr/>
        </p:nvSpPr>
        <p:spPr>
          <a:xfrm>
            <a:off x="8430768" y="1810512"/>
            <a:ext cx="603504" cy="603504"/>
          </a:xfrm>
          <a:prstGeom prst="ellipse">
            <a:avLst/>
          </a:prstGeom>
          <a:solidFill>
            <a:srgbClr val="121833"/>
          </a:solidFill>
          <a:ln w="12700">
            <a:solidFill>
              <a:srgbClr val="121833"/>
            </a:solidFill>
            <a:prstDash val="solid"/>
          </a:ln>
        </p:spPr>
      </p:sp>
      <p:pic>
        <p:nvPicPr>
          <p:cNvPr id="16" name="Image 2" descr="preencoded.png">    </p:cNvPr>
          <p:cNvPicPr>
            <a:picLocks noChangeAspect="1"/>
          </p:cNvPicPr>
          <p:nvPr/>
        </p:nvPicPr>
        <p:blipFill>
          <a:blip r:embed="rId3"/>
          <a:stretch>
            <a:fillRect/>
          </a:stretch>
        </p:blipFill>
        <p:spPr>
          <a:xfrm>
            <a:off x="8563539" y="1943283"/>
            <a:ext cx="337962" cy="337962"/>
          </a:xfrm>
          <a:prstGeom prst="rect">
            <a:avLst/>
          </a:prstGeom>
        </p:spPr>
      </p:pic>
      <p:sp>
        <p:nvSpPr>
          <p:cNvPr id="17" name="Text 12"/>
          <p:cNvSpPr txBox="1"/>
          <p:nvPr/>
        </p:nvSpPr>
        <p:spPr>
          <a:xfrm>
            <a:off x="9180576" y="181051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Proof-checked steps</a:t>
            </a:r>
            <a:endParaRPr lang="en-US" sz="1500" dirty="0"/>
          </a:p>
        </p:txBody>
      </p:sp>
      <p:sp>
        <p:nvSpPr>
          <p:cNvPr id="18" name="Text 13"/>
          <p:cNvSpPr txBox="1"/>
          <p:nvPr/>
        </p:nvSpPr>
        <p:spPr>
          <a:xfrm>
            <a:off x="8430768" y="256032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“Done” needs evidence on screen — the cart count, a quantity stepper, the dish’s name, the next button.</a:t>
            </a:r>
            <a:endParaRPr lang="en-US" sz="1300" dirty="0"/>
          </a:p>
        </p:txBody>
      </p:sp>
      <p:sp>
        <p:nvSpPr>
          <p:cNvPr id="19" name="Shape 14"/>
          <p:cNvSpPr/>
          <p:nvPr/>
        </p:nvSpPr>
        <p:spPr>
          <a:xfrm>
            <a:off x="548640" y="3886200"/>
            <a:ext cx="3566160" cy="2057400"/>
          </a:xfrm>
          <a:prstGeom prst="roundRect">
            <a:avLst>
              <a:gd name="adj" fmla="val 5333"/>
            </a:avLst>
          </a:prstGeom>
          <a:solidFill>
            <a:srgbClr val="F4F5FA"/>
          </a:solidFill>
          <a:ln w="12700">
            <a:solidFill>
              <a:srgbClr val="F4F5FA"/>
            </a:solidFill>
            <a:prstDash val="solid"/>
          </a:ln>
        </p:spPr>
      </p:sp>
      <p:sp>
        <p:nvSpPr>
          <p:cNvPr id="20" name="Shape 15"/>
          <p:cNvSpPr/>
          <p:nvPr/>
        </p:nvSpPr>
        <p:spPr>
          <a:xfrm>
            <a:off x="804672" y="4142232"/>
            <a:ext cx="603504" cy="603504"/>
          </a:xfrm>
          <a:prstGeom prst="ellipse">
            <a:avLst/>
          </a:prstGeom>
          <a:solidFill>
            <a:srgbClr val="121833"/>
          </a:solidFill>
          <a:ln w="12700">
            <a:solidFill>
              <a:srgbClr val="121833"/>
            </a:solidFill>
            <a:prstDash val="solid"/>
          </a:ln>
        </p:spPr>
      </p:sp>
      <p:pic>
        <p:nvPicPr>
          <p:cNvPr id="21" name="Image 3" descr="preencoded.png">    </p:cNvPr>
          <p:cNvPicPr>
            <a:picLocks noChangeAspect="1"/>
          </p:cNvPicPr>
          <p:nvPr/>
        </p:nvPicPr>
        <p:blipFill>
          <a:blip r:embed="rId4"/>
          <a:stretch>
            <a:fillRect/>
          </a:stretch>
        </p:blipFill>
        <p:spPr>
          <a:xfrm>
            <a:off x="937443" y="4275003"/>
            <a:ext cx="337962" cy="337962"/>
          </a:xfrm>
          <a:prstGeom prst="rect">
            <a:avLst/>
          </a:prstGeom>
        </p:spPr>
      </p:pic>
      <p:sp>
        <p:nvSpPr>
          <p:cNvPr id="22" name="Text 16"/>
          <p:cNvSpPr txBox="1"/>
          <p:nvPr/>
        </p:nvSpPr>
        <p:spPr>
          <a:xfrm>
            <a:off x="1554480" y="414223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Clean tasks from messy demos</a:t>
            </a:r>
            <a:endParaRPr lang="en-US" sz="1500" dirty="0"/>
          </a:p>
        </p:txBody>
      </p:sp>
      <p:sp>
        <p:nvSpPr>
          <p:cNvPr id="23" name="Text 17"/>
          <p:cNvSpPr txBox="1"/>
          <p:nvPr/>
        </p:nvSpPr>
        <p:spPr>
          <a:xfrm>
            <a:off x="804672" y="489204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Mis-taps, an answered call, an unneeded filter or pop-up are dropped from what it learns.</a:t>
            </a:r>
            <a:endParaRPr lang="en-US" sz="1300" dirty="0"/>
          </a:p>
        </p:txBody>
      </p:sp>
      <p:sp>
        <p:nvSpPr>
          <p:cNvPr id="24" name="Shape 18"/>
          <p:cNvSpPr/>
          <p:nvPr/>
        </p:nvSpPr>
        <p:spPr>
          <a:xfrm>
            <a:off x="4361688" y="3886200"/>
            <a:ext cx="3566160" cy="2057400"/>
          </a:xfrm>
          <a:prstGeom prst="roundRect">
            <a:avLst>
              <a:gd name="adj" fmla="val 5333"/>
            </a:avLst>
          </a:prstGeom>
          <a:solidFill>
            <a:srgbClr val="F4F5FA"/>
          </a:solidFill>
          <a:ln w="12700">
            <a:solidFill>
              <a:srgbClr val="F4F5FA"/>
            </a:solidFill>
            <a:prstDash val="solid"/>
          </a:ln>
        </p:spPr>
      </p:sp>
      <p:sp>
        <p:nvSpPr>
          <p:cNvPr id="25" name="Shape 19"/>
          <p:cNvSpPr/>
          <p:nvPr/>
        </p:nvSpPr>
        <p:spPr>
          <a:xfrm>
            <a:off x="4617720" y="4142232"/>
            <a:ext cx="603504" cy="603504"/>
          </a:xfrm>
          <a:prstGeom prst="ellipse">
            <a:avLst/>
          </a:prstGeom>
          <a:solidFill>
            <a:srgbClr val="FF5B3A"/>
          </a:solidFill>
          <a:ln w="12700">
            <a:solidFill>
              <a:srgbClr val="FF5B3A"/>
            </a:solidFill>
            <a:prstDash val="solid"/>
          </a:ln>
        </p:spPr>
      </p:sp>
      <p:pic>
        <p:nvPicPr>
          <p:cNvPr id="26" name="Image 4" descr="preencoded.png">    </p:cNvPr>
          <p:cNvPicPr>
            <a:picLocks noChangeAspect="1"/>
          </p:cNvPicPr>
          <p:nvPr/>
        </p:nvPicPr>
        <p:blipFill>
          <a:blip r:embed="rId5"/>
          <a:stretch>
            <a:fillRect/>
          </a:stretch>
        </p:blipFill>
        <p:spPr>
          <a:xfrm>
            <a:off x="4750491" y="4275003"/>
            <a:ext cx="337962" cy="337962"/>
          </a:xfrm>
          <a:prstGeom prst="rect">
            <a:avLst/>
          </a:prstGeom>
        </p:spPr>
      </p:pic>
      <p:sp>
        <p:nvSpPr>
          <p:cNvPr id="27" name="Text 20"/>
          <p:cNvSpPr txBox="1"/>
          <p:nvPr/>
        </p:nvSpPr>
        <p:spPr>
          <a:xfrm>
            <a:off x="5367528" y="414223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One demo, similar apps</a:t>
            </a:r>
            <a:endParaRPr lang="en-US" sz="1500" dirty="0"/>
          </a:p>
        </p:txBody>
      </p:sp>
      <p:sp>
        <p:nvSpPr>
          <p:cNvPr id="28" name="Text 21"/>
          <p:cNvSpPr txBox="1"/>
          <p:nvPr/>
        </p:nvSpPr>
        <p:spPr>
          <a:xfrm>
            <a:off x="4617720" y="489204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The Amazon task runs on Myntra: it finds “Add to Bag”, skips “AD” tiles and asks for your size.</a:t>
            </a:r>
            <a:endParaRPr lang="en-US" sz="1300" dirty="0"/>
          </a:p>
        </p:txBody>
      </p:sp>
      <p:sp>
        <p:nvSpPr>
          <p:cNvPr id="29" name="Shape 22"/>
          <p:cNvSpPr/>
          <p:nvPr/>
        </p:nvSpPr>
        <p:spPr>
          <a:xfrm>
            <a:off x="8174736" y="3886200"/>
            <a:ext cx="3566160" cy="2057400"/>
          </a:xfrm>
          <a:prstGeom prst="roundRect">
            <a:avLst>
              <a:gd name="adj" fmla="val 5333"/>
            </a:avLst>
          </a:prstGeom>
          <a:solidFill>
            <a:srgbClr val="F4F5FA"/>
          </a:solidFill>
          <a:ln w="12700">
            <a:solidFill>
              <a:srgbClr val="F4F5FA"/>
            </a:solidFill>
            <a:prstDash val="solid"/>
          </a:ln>
        </p:spPr>
      </p:sp>
      <p:sp>
        <p:nvSpPr>
          <p:cNvPr id="30" name="Shape 23"/>
          <p:cNvSpPr/>
          <p:nvPr/>
        </p:nvSpPr>
        <p:spPr>
          <a:xfrm>
            <a:off x="8430768" y="4142232"/>
            <a:ext cx="603504" cy="603504"/>
          </a:xfrm>
          <a:prstGeom prst="ellipse">
            <a:avLst/>
          </a:prstGeom>
          <a:solidFill>
            <a:srgbClr val="121833"/>
          </a:solidFill>
          <a:ln w="12700">
            <a:solidFill>
              <a:srgbClr val="121833"/>
            </a:solidFill>
            <a:prstDash val="solid"/>
          </a:ln>
        </p:spPr>
      </p:sp>
      <p:pic>
        <p:nvPicPr>
          <p:cNvPr id="31" name="Image 5" descr="preencoded.png">    </p:cNvPr>
          <p:cNvPicPr>
            <a:picLocks noChangeAspect="1"/>
          </p:cNvPicPr>
          <p:nvPr/>
        </p:nvPicPr>
        <p:blipFill>
          <a:blip r:embed="rId6"/>
          <a:stretch>
            <a:fillRect/>
          </a:stretch>
        </p:blipFill>
        <p:spPr>
          <a:xfrm>
            <a:off x="8563539" y="4275003"/>
            <a:ext cx="337962" cy="337962"/>
          </a:xfrm>
          <a:prstGeom prst="rect">
            <a:avLst/>
          </a:prstGeom>
        </p:spPr>
      </p:pic>
      <p:sp>
        <p:nvSpPr>
          <p:cNvPr id="32" name="Text 24"/>
          <p:cNvSpPr txBox="1"/>
          <p:nvPr/>
        </p:nvSpPr>
        <p:spPr>
          <a:xfrm>
            <a:off x="9180576" y="4142232"/>
            <a:ext cx="2377440" cy="603504"/>
          </a:xfrm>
          <a:prstGeom prst="rect">
            <a:avLst/>
          </a:prstGeom>
          <a:noFill/>
          <a:ln/>
        </p:spPr>
        <p:txBody>
          <a:bodyPr wrap="square" lIns="0" tIns="0" rIns="0" bIns="0" rtlCol="0" anchor="ctr"/>
          <a:lstStyle/>
          <a:p>
            <a:pPr indent="0" marL="0">
              <a:buNone/>
            </a:pPr>
            <a:r>
              <a:rPr lang="en-US" sz="1500" b="1" dirty="0">
                <a:solidFill>
                  <a:srgbClr val="1A1F36"/>
                </a:solidFill>
                <a:latin typeface="Arial" pitchFamily="34" charset="0"/>
                <a:ea typeface="Arial" pitchFamily="34" charset="-122"/>
                <a:cs typeface="Arial" pitchFamily="34" charset="-120"/>
              </a:rPr>
              <a:t>Asks like a person</a:t>
            </a:r>
            <a:endParaRPr lang="en-US" sz="1500" dirty="0"/>
          </a:p>
        </p:txBody>
      </p:sp>
      <p:sp>
        <p:nvSpPr>
          <p:cNvPr id="33" name="Text 25"/>
          <p:cNvSpPr txBox="1"/>
          <p:nvPr/>
        </p:nvSpPr>
        <p:spPr>
          <a:xfrm>
            <a:off x="8430768" y="4892040"/>
            <a:ext cx="3108960" cy="960120"/>
          </a:xfrm>
          <a:prstGeom prst="rect">
            <a:avLst/>
          </a:prstGeom>
          <a:noFill/>
          <a:ln/>
        </p:spPr>
        <p:txBody>
          <a:bodyPr wrap="square" lIns="0" tIns="0" rIns="0" bIns="0" rtlCol="0" anchor="t"/>
          <a:lstStyle/>
          <a:p>
            <a:pPr indent="0" marL="0">
              <a:buNone/>
            </a:pPr>
            <a:r>
              <a:rPr lang="en-US" sz="1300" dirty="0">
                <a:solidFill>
                  <a:srgbClr val="5C637A"/>
                </a:solidFill>
                <a:latin typeface="Calibri" pitchFamily="34" charset="0"/>
                <a:ea typeface="Calibri" pitchFamily="34" charset="-122"/>
                <a:cs typeface="Calibri" pitchFamily="34" charset="-120"/>
              </a:rPr>
              <a:t>One specific question when a value is missing or the choice is personal; a plain-language log of every run.</a:t>
            </a:r>
            <a:endParaRPr lang="en-US" sz="1300" dirty="0"/>
          </a:p>
        </p:txBody>
      </p:sp>
      <p:sp>
        <p:nvSpPr>
          <p:cNvPr id="35" name="Text 26"/>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6" name="Text 27"/>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A"/>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TOOLS AND TECH STACK</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Native Android, one hosted model, tested over adb</a:t>
            </a:r>
            <a:endParaRPr lang="en-US" sz="3000" dirty="0"/>
          </a:p>
        </p:txBody>
      </p:sp>
      <p:sp>
        <p:nvSpPr>
          <p:cNvPr id="4" name="Shape 2"/>
          <p:cNvSpPr/>
          <p:nvPr/>
        </p:nvSpPr>
        <p:spPr>
          <a:xfrm>
            <a:off x="548640" y="1554480"/>
            <a:ext cx="2606040" cy="3703320"/>
          </a:xfrm>
          <a:prstGeom prst="roundRect">
            <a:avLst>
              <a:gd name="adj" fmla="val 4211"/>
            </a:avLst>
          </a:prstGeom>
          <a:solidFill>
            <a:srgbClr val="FFFFFF"/>
          </a:solidFill>
          <a:ln w="12700">
            <a:solidFill>
              <a:srgbClr val="E2E5EE"/>
            </a:solidFill>
            <a:prstDash val="solid"/>
          </a:ln>
        </p:spPr>
      </p:sp>
      <p:sp>
        <p:nvSpPr>
          <p:cNvPr id="5" name="Shape 3"/>
          <p:cNvSpPr/>
          <p:nvPr/>
        </p:nvSpPr>
        <p:spPr>
          <a:xfrm>
            <a:off x="804672" y="1783080"/>
            <a:ext cx="603504" cy="603504"/>
          </a:xfrm>
          <a:prstGeom prst="ellipse">
            <a:avLst/>
          </a:prstGeom>
          <a:solidFill>
            <a:srgbClr val="121833"/>
          </a:solidFill>
          <a:ln w="12700">
            <a:solidFill>
              <a:srgbClr val="121833"/>
            </a:solidFill>
            <a:prstDash val="solid"/>
          </a:ln>
        </p:spPr>
      </p:sp>
      <p:pic>
        <p:nvPicPr>
          <p:cNvPr id="6" name="Image 0" descr="preencoded.png">    </p:cNvPr>
          <p:cNvPicPr>
            <a:picLocks noChangeAspect="1"/>
          </p:cNvPicPr>
          <p:nvPr/>
        </p:nvPicPr>
        <p:blipFill>
          <a:blip r:embed="rId1"/>
          <a:stretch>
            <a:fillRect/>
          </a:stretch>
        </p:blipFill>
        <p:spPr>
          <a:xfrm>
            <a:off x="937443" y="1915851"/>
            <a:ext cx="337962" cy="337962"/>
          </a:xfrm>
          <a:prstGeom prst="rect">
            <a:avLst/>
          </a:prstGeom>
        </p:spPr>
      </p:pic>
      <p:sp>
        <p:nvSpPr>
          <p:cNvPr id="7" name="Text 4"/>
          <p:cNvSpPr txBox="1"/>
          <p:nvPr/>
        </p:nvSpPr>
        <p:spPr>
          <a:xfrm>
            <a:off x="1536192" y="1783080"/>
            <a:ext cx="1508760" cy="603504"/>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On the phone</a:t>
            </a:r>
            <a:endParaRPr lang="en-US" sz="1600" dirty="0"/>
          </a:p>
        </p:txBody>
      </p:sp>
      <p:sp>
        <p:nvSpPr>
          <p:cNvPr id="8" name="Text 5"/>
          <p:cNvSpPr txBox="1"/>
          <p:nvPr/>
        </p:nvSpPr>
        <p:spPr>
          <a:xfrm>
            <a:off x="804672" y="2606040"/>
            <a:ext cx="2148840" cy="23774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Kotlin</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AccessibilityService</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Accessibility overlay (tap capture)</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SpeechRecognizer · TextToSpeech</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JSON recipes and run log</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Android 9+ · target SDK 35</a:t>
            </a:r>
            <a:endParaRPr lang="en-US" sz="1350" dirty="0"/>
          </a:p>
        </p:txBody>
      </p:sp>
      <p:sp>
        <p:nvSpPr>
          <p:cNvPr id="9" name="Shape 6"/>
          <p:cNvSpPr/>
          <p:nvPr/>
        </p:nvSpPr>
        <p:spPr>
          <a:xfrm>
            <a:off x="3346704" y="1554480"/>
            <a:ext cx="2606040" cy="3703320"/>
          </a:xfrm>
          <a:prstGeom prst="roundRect">
            <a:avLst>
              <a:gd name="adj" fmla="val 4211"/>
            </a:avLst>
          </a:prstGeom>
          <a:solidFill>
            <a:srgbClr val="FFFFFF"/>
          </a:solidFill>
          <a:ln w="12700">
            <a:solidFill>
              <a:srgbClr val="E2E5EE"/>
            </a:solidFill>
            <a:prstDash val="solid"/>
          </a:ln>
        </p:spPr>
      </p:sp>
      <p:sp>
        <p:nvSpPr>
          <p:cNvPr id="10" name="Shape 7"/>
          <p:cNvSpPr/>
          <p:nvPr/>
        </p:nvSpPr>
        <p:spPr>
          <a:xfrm>
            <a:off x="3602736" y="1783080"/>
            <a:ext cx="603504" cy="603504"/>
          </a:xfrm>
          <a:prstGeom prst="ellipse">
            <a:avLst/>
          </a:prstGeom>
          <a:solidFill>
            <a:srgbClr val="FF5B3A"/>
          </a:solidFill>
          <a:ln w="12700">
            <a:solidFill>
              <a:srgbClr val="FF5B3A"/>
            </a:solidFill>
            <a:prstDash val="solid"/>
          </a:ln>
        </p:spPr>
      </p:sp>
      <p:pic>
        <p:nvPicPr>
          <p:cNvPr id="11" name="Image 1" descr="preencoded.png">    </p:cNvPr>
          <p:cNvPicPr>
            <a:picLocks noChangeAspect="1"/>
          </p:cNvPicPr>
          <p:nvPr/>
        </p:nvPicPr>
        <p:blipFill>
          <a:blip r:embed="rId2"/>
          <a:stretch>
            <a:fillRect/>
          </a:stretch>
        </p:blipFill>
        <p:spPr>
          <a:xfrm>
            <a:off x="3735507" y="1915851"/>
            <a:ext cx="337962" cy="337962"/>
          </a:xfrm>
          <a:prstGeom prst="rect">
            <a:avLst/>
          </a:prstGeom>
        </p:spPr>
      </p:pic>
      <p:sp>
        <p:nvSpPr>
          <p:cNvPr id="12" name="Text 8"/>
          <p:cNvSpPr txBox="1"/>
          <p:nvPr/>
        </p:nvSpPr>
        <p:spPr>
          <a:xfrm>
            <a:off x="4334256" y="1783080"/>
            <a:ext cx="1508760" cy="603504"/>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AI model</a:t>
            </a:r>
            <a:endParaRPr lang="en-US" sz="1600" dirty="0"/>
          </a:p>
        </p:txBody>
      </p:sp>
      <p:sp>
        <p:nvSpPr>
          <p:cNvPr id="13" name="Text 9"/>
          <p:cNvSpPr txBox="1"/>
          <p:nvPr/>
        </p:nvSpPr>
        <p:spPr>
          <a:xfrm>
            <a:off x="3602736" y="2606040"/>
            <a:ext cx="2148840" cy="23774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Fireworks AI</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gpt-oss-120b, low reasoning effort</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JSON-only prompts: match, act, refine</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Hard timeout per call</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Separate spend-limited key in the APK</a:t>
            </a:r>
            <a:endParaRPr lang="en-US" sz="1350" dirty="0"/>
          </a:p>
        </p:txBody>
      </p:sp>
      <p:sp>
        <p:nvSpPr>
          <p:cNvPr id="14" name="Shape 10"/>
          <p:cNvSpPr/>
          <p:nvPr/>
        </p:nvSpPr>
        <p:spPr>
          <a:xfrm>
            <a:off x="6144768" y="1554480"/>
            <a:ext cx="2606040" cy="3703320"/>
          </a:xfrm>
          <a:prstGeom prst="roundRect">
            <a:avLst>
              <a:gd name="adj" fmla="val 4211"/>
            </a:avLst>
          </a:prstGeom>
          <a:solidFill>
            <a:srgbClr val="FFFFFF"/>
          </a:solidFill>
          <a:ln w="12700">
            <a:solidFill>
              <a:srgbClr val="E2E5EE"/>
            </a:solidFill>
            <a:prstDash val="solid"/>
          </a:ln>
        </p:spPr>
      </p:sp>
      <p:sp>
        <p:nvSpPr>
          <p:cNvPr id="15" name="Shape 11"/>
          <p:cNvSpPr/>
          <p:nvPr/>
        </p:nvSpPr>
        <p:spPr>
          <a:xfrm>
            <a:off x="6400800" y="1783080"/>
            <a:ext cx="603504" cy="603504"/>
          </a:xfrm>
          <a:prstGeom prst="ellipse">
            <a:avLst/>
          </a:prstGeom>
          <a:solidFill>
            <a:srgbClr val="121833"/>
          </a:solidFill>
          <a:ln w="12700">
            <a:solidFill>
              <a:srgbClr val="121833"/>
            </a:solidFill>
            <a:prstDash val="solid"/>
          </a:ln>
        </p:spPr>
      </p:sp>
      <p:pic>
        <p:nvPicPr>
          <p:cNvPr id="16" name="Image 2" descr="preencoded.png">    </p:cNvPr>
          <p:cNvPicPr>
            <a:picLocks noChangeAspect="1"/>
          </p:cNvPicPr>
          <p:nvPr/>
        </p:nvPicPr>
        <p:blipFill>
          <a:blip r:embed="rId3"/>
          <a:stretch>
            <a:fillRect/>
          </a:stretch>
        </p:blipFill>
        <p:spPr>
          <a:xfrm>
            <a:off x="6533571" y="1915851"/>
            <a:ext cx="337962" cy="337962"/>
          </a:xfrm>
          <a:prstGeom prst="rect">
            <a:avLst/>
          </a:prstGeom>
        </p:spPr>
      </p:pic>
      <p:sp>
        <p:nvSpPr>
          <p:cNvPr id="17" name="Text 12"/>
          <p:cNvSpPr txBox="1"/>
          <p:nvPr/>
        </p:nvSpPr>
        <p:spPr>
          <a:xfrm>
            <a:off x="7132320" y="1783080"/>
            <a:ext cx="1508760" cy="603504"/>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Build</a:t>
            </a:r>
            <a:endParaRPr lang="en-US" sz="1600" dirty="0"/>
          </a:p>
        </p:txBody>
      </p:sp>
      <p:sp>
        <p:nvSpPr>
          <p:cNvPr id="18" name="Text 13"/>
          <p:cNvSpPr txBox="1"/>
          <p:nvPr/>
        </p:nvSpPr>
        <p:spPr>
          <a:xfrm>
            <a:off x="6400800" y="2606040"/>
            <a:ext cx="2148840" cy="23774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Gradle (Android SDK 35)</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Dockerfile builds the APK</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Keys kept out of git</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Release APK on GitHub</a:t>
            </a:r>
            <a:endParaRPr lang="en-US" sz="1350" dirty="0"/>
          </a:p>
        </p:txBody>
      </p:sp>
      <p:sp>
        <p:nvSpPr>
          <p:cNvPr id="19" name="Shape 14"/>
          <p:cNvSpPr/>
          <p:nvPr/>
        </p:nvSpPr>
        <p:spPr>
          <a:xfrm>
            <a:off x="8942832" y="1554480"/>
            <a:ext cx="2606040" cy="3703320"/>
          </a:xfrm>
          <a:prstGeom prst="roundRect">
            <a:avLst>
              <a:gd name="adj" fmla="val 4211"/>
            </a:avLst>
          </a:prstGeom>
          <a:solidFill>
            <a:srgbClr val="FFFFFF"/>
          </a:solidFill>
          <a:ln w="12700">
            <a:solidFill>
              <a:srgbClr val="E2E5EE"/>
            </a:solidFill>
            <a:prstDash val="solid"/>
          </a:ln>
        </p:spPr>
      </p:sp>
      <p:sp>
        <p:nvSpPr>
          <p:cNvPr id="20" name="Shape 15"/>
          <p:cNvSpPr/>
          <p:nvPr/>
        </p:nvSpPr>
        <p:spPr>
          <a:xfrm>
            <a:off x="9198864" y="1783080"/>
            <a:ext cx="603504" cy="603504"/>
          </a:xfrm>
          <a:prstGeom prst="ellipse">
            <a:avLst/>
          </a:prstGeom>
          <a:solidFill>
            <a:srgbClr val="0E9F8A"/>
          </a:solidFill>
          <a:ln w="12700">
            <a:solidFill>
              <a:srgbClr val="0E9F8A"/>
            </a:solidFill>
            <a:prstDash val="solid"/>
          </a:ln>
        </p:spPr>
      </p:sp>
      <p:pic>
        <p:nvPicPr>
          <p:cNvPr id="21" name="Image 3" descr="preencoded.png">    </p:cNvPr>
          <p:cNvPicPr>
            <a:picLocks noChangeAspect="1"/>
          </p:cNvPicPr>
          <p:nvPr/>
        </p:nvPicPr>
        <p:blipFill>
          <a:blip r:embed="rId4"/>
          <a:stretch>
            <a:fillRect/>
          </a:stretch>
        </p:blipFill>
        <p:spPr>
          <a:xfrm>
            <a:off x="9331635" y="1915851"/>
            <a:ext cx="337962" cy="337962"/>
          </a:xfrm>
          <a:prstGeom prst="rect">
            <a:avLst/>
          </a:prstGeom>
        </p:spPr>
      </p:pic>
      <p:sp>
        <p:nvSpPr>
          <p:cNvPr id="22" name="Text 16"/>
          <p:cNvSpPr txBox="1"/>
          <p:nvPr/>
        </p:nvSpPr>
        <p:spPr>
          <a:xfrm>
            <a:off x="9930384" y="1783080"/>
            <a:ext cx="1508760" cy="603504"/>
          </a:xfrm>
          <a:prstGeom prst="rect">
            <a:avLst/>
          </a:prstGeom>
          <a:noFill/>
          <a:ln/>
        </p:spPr>
        <p:txBody>
          <a:bodyPr wrap="square" lIns="0" tIns="0" rIns="0" bIns="0" rtlCol="0" anchor="ctr"/>
          <a:lstStyle/>
          <a:p>
            <a:pPr indent="0" marL="0">
              <a:buNone/>
            </a:pPr>
            <a:r>
              <a:rPr lang="en-US" sz="1600" b="1" dirty="0">
                <a:solidFill>
                  <a:srgbClr val="1A1F36"/>
                </a:solidFill>
                <a:latin typeface="Arial" pitchFamily="34" charset="0"/>
                <a:ea typeface="Arial" pitchFamily="34" charset="-122"/>
                <a:cs typeface="Arial" pitchFamily="34" charset="-120"/>
              </a:rPr>
              <a:t>Testing</a:t>
            </a:r>
            <a:endParaRPr lang="en-US" sz="1600" dirty="0"/>
          </a:p>
        </p:txBody>
      </p:sp>
      <p:sp>
        <p:nvSpPr>
          <p:cNvPr id="23" name="Text 17"/>
          <p:cNvSpPr txBox="1"/>
          <p:nvPr/>
        </p:nvSpPr>
        <p:spPr>
          <a:xfrm>
            <a:off x="9198864" y="2606040"/>
            <a:ext cx="2148840" cy="23774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adb benches: cold start, repeat runs</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Auto-answer for spoken questions</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Python eval of command matching</a:t>
            </a:r>
            <a:endParaRPr lang="en-US" sz="1350" dirty="0"/>
          </a:p>
          <a:p>
            <a:pPr marL="342900" indent="-342900">
              <a:spcAft>
                <a:spcPts val="900"/>
              </a:spcAft>
              <a:buSzPct val="100000"/>
              <a:buChar char="•"/>
            </a:pPr>
            <a:r>
              <a:rPr lang="en-US" sz="1350" dirty="0">
                <a:solidFill>
                  <a:srgbClr val="1A1F36"/>
                </a:solidFill>
                <a:latin typeface="Calibri" pitchFamily="34" charset="0"/>
                <a:ea typeface="Calibri" pitchFamily="34" charset="-122"/>
                <a:cs typeface="Calibri" pitchFamily="34" charset="-120"/>
              </a:rPr>
              <a:t>Screen dumps on every failure</a:t>
            </a:r>
            <a:endParaRPr lang="en-US" sz="1350" dirty="0"/>
          </a:p>
        </p:txBody>
      </p:sp>
      <p:sp>
        <p:nvSpPr>
          <p:cNvPr id="24" name="Text 18"/>
          <p:cNvSpPr txBox="1"/>
          <p:nvPr/>
        </p:nvSpPr>
        <p:spPr>
          <a:xfrm>
            <a:off x="548640" y="5486400"/>
            <a:ext cx="2606040" cy="502920"/>
          </a:xfrm>
          <a:prstGeom prst="rect">
            <a:avLst/>
          </a:prstGeom>
          <a:noFill/>
          <a:ln/>
        </p:spPr>
        <p:txBody>
          <a:bodyPr wrap="square" lIns="0" tIns="0" rIns="0" bIns="0" rtlCol="0" anchor="ctr"/>
          <a:lstStyle/>
          <a:p>
            <a:pPr indent="0" marL="0">
              <a:buNone/>
            </a:pPr>
            <a:r>
              <a:rPr lang="en-US" sz="2200" b="1" dirty="0">
                <a:solidFill>
                  <a:srgbClr val="121833"/>
                </a:solidFill>
                <a:latin typeface="Arial" pitchFamily="34" charset="0"/>
                <a:ea typeface="Arial" pitchFamily="34" charset="-122"/>
                <a:cs typeface="Arial" pitchFamily="34" charset="-120"/>
              </a:rPr>
              <a:t>~4,300  </a:t>
            </a:r>
            <a:pPr indent="0" marL="0">
              <a:buNone/>
            </a:pPr>
            <a:r>
              <a:rPr lang="en-US" sz="1300" dirty="0">
                <a:solidFill>
                  <a:srgbClr val="5C637A"/>
                </a:solidFill>
                <a:latin typeface="Calibri" pitchFamily="34" charset="0"/>
                <a:ea typeface="Calibri" pitchFamily="34" charset="-122"/>
                <a:cs typeface="Calibri" pitchFamily="34" charset="-120"/>
              </a:rPr>
              <a:t>lines of Kotlin, 17 files</a:t>
            </a:r>
            <a:endParaRPr lang="en-US" sz="2200" dirty="0"/>
          </a:p>
        </p:txBody>
      </p:sp>
      <p:sp>
        <p:nvSpPr>
          <p:cNvPr id="25" name="Text 19"/>
          <p:cNvSpPr txBox="1"/>
          <p:nvPr/>
        </p:nvSpPr>
        <p:spPr>
          <a:xfrm>
            <a:off x="3346704" y="5486400"/>
            <a:ext cx="2606040" cy="502920"/>
          </a:xfrm>
          <a:prstGeom prst="rect">
            <a:avLst/>
          </a:prstGeom>
          <a:noFill/>
          <a:ln/>
        </p:spPr>
        <p:txBody>
          <a:bodyPr wrap="square" lIns="0" tIns="0" rIns="0" bIns="0" rtlCol="0" anchor="ctr"/>
          <a:lstStyle/>
          <a:p>
            <a:pPr indent="0" marL="0">
              <a:buNone/>
            </a:pPr>
            <a:r>
              <a:rPr lang="en-US" sz="2200" b="1" dirty="0">
                <a:solidFill>
                  <a:srgbClr val="121833"/>
                </a:solidFill>
                <a:latin typeface="Arial" pitchFamily="34" charset="0"/>
                <a:ea typeface="Arial" pitchFamily="34" charset="-122"/>
                <a:cs typeface="Arial" pitchFamily="34" charset="-120"/>
              </a:rPr>
              <a:t>1  </a:t>
            </a:r>
            <a:pPr indent="0" marL="0">
              <a:buNone/>
            </a:pPr>
            <a:r>
              <a:rPr lang="en-US" sz="1300" dirty="0">
                <a:solidFill>
                  <a:srgbClr val="5C637A"/>
                </a:solidFill>
                <a:latin typeface="Calibri" pitchFamily="34" charset="0"/>
                <a:ea typeface="Calibri" pitchFamily="34" charset="-122"/>
                <a:cs typeface="Calibri" pitchFamily="34" charset="-120"/>
              </a:rPr>
              <a:t>library: Kotlin coroutines</a:t>
            </a:r>
            <a:endParaRPr lang="en-US" sz="2200" dirty="0"/>
          </a:p>
        </p:txBody>
      </p:sp>
      <p:sp>
        <p:nvSpPr>
          <p:cNvPr id="26" name="Text 20"/>
          <p:cNvSpPr txBox="1"/>
          <p:nvPr/>
        </p:nvSpPr>
        <p:spPr>
          <a:xfrm>
            <a:off x="6144768" y="5486400"/>
            <a:ext cx="2606040" cy="502920"/>
          </a:xfrm>
          <a:prstGeom prst="rect">
            <a:avLst/>
          </a:prstGeom>
          <a:noFill/>
          <a:ln/>
        </p:spPr>
        <p:txBody>
          <a:bodyPr wrap="square" lIns="0" tIns="0" rIns="0" bIns="0" rtlCol="0" anchor="ctr"/>
          <a:lstStyle/>
          <a:p>
            <a:pPr indent="0" marL="0">
              <a:buNone/>
            </a:pPr>
            <a:r>
              <a:rPr lang="en-US" sz="2200" b="1" dirty="0">
                <a:solidFill>
                  <a:srgbClr val="121833"/>
                </a:solidFill>
                <a:latin typeface="Arial" pitchFamily="34" charset="0"/>
                <a:ea typeface="Arial" pitchFamily="34" charset="-122"/>
                <a:cs typeface="Arial" pitchFamily="34" charset="-120"/>
              </a:rPr>
              <a:t>3.5 MB  </a:t>
            </a:r>
            <a:pPr indent="0" marL="0">
              <a:buNone/>
            </a:pPr>
            <a:r>
              <a:rPr lang="en-US" sz="1300" dirty="0">
                <a:solidFill>
                  <a:srgbClr val="5C637A"/>
                </a:solidFill>
                <a:latin typeface="Calibri" pitchFamily="34" charset="0"/>
                <a:ea typeface="Calibri" pitchFamily="34" charset="-122"/>
                <a:cs typeface="Calibri" pitchFamily="34" charset="-120"/>
              </a:rPr>
              <a:t>release APK</a:t>
            </a:r>
            <a:endParaRPr lang="en-US" sz="2200" dirty="0"/>
          </a:p>
        </p:txBody>
      </p:sp>
      <p:sp>
        <p:nvSpPr>
          <p:cNvPr id="27" name="Text 21"/>
          <p:cNvSpPr txBox="1"/>
          <p:nvPr/>
        </p:nvSpPr>
        <p:spPr>
          <a:xfrm>
            <a:off x="8942832" y="5486400"/>
            <a:ext cx="2606040" cy="502920"/>
          </a:xfrm>
          <a:prstGeom prst="rect">
            <a:avLst/>
          </a:prstGeom>
          <a:noFill/>
          <a:ln/>
        </p:spPr>
        <p:txBody>
          <a:bodyPr wrap="square" lIns="0" tIns="0" rIns="0" bIns="0" rtlCol="0" anchor="ctr"/>
          <a:lstStyle/>
          <a:p>
            <a:pPr indent="0" marL="0">
              <a:buNone/>
            </a:pPr>
            <a:r>
              <a:rPr lang="en-US" sz="2200" b="1" dirty="0">
                <a:solidFill>
                  <a:srgbClr val="121833"/>
                </a:solidFill>
                <a:latin typeface="Arial" pitchFamily="34" charset="0"/>
                <a:ea typeface="Arial" pitchFamily="34" charset="-122"/>
                <a:cs typeface="Arial" pitchFamily="34" charset="-120"/>
              </a:rPr>
              <a:t>0  </a:t>
            </a:r>
            <a:pPr indent="0" marL="0">
              <a:buNone/>
            </a:pPr>
            <a:r>
              <a:rPr lang="en-US" sz="1300" dirty="0">
                <a:solidFill>
                  <a:srgbClr val="5C637A"/>
                </a:solidFill>
                <a:latin typeface="Calibri" pitchFamily="34" charset="0"/>
                <a:ea typeface="Calibri" pitchFamily="34" charset="-122"/>
                <a:cs typeface="Calibri" pitchFamily="34" charset="-120"/>
              </a:rPr>
              <a:t>app SDKs, deep links or root</a:t>
            </a:r>
            <a:endParaRPr lang="en-US" sz="2200" dirty="0"/>
          </a:p>
        </p:txBody>
      </p:sp>
      <p:sp>
        <p:nvSpPr>
          <p:cNvPr id="29" name="Text 22"/>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30" name="Text 23"/>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KNOWN LIMITATIONS</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1A1F36"/>
                </a:solidFill>
                <a:latin typeface="Arial" pitchFamily="34" charset="0"/>
                <a:ea typeface="Arial" pitchFamily="34" charset="-122"/>
                <a:cs typeface="Arial" pitchFamily="34" charset="-120"/>
              </a:rPr>
              <a:t>What we know today, and how it behaves</a:t>
            </a:r>
            <a:endParaRPr lang="en-US" sz="3000" dirty="0"/>
          </a:p>
        </p:txBody>
      </p:sp>
      <p:sp>
        <p:nvSpPr>
          <p:cNvPr id="4" name="Shape 2"/>
          <p:cNvSpPr/>
          <p:nvPr/>
        </p:nvSpPr>
        <p:spPr>
          <a:xfrm>
            <a:off x="548640" y="1508760"/>
            <a:ext cx="5440680" cy="960120"/>
          </a:xfrm>
          <a:prstGeom prst="roundRect">
            <a:avLst>
              <a:gd name="adj" fmla="val 11429"/>
            </a:avLst>
          </a:prstGeom>
          <a:solidFill>
            <a:srgbClr val="F4F5FA"/>
          </a:solidFill>
          <a:ln w="12700">
            <a:solidFill>
              <a:srgbClr val="F4F5FA"/>
            </a:solidFill>
            <a:prstDash val="solid"/>
          </a:ln>
        </p:spPr>
      </p:sp>
      <p:sp>
        <p:nvSpPr>
          <p:cNvPr id="5" name="Shape 3"/>
          <p:cNvSpPr/>
          <p:nvPr/>
        </p:nvSpPr>
        <p:spPr>
          <a:xfrm>
            <a:off x="749808" y="1709928"/>
            <a:ext cx="548640" cy="548640"/>
          </a:xfrm>
          <a:prstGeom prst="ellipse">
            <a:avLst/>
          </a:prstGeom>
          <a:solidFill>
            <a:srgbClr val="222B55"/>
          </a:solidFill>
          <a:ln w="12700">
            <a:solidFill>
              <a:srgbClr val="222B55"/>
            </a:solidFill>
            <a:prstDash val="solid"/>
          </a:ln>
        </p:spPr>
      </p:sp>
      <p:pic>
        <p:nvPicPr>
          <p:cNvPr id="6" name="Image 0" descr="preencoded.png">    </p:cNvPr>
          <p:cNvPicPr>
            <a:picLocks noChangeAspect="1"/>
          </p:cNvPicPr>
          <p:nvPr/>
        </p:nvPicPr>
        <p:blipFill>
          <a:blip r:embed="rId1"/>
          <a:stretch>
            <a:fillRect/>
          </a:stretch>
        </p:blipFill>
        <p:spPr>
          <a:xfrm>
            <a:off x="870509" y="1830629"/>
            <a:ext cx="307238" cy="307238"/>
          </a:xfrm>
          <a:prstGeom prst="rect">
            <a:avLst/>
          </a:prstGeom>
        </p:spPr>
      </p:pic>
      <p:sp>
        <p:nvSpPr>
          <p:cNvPr id="7" name="Text 4"/>
          <p:cNvSpPr txBox="1"/>
          <p:nvPr/>
        </p:nvSpPr>
        <p:spPr>
          <a:xfrm>
            <a:off x="1463040" y="1618488"/>
            <a:ext cx="4389120" cy="329184"/>
          </a:xfrm>
          <a:prstGeom prst="rect">
            <a:avLst/>
          </a:prstGeom>
          <a:noFill/>
          <a:ln/>
        </p:spPr>
        <p:txBody>
          <a:bodyPr wrap="square" lIns="0" tIns="0" rIns="0" bIns="0" rtlCol="0" anchor="ctr"/>
          <a:lstStyle/>
          <a:p>
            <a:pPr indent="0" marL="0">
              <a:buNone/>
            </a:pPr>
            <a:r>
              <a:rPr lang="en-US" sz="1450" b="1" dirty="0">
                <a:solidFill>
                  <a:srgbClr val="1A1F36"/>
                </a:solidFill>
                <a:latin typeface="Arial" pitchFamily="34" charset="0"/>
                <a:ea typeface="Arial" pitchFamily="34" charset="-122"/>
                <a:cs typeface="Arial" pitchFamily="34" charset="-120"/>
              </a:rPr>
              <a:t>Paraphrases need the model</a:t>
            </a:r>
            <a:endParaRPr lang="en-US" sz="1450" dirty="0"/>
          </a:p>
        </p:txBody>
      </p:sp>
      <p:sp>
        <p:nvSpPr>
          <p:cNvPr id="8" name="Text 5"/>
          <p:cNvSpPr txBox="1"/>
          <p:nvPr/>
        </p:nvSpPr>
        <p:spPr>
          <a:xfrm>
            <a:off x="1463040" y="1947672"/>
            <a:ext cx="4389120" cy="475488"/>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Pop-ups, paraphrases and questions use the LLM key; exact and template commands work offline.</a:t>
            </a:r>
            <a:endParaRPr lang="en-US" sz="1250" dirty="0"/>
          </a:p>
        </p:txBody>
      </p:sp>
      <p:sp>
        <p:nvSpPr>
          <p:cNvPr id="9" name="Shape 6"/>
          <p:cNvSpPr/>
          <p:nvPr/>
        </p:nvSpPr>
        <p:spPr>
          <a:xfrm>
            <a:off x="6190488" y="1508760"/>
            <a:ext cx="5440680" cy="960120"/>
          </a:xfrm>
          <a:prstGeom prst="roundRect">
            <a:avLst>
              <a:gd name="adj" fmla="val 11429"/>
            </a:avLst>
          </a:prstGeom>
          <a:solidFill>
            <a:srgbClr val="F4F5FA"/>
          </a:solidFill>
          <a:ln w="12700">
            <a:solidFill>
              <a:srgbClr val="F4F5FA"/>
            </a:solidFill>
            <a:prstDash val="solid"/>
          </a:ln>
        </p:spPr>
      </p:sp>
      <p:sp>
        <p:nvSpPr>
          <p:cNvPr id="10" name="Shape 7"/>
          <p:cNvSpPr/>
          <p:nvPr/>
        </p:nvSpPr>
        <p:spPr>
          <a:xfrm>
            <a:off x="6391656" y="1709928"/>
            <a:ext cx="548640" cy="548640"/>
          </a:xfrm>
          <a:prstGeom prst="ellipse">
            <a:avLst/>
          </a:prstGeom>
          <a:solidFill>
            <a:srgbClr val="222B55"/>
          </a:solidFill>
          <a:ln w="12700">
            <a:solidFill>
              <a:srgbClr val="222B55"/>
            </a:solidFill>
            <a:prstDash val="solid"/>
          </a:ln>
        </p:spPr>
      </p:sp>
      <p:pic>
        <p:nvPicPr>
          <p:cNvPr id="11" name="Image 1" descr="preencoded.png">    </p:cNvPr>
          <p:cNvPicPr>
            <a:picLocks noChangeAspect="1"/>
          </p:cNvPicPr>
          <p:nvPr/>
        </p:nvPicPr>
        <p:blipFill>
          <a:blip r:embed="rId2"/>
          <a:stretch>
            <a:fillRect/>
          </a:stretch>
        </p:blipFill>
        <p:spPr>
          <a:xfrm>
            <a:off x="6512357" y="1830629"/>
            <a:ext cx="307238" cy="307238"/>
          </a:xfrm>
          <a:prstGeom prst="rect">
            <a:avLst/>
          </a:prstGeom>
        </p:spPr>
      </p:pic>
      <p:sp>
        <p:nvSpPr>
          <p:cNvPr id="12" name="Text 8"/>
          <p:cNvSpPr txBox="1"/>
          <p:nvPr/>
        </p:nvSpPr>
        <p:spPr>
          <a:xfrm>
            <a:off x="7104888" y="1618488"/>
            <a:ext cx="4389120" cy="329184"/>
          </a:xfrm>
          <a:prstGeom prst="rect">
            <a:avLst/>
          </a:prstGeom>
          <a:noFill/>
          <a:ln/>
        </p:spPr>
        <p:txBody>
          <a:bodyPr wrap="square" lIns="0" tIns="0" rIns="0" bIns="0" rtlCol="0" anchor="ctr"/>
          <a:lstStyle/>
          <a:p>
            <a:pPr indent="0" marL="0">
              <a:buNone/>
            </a:pPr>
            <a:r>
              <a:rPr lang="en-US" sz="1450" b="1" dirty="0">
                <a:solidFill>
                  <a:srgbClr val="1A1F36"/>
                </a:solidFill>
                <a:latin typeface="Arial" pitchFamily="34" charset="0"/>
                <a:ea typeface="Arial" pitchFamily="34" charset="-122"/>
                <a:cs typeface="Arial" pitchFamily="34" charset="-120"/>
              </a:rPr>
              <a:t>Another app is slower</a:t>
            </a:r>
            <a:endParaRPr lang="en-US" sz="1450" dirty="0"/>
          </a:p>
        </p:txBody>
      </p:sp>
      <p:sp>
        <p:nvSpPr>
          <p:cNvPr id="13" name="Text 9"/>
          <p:cNvSpPr txBox="1"/>
          <p:nvPr/>
        </p:nvSpPr>
        <p:spPr>
          <a:xfrm>
            <a:off x="7104888" y="1947672"/>
            <a:ext cx="4389120" cy="475488"/>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About 45–60 s on Myntra versus 35–50 s on Amazon: unfamiliar screens go to the model.</a:t>
            </a:r>
            <a:endParaRPr lang="en-US" sz="1250" dirty="0"/>
          </a:p>
        </p:txBody>
      </p:sp>
      <p:sp>
        <p:nvSpPr>
          <p:cNvPr id="14" name="Shape 10"/>
          <p:cNvSpPr/>
          <p:nvPr/>
        </p:nvSpPr>
        <p:spPr>
          <a:xfrm>
            <a:off x="548640" y="2606040"/>
            <a:ext cx="5440680" cy="960120"/>
          </a:xfrm>
          <a:prstGeom prst="roundRect">
            <a:avLst>
              <a:gd name="adj" fmla="val 11429"/>
            </a:avLst>
          </a:prstGeom>
          <a:solidFill>
            <a:srgbClr val="F4F5FA"/>
          </a:solidFill>
          <a:ln w="12700">
            <a:solidFill>
              <a:srgbClr val="F4F5FA"/>
            </a:solidFill>
            <a:prstDash val="solid"/>
          </a:ln>
        </p:spPr>
      </p:sp>
      <p:sp>
        <p:nvSpPr>
          <p:cNvPr id="15" name="Shape 11"/>
          <p:cNvSpPr/>
          <p:nvPr/>
        </p:nvSpPr>
        <p:spPr>
          <a:xfrm>
            <a:off x="749808" y="2807208"/>
            <a:ext cx="548640" cy="548640"/>
          </a:xfrm>
          <a:prstGeom prst="ellipse">
            <a:avLst/>
          </a:prstGeom>
          <a:solidFill>
            <a:srgbClr val="222B55"/>
          </a:solidFill>
          <a:ln w="12700">
            <a:solidFill>
              <a:srgbClr val="222B55"/>
            </a:solidFill>
            <a:prstDash val="solid"/>
          </a:ln>
        </p:spPr>
      </p:sp>
      <p:pic>
        <p:nvPicPr>
          <p:cNvPr id="16" name="Image 2" descr="preencoded.png">    </p:cNvPr>
          <p:cNvPicPr>
            <a:picLocks noChangeAspect="1"/>
          </p:cNvPicPr>
          <p:nvPr/>
        </p:nvPicPr>
        <p:blipFill>
          <a:blip r:embed="rId3"/>
          <a:stretch>
            <a:fillRect/>
          </a:stretch>
        </p:blipFill>
        <p:spPr>
          <a:xfrm>
            <a:off x="870509" y="2927909"/>
            <a:ext cx="307238" cy="307238"/>
          </a:xfrm>
          <a:prstGeom prst="rect">
            <a:avLst/>
          </a:prstGeom>
        </p:spPr>
      </p:pic>
      <p:sp>
        <p:nvSpPr>
          <p:cNvPr id="17" name="Text 12"/>
          <p:cNvSpPr txBox="1"/>
          <p:nvPr/>
        </p:nvSpPr>
        <p:spPr>
          <a:xfrm>
            <a:off x="1463040" y="2715768"/>
            <a:ext cx="4389120" cy="329184"/>
          </a:xfrm>
          <a:prstGeom prst="rect">
            <a:avLst/>
          </a:prstGeom>
          <a:noFill/>
          <a:ln/>
        </p:spPr>
        <p:txBody>
          <a:bodyPr wrap="square" lIns="0" tIns="0" rIns="0" bIns="0" rtlCol="0" anchor="ctr"/>
          <a:lstStyle/>
          <a:p>
            <a:pPr indent="0" marL="0">
              <a:buNone/>
            </a:pPr>
            <a:r>
              <a:rPr lang="en-US" sz="1450" b="1" dirty="0">
                <a:solidFill>
                  <a:srgbClr val="1A1F36"/>
                </a:solidFill>
                <a:latin typeface="Arial" pitchFamily="34" charset="0"/>
                <a:ea typeface="Arial" pitchFamily="34" charset="-122"/>
                <a:cs typeface="Arial" pitchFamily="34" charset="-120"/>
              </a:rPr>
              <a:t>Screen on, phone unlocked</a:t>
            </a:r>
            <a:endParaRPr lang="en-US" sz="1450" dirty="0"/>
          </a:p>
        </p:txBody>
      </p:sp>
      <p:sp>
        <p:nvSpPr>
          <p:cNvPr id="18" name="Text 13"/>
          <p:cNvSpPr txBox="1"/>
          <p:nvPr/>
        </p:nvSpPr>
        <p:spPr>
          <a:xfrm>
            <a:off x="1463040" y="3044952"/>
            <a:ext cx="4389120" cy="475488"/>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Accessibility services can’t act on a locked screen.</a:t>
            </a:r>
            <a:endParaRPr lang="en-US" sz="1250" dirty="0"/>
          </a:p>
        </p:txBody>
      </p:sp>
      <p:sp>
        <p:nvSpPr>
          <p:cNvPr id="19" name="Shape 14"/>
          <p:cNvSpPr/>
          <p:nvPr/>
        </p:nvSpPr>
        <p:spPr>
          <a:xfrm>
            <a:off x="6190488" y="2606040"/>
            <a:ext cx="5440680" cy="960120"/>
          </a:xfrm>
          <a:prstGeom prst="roundRect">
            <a:avLst>
              <a:gd name="adj" fmla="val 11429"/>
            </a:avLst>
          </a:prstGeom>
          <a:solidFill>
            <a:srgbClr val="F4F5FA"/>
          </a:solidFill>
          <a:ln w="12700">
            <a:solidFill>
              <a:srgbClr val="F4F5FA"/>
            </a:solidFill>
            <a:prstDash val="solid"/>
          </a:ln>
        </p:spPr>
      </p:sp>
      <p:sp>
        <p:nvSpPr>
          <p:cNvPr id="20" name="Shape 15"/>
          <p:cNvSpPr/>
          <p:nvPr/>
        </p:nvSpPr>
        <p:spPr>
          <a:xfrm>
            <a:off x="6391656" y="2807208"/>
            <a:ext cx="548640" cy="548640"/>
          </a:xfrm>
          <a:prstGeom prst="ellipse">
            <a:avLst/>
          </a:prstGeom>
          <a:solidFill>
            <a:srgbClr val="222B55"/>
          </a:solidFill>
          <a:ln w="12700">
            <a:solidFill>
              <a:srgbClr val="222B55"/>
            </a:solidFill>
            <a:prstDash val="solid"/>
          </a:ln>
        </p:spPr>
      </p:sp>
      <p:pic>
        <p:nvPicPr>
          <p:cNvPr id="21" name="Image 3" descr="preencoded.png">    </p:cNvPr>
          <p:cNvPicPr>
            <a:picLocks noChangeAspect="1"/>
          </p:cNvPicPr>
          <p:nvPr/>
        </p:nvPicPr>
        <p:blipFill>
          <a:blip r:embed="rId4"/>
          <a:stretch>
            <a:fillRect/>
          </a:stretch>
        </p:blipFill>
        <p:spPr>
          <a:xfrm>
            <a:off x="6512357" y="2927909"/>
            <a:ext cx="307238" cy="307238"/>
          </a:xfrm>
          <a:prstGeom prst="rect">
            <a:avLst/>
          </a:prstGeom>
        </p:spPr>
      </p:pic>
      <p:sp>
        <p:nvSpPr>
          <p:cNvPr id="22" name="Text 16"/>
          <p:cNvSpPr txBox="1"/>
          <p:nvPr/>
        </p:nvSpPr>
        <p:spPr>
          <a:xfrm>
            <a:off x="7104888" y="2715768"/>
            <a:ext cx="4389120" cy="329184"/>
          </a:xfrm>
          <a:prstGeom prst="rect">
            <a:avLst/>
          </a:prstGeom>
          <a:noFill/>
          <a:ln/>
        </p:spPr>
        <p:txBody>
          <a:bodyPr wrap="square" lIns="0" tIns="0" rIns="0" bIns="0" rtlCol="0" anchor="ctr"/>
          <a:lstStyle/>
          <a:p>
            <a:pPr indent="0" marL="0">
              <a:buNone/>
            </a:pPr>
            <a:r>
              <a:rPr lang="en-US" sz="1450" b="1" dirty="0">
                <a:solidFill>
                  <a:srgbClr val="1A1F36"/>
                </a:solidFill>
                <a:latin typeface="Arial" pitchFamily="34" charset="0"/>
                <a:ea typeface="Arial" pitchFamily="34" charset="-122"/>
                <a:cs typeface="Arial" pitchFamily="34" charset="-120"/>
              </a:rPr>
              <a:t>Sideloading in India</a:t>
            </a:r>
            <a:endParaRPr lang="en-US" sz="1450" dirty="0"/>
          </a:p>
        </p:txBody>
      </p:sp>
      <p:sp>
        <p:nvSpPr>
          <p:cNvPr id="23" name="Text 17"/>
          <p:cNvSpPr txBox="1"/>
          <p:nvPr/>
        </p:nvSpPr>
        <p:spPr>
          <a:xfrm>
            <a:off x="7104888" y="3044952"/>
            <a:ext cx="4389120" cy="475488"/>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Play Protect blocks apps with an accessibility service from browsers and chat apps; install over USB or pause the scan.</a:t>
            </a:r>
            <a:endParaRPr lang="en-US" sz="1250" dirty="0"/>
          </a:p>
        </p:txBody>
      </p:sp>
      <p:sp>
        <p:nvSpPr>
          <p:cNvPr id="24" name="Shape 18"/>
          <p:cNvSpPr/>
          <p:nvPr/>
        </p:nvSpPr>
        <p:spPr>
          <a:xfrm>
            <a:off x="548640" y="3703320"/>
            <a:ext cx="5440680" cy="960120"/>
          </a:xfrm>
          <a:prstGeom prst="roundRect">
            <a:avLst>
              <a:gd name="adj" fmla="val 11429"/>
            </a:avLst>
          </a:prstGeom>
          <a:solidFill>
            <a:srgbClr val="F4F5FA"/>
          </a:solidFill>
          <a:ln w="12700">
            <a:solidFill>
              <a:srgbClr val="F4F5FA"/>
            </a:solidFill>
            <a:prstDash val="solid"/>
          </a:ln>
        </p:spPr>
      </p:sp>
      <p:sp>
        <p:nvSpPr>
          <p:cNvPr id="25" name="Shape 19"/>
          <p:cNvSpPr/>
          <p:nvPr/>
        </p:nvSpPr>
        <p:spPr>
          <a:xfrm>
            <a:off x="749808" y="3904488"/>
            <a:ext cx="548640" cy="548640"/>
          </a:xfrm>
          <a:prstGeom prst="ellipse">
            <a:avLst/>
          </a:prstGeom>
          <a:solidFill>
            <a:srgbClr val="222B55"/>
          </a:solidFill>
          <a:ln w="12700">
            <a:solidFill>
              <a:srgbClr val="222B55"/>
            </a:solidFill>
            <a:prstDash val="solid"/>
          </a:ln>
        </p:spPr>
      </p:sp>
      <p:pic>
        <p:nvPicPr>
          <p:cNvPr id="26" name="Image 4" descr="preencoded.png">    </p:cNvPr>
          <p:cNvPicPr>
            <a:picLocks noChangeAspect="1"/>
          </p:cNvPicPr>
          <p:nvPr/>
        </p:nvPicPr>
        <p:blipFill>
          <a:blip r:embed="rId5"/>
          <a:stretch>
            <a:fillRect/>
          </a:stretch>
        </p:blipFill>
        <p:spPr>
          <a:xfrm>
            <a:off x="870509" y="4025189"/>
            <a:ext cx="307238" cy="307238"/>
          </a:xfrm>
          <a:prstGeom prst="rect">
            <a:avLst/>
          </a:prstGeom>
        </p:spPr>
      </p:pic>
      <p:sp>
        <p:nvSpPr>
          <p:cNvPr id="27" name="Text 20"/>
          <p:cNvSpPr txBox="1"/>
          <p:nvPr/>
        </p:nvSpPr>
        <p:spPr>
          <a:xfrm>
            <a:off x="1463040" y="3813048"/>
            <a:ext cx="4389120" cy="329184"/>
          </a:xfrm>
          <a:prstGeom prst="rect">
            <a:avLst/>
          </a:prstGeom>
          <a:noFill/>
          <a:ln/>
        </p:spPr>
        <p:txBody>
          <a:bodyPr wrap="square" lIns="0" tIns="0" rIns="0" bIns="0" rtlCol="0" anchor="ctr"/>
          <a:lstStyle/>
          <a:p>
            <a:pPr indent="0" marL="0">
              <a:buNone/>
            </a:pPr>
            <a:r>
              <a:rPr lang="en-US" sz="1450" b="1" dirty="0">
                <a:solidFill>
                  <a:srgbClr val="1A1F36"/>
                </a:solidFill>
                <a:latin typeface="Arial" pitchFamily="34" charset="0"/>
                <a:ea typeface="Arial" pitchFamily="34" charset="-122"/>
                <a:cs typeface="Arial" pitchFamily="34" charset="-120"/>
              </a:rPr>
              <a:t>Slow networks stall apps</a:t>
            </a:r>
            <a:endParaRPr lang="en-US" sz="1450" dirty="0"/>
          </a:p>
        </p:txBody>
      </p:sp>
      <p:sp>
        <p:nvSpPr>
          <p:cNvPr id="28" name="Text 21"/>
          <p:cNvSpPr txBox="1"/>
          <p:nvPr/>
        </p:nvSpPr>
        <p:spPr>
          <a:xfrm>
            <a:off x="1463040" y="4142232"/>
            <a:ext cx="4389120" cy="475488"/>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It taps the app’s “Try Again” up to three times, then says where it stopped.</a:t>
            </a:r>
            <a:endParaRPr lang="en-US" sz="1250" dirty="0"/>
          </a:p>
        </p:txBody>
      </p:sp>
      <p:sp>
        <p:nvSpPr>
          <p:cNvPr id="29" name="Shape 22"/>
          <p:cNvSpPr/>
          <p:nvPr/>
        </p:nvSpPr>
        <p:spPr>
          <a:xfrm>
            <a:off x="6190488" y="3703320"/>
            <a:ext cx="5440680" cy="960120"/>
          </a:xfrm>
          <a:prstGeom prst="roundRect">
            <a:avLst>
              <a:gd name="adj" fmla="val 11429"/>
            </a:avLst>
          </a:prstGeom>
          <a:solidFill>
            <a:srgbClr val="F4F5FA"/>
          </a:solidFill>
          <a:ln w="12700">
            <a:solidFill>
              <a:srgbClr val="F4F5FA"/>
            </a:solidFill>
            <a:prstDash val="solid"/>
          </a:ln>
        </p:spPr>
      </p:sp>
      <p:sp>
        <p:nvSpPr>
          <p:cNvPr id="30" name="Shape 23"/>
          <p:cNvSpPr/>
          <p:nvPr/>
        </p:nvSpPr>
        <p:spPr>
          <a:xfrm>
            <a:off x="6391656" y="3904488"/>
            <a:ext cx="548640" cy="548640"/>
          </a:xfrm>
          <a:prstGeom prst="ellipse">
            <a:avLst/>
          </a:prstGeom>
          <a:solidFill>
            <a:srgbClr val="222B55"/>
          </a:solidFill>
          <a:ln w="12700">
            <a:solidFill>
              <a:srgbClr val="222B55"/>
            </a:solidFill>
            <a:prstDash val="solid"/>
          </a:ln>
        </p:spPr>
      </p:sp>
      <p:pic>
        <p:nvPicPr>
          <p:cNvPr id="31" name="Image 5" descr="preencoded.png">    </p:cNvPr>
          <p:cNvPicPr>
            <a:picLocks noChangeAspect="1"/>
          </p:cNvPicPr>
          <p:nvPr/>
        </p:nvPicPr>
        <p:blipFill>
          <a:blip r:embed="rId6"/>
          <a:stretch>
            <a:fillRect/>
          </a:stretch>
        </p:blipFill>
        <p:spPr>
          <a:xfrm>
            <a:off x="6512357" y="4025189"/>
            <a:ext cx="307238" cy="307238"/>
          </a:xfrm>
          <a:prstGeom prst="rect">
            <a:avLst/>
          </a:prstGeom>
        </p:spPr>
      </p:pic>
      <p:sp>
        <p:nvSpPr>
          <p:cNvPr id="32" name="Text 24"/>
          <p:cNvSpPr txBox="1"/>
          <p:nvPr/>
        </p:nvSpPr>
        <p:spPr>
          <a:xfrm>
            <a:off x="7104888" y="3813048"/>
            <a:ext cx="4389120" cy="329184"/>
          </a:xfrm>
          <a:prstGeom prst="rect">
            <a:avLst/>
          </a:prstGeom>
          <a:noFill/>
          <a:ln/>
        </p:spPr>
        <p:txBody>
          <a:bodyPr wrap="square" lIns="0" tIns="0" rIns="0" bIns="0" rtlCol="0" anchor="ctr"/>
          <a:lstStyle/>
          <a:p>
            <a:pPr indent="0" marL="0">
              <a:buNone/>
            </a:pPr>
            <a:r>
              <a:rPr lang="en-US" sz="1450" b="1" dirty="0">
                <a:solidFill>
                  <a:srgbClr val="1A1F36"/>
                </a:solidFill>
                <a:latin typeface="Arial" pitchFamily="34" charset="0"/>
                <a:ea typeface="Arial" pitchFamily="34" charset="-122"/>
                <a:cs typeface="Arial" pitchFamily="34" charset="-120"/>
              </a:rPr>
              <a:t>Speech is English (India)</a:t>
            </a:r>
            <a:endParaRPr lang="en-US" sz="1450" dirty="0"/>
          </a:p>
        </p:txBody>
      </p:sp>
      <p:sp>
        <p:nvSpPr>
          <p:cNvPr id="33" name="Text 25"/>
          <p:cNvSpPr txBox="1"/>
          <p:nvPr/>
        </p:nvSpPr>
        <p:spPr>
          <a:xfrm>
            <a:off x="7104888" y="4142232"/>
            <a:ext cx="4389120" cy="475488"/>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Spoken answers use the phone’s recogniser; typing in the app works too.</a:t>
            </a:r>
            <a:endParaRPr lang="en-US" sz="1250" dirty="0"/>
          </a:p>
        </p:txBody>
      </p:sp>
      <p:sp>
        <p:nvSpPr>
          <p:cNvPr id="34" name="Shape 26"/>
          <p:cNvSpPr/>
          <p:nvPr/>
        </p:nvSpPr>
        <p:spPr>
          <a:xfrm>
            <a:off x="548640" y="4800600"/>
            <a:ext cx="5440680" cy="960120"/>
          </a:xfrm>
          <a:prstGeom prst="roundRect">
            <a:avLst>
              <a:gd name="adj" fmla="val 11429"/>
            </a:avLst>
          </a:prstGeom>
          <a:solidFill>
            <a:srgbClr val="F4F5FA"/>
          </a:solidFill>
          <a:ln w="12700">
            <a:solidFill>
              <a:srgbClr val="F4F5FA"/>
            </a:solidFill>
            <a:prstDash val="solid"/>
          </a:ln>
        </p:spPr>
      </p:sp>
      <p:sp>
        <p:nvSpPr>
          <p:cNvPr id="35" name="Shape 27"/>
          <p:cNvSpPr/>
          <p:nvPr/>
        </p:nvSpPr>
        <p:spPr>
          <a:xfrm>
            <a:off x="749808" y="5001768"/>
            <a:ext cx="548640" cy="548640"/>
          </a:xfrm>
          <a:prstGeom prst="ellipse">
            <a:avLst/>
          </a:prstGeom>
          <a:solidFill>
            <a:srgbClr val="222B55"/>
          </a:solidFill>
          <a:ln w="12700">
            <a:solidFill>
              <a:srgbClr val="222B55"/>
            </a:solidFill>
            <a:prstDash val="solid"/>
          </a:ln>
        </p:spPr>
      </p:sp>
      <p:pic>
        <p:nvPicPr>
          <p:cNvPr id="36" name="Image 6" descr="preencoded.png">    </p:cNvPr>
          <p:cNvPicPr>
            <a:picLocks noChangeAspect="1"/>
          </p:cNvPicPr>
          <p:nvPr/>
        </p:nvPicPr>
        <p:blipFill>
          <a:blip r:embed="rId7"/>
          <a:stretch>
            <a:fillRect/>
          </a:stretch>
        </p:blipFill>
        <p:spPr>
          <a:xfrm>
            <a:off x="870509" y="5122469"/>
            <a:ext cx="307238" cy="307238"/>
          </a:xfrm>
          <a:prstGeom prst="rect">
            <a:avLst/>
          </a:prstGeom>
        </p:spPr>
      </p:pic>
      <p:sp>
        <p:nvSpPr>
          <p:cNvPr id="37" name="Text 28"/>
          <p:cNvSpPr txBox="1"/>
          <p:nvPr/>
        </p:nvSpPr>
        <p:spPr>
          <a:xfrm>
            <a:off x="1463040" y="4910328"/>
            <a:ext cx="4389120" cy="329184"/>
          </a:xfrm>
          <a:prstGeom prst="rect">
            <a:avLst/>
          </a:prstGeom>
          <a:noFill/>
          <a:ln/>
        </p:spPr>
        <p:txBody>
          <a:bodyPr wrap="square" lIns="0" tIns="0" rIns="0" bIns="0" rtlCol="0" anchor="ctr"/>
          <a:lstStyle/>
          <a:p>
            <a:pPr indent="0" marL="0">
              <a:buNone/>
            </a:pPr>
            <a:r>
              <a:rPr lang="en-US" sz="1450" b="1" dirty="0">
                <a:solidFill>
                  <a:srgbClr val="1A1F36"/>
                </a:solidFill>
                <a:latin typeface="Arial" pitchFamily="34" charset="0"/>
                <a:ea typeface="Arial" pitchFamily="34" charset="-122"/>
                <a:cs typeface="Arial" pitchFamily="34" charset="-120"/>
              </a:rPr>
              <a:t>Taught in English, app now in Hindi</a:t>
            </a:r>
            <a:endParaRPr lang="en-US" sz="1450" dirty="0"/>
          </a:p>
        </p:txBody>
      </p:sp>
      <p:sp>
        <p:nvSpPr>
          <p:cNvPr id="38" name="Text 29"/>
          <p:cNvSpPr txBox="1"/>
          <p:nvPr/>
        </p:nvSpPr>
        <p:spPr>
          <a:xfrm>
            <a:off x="1463040" y="5239512"/>
            <a:ext cx="4389120" cy="475488"/>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It stops at the first step and says so; switch the app back or teach the task again in Hindi.</a:t>
            </a:r>
            <a:endParaRPr lang="en-US" sz="1250" dirty="0"/>
          </a:p>
        </p:txBody>
      </p:sp>
      <p:sp>
        <p:nvSpPr>
          <p:cNvPr id="39" name="Shape 30"/>
          <p:cNvSpPr/>
          <p:nvPr/>
        </p:nvSpPr>
        <p:spPr>
          <a:xfrm>
            <a:off x="6190488" y="4800600"/>
            <a:ext cx="5440680" cy="960120"/>
          </a:xfrm>
          <a:prstGeom prst="roundRect">
            <a:avLst>
              <a:gd name="adj" fmla="val 11429"/>
            </a:avLst>
          </a:prstGeom>
          <a:solidFill>
            <a:srgbClr val="F4F5FA"/>
          </a:solidFill>
          <a:ln w="12700">
            <a:solidFill>
              <a:srgbClr val="F4F5FA"/>
            </a:solidFill>
            <a:prstDash val="solid"/>
          </a:ln>
        </p:spPr>
      </p:sp>
      <p:sp>
        <p:nvSpPr>
          <p:cNvPr id="40" name="Shape 31"/>
          <p:cNvSpPr/>
          <p:nvPr/>
        </p:nvSpPr>
        <p:spPr>
          <a:xfrm>
            <a:off x="6391656" y="5001768"/>
            <a:ext cx="548640" cy="548640"/>
          </a:xfrm>
          <a:prstGeom prst="ellipse">
            <a:avLst/>
          </a:prstGeom>
          <a:solidFill>
            <a:srgbClr val="222B55"/>
          </a:solidFill>
          <a:ln w="12700">
            <a:solidFill>
              <a:srgbClr val="222B55"/>
            </a:solidFill>
            <a:prstDash val="solid"/>
          </a:ln>
        </p:spPr>
      </p:sp>
      <p:pic>
        <p:nvPicPr>
          <p:cNvPr id="41" name="Image 7" descr="preencoded.png">    </p:cNvPr>
          <p:cNvPicPr>
            <a:picLocks noChangeAspect="1"/>
          </p:cNvPicPr>
          <p:nvPr/>
        </p:nvPicPr>
        <p:blipFill>
          <a:blip r:embed="rId8"/>
          <a:stretch>
            <a:fillRect/>
          </a:stretch>
        </p:blipFill>
        <p:spPr>
          <a:xfrm>
            <a:off x="6512357" y="5122469"/>
            <a:ext cx="307238" cy="307238"/>
          </a:xfrm>
          <a:prstGeom prst="rect">
            <a:avLst/>
          </a:prstGeom>
        </p:spPr>
      </p:pic>
      <p:sp>
        <p:nvSpPr>
          <p:cNvPr id="42" name="Text 32"/>
          <p:cNvSpPr txBox="1"/>
          <p:nvPr/>
        </p:nvSpPr>
        <p:spPr>
          <a:xfrm>
            <a:off x="7104888" y="4910328"/>
            <a:ext cx="4389120" cy="329184"/>
          </a:xfrm>
          <a:prstGeom prst="rect">
            <a:avLst/>
          </a:prstGeom>
          <a:noFill/>
          <a:ln/>
        </p:spPr>
        <p:txBody>
          <a:bodyPr wrap="square" lIns="0" tIns="0" rIns="0" bIns="0" rtlCol="0" anchor="ctr"/>
          <a:lstStyle/>
          <a:p>
            <a:pPr indent="0" marL="0">
              <a:buNone/>
            </a:pPr>
            <a:r>
              <a:rPr lang="en-US" sz="1450" b="1" dirty="0">
                <a:solidFill>
                  <a:srgbClr val="1A1F36"/>
                </a:solidFill>
                <a:latin typeface="Arial" pitchFamily="34" charset="0"/>
                <a:ea typeface="Arial" pitchFamily="34" charset="-122"/>
                <a:cs typeface="Arial" pitchFamily="34" charset="-120"/>
              </a:rPr>
              <a:t>Loose dish names</a:t>
            </a:r>
            <a:endParaRPr lang="en-US" sz="1450" dirty="0"/>
          </a:p>
        </p:txBody>
      </p:sp>
      <p:sp>
        <p:nvSpPr>
          <p:cNvPr id="43" name="Text 33"/>
          <p:cNvSpPr txBox="1"/>
          <p:nvPr/>
        </p:nvSpPr>
        <p:spPr>
          <a:xfrm>
            <a:off x="7104888" y="5239512"/>
            <a:ext cx="4389120" cy="475488"/>
          </a:xfrm>
          <a:prstGeom prst="rect">
            <a:avLst/>
          </a:prstGeom>
          <a:noFill/>
          <a:ln/>
        </p:spPr>
        <p:txBody>
          <a:bodyPr wrap="square" lIns="0" tIns="0" rIns="0" bIns="0" rtlCol="0" anchor="t"/>
          <a:lstStyle/>
          <a:p>
            <a:pPr indent="0" marL="0">
              <a:buNone/>
            </a:pPr>
            <a:r>
              <a:rPr lang="en-US" sz="1250" dirty="0">
                <a:solidFill>
                  <a:srgbClr val="5C637A"/>
                </a:solidFill>
                <a:latin typeface="Calibri" pitchFamily="34" charset="0"/>
                <a:ea typeface="Calibri" pitchFamily="34" charset="-122"/>
                <a:cs typeface="Calibri" pitchFamily="34" charset="-120"/>
              </a:rPr>
              <a:t>“Garlic bread” picks the closest name on screen (Classic Stuffed Garlic Bread); say the full name for a specific one.</a:t>
            </a:r>
            <a:endParaRPr lang="en-US" sz="1250" dirty="0"/>
          </a:p>
        </p:txBody>
      </p:sp>
      <p:sp>
        <p:nvSpPr>
          <p:cNvPr id="45" name="Text 34"/>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5C637A"/>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46" name="Text 35"/>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5C637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833"/>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200" b="1" spc="300" kern="0" dirty="0">
                <a:solidFill>
                  <a:srgbClr val="FF5B3A"/>
                </a:solidFill>
                <a:latin typeface="Arial" pitchFamily="34" charset="0"/>
                <a:ea typeface="Arial" pitchFamily="34" charset="-122"/>
                <a:cs typeface="Arial" pitchFamily="34" charset="-120"/>
              </a:rPr>
              <a:t>TAKING IT FURTHER</a:t>
            </a:r>
            <a:endParaRPr lang="en-US" sz="12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From a hackathon build to an everyday worklet</a:t>
            </a:r>
            <a:endParaRPr lang="en-US" sz="3000" dirty="0"/>
          </a:p>
        </p:txBody>
      </p:sp>
      <p:sp>
        <p:nvSpPr>
          <p:cNvPr id="4" name="Shape 2"/>
          <p:cNvSpPr/>
          <p:nvPr/>
        </p:nvSpPr>
        <p:spPr>
          <a:xfrm>
            <a:off x="548640" y="1600200"/>
            <a:ext cx="603504" cy="603504"/>
          </a:xfrm>
          <a:prstGeom prst="ellipse">
            <a:avLst/>
          </a:prstGeom>
          <a:solidFill>
            <a:srgbClr val="FF5B3A"/>
          </a:solidFill>
          <a:ln w="12700">
            <a:solidFill>
              <a:srgbClr val="FF5B3A"/>
            </a:solidFill>
            <a:prstDash val="solid"/>
          </a:ln>
        </p:spPr>
      </p:sp>
      <p:pic>
        <p:nvPicPr>
          <p:cNvPr id="5" name="Image 0" descr="preencoded.png">    </p:cNvPr>
          <p:cNvPicPr>
            <a:picLocks noChangeAspect="1"/>
          </p:cNvPicPr>
          <p:nvPr/>
        </p:nvPicPr>
        <p:blipFill>
          <a:blip r:embed="rId1"/>
          <a:stretch>
            <a:fillRect/>
          </a:stretch>
        </p:blipFill>
        <p:spPr>
          <a:xfrm>
            <a:off x="681411" y="1732971"/>
            <a:ext cx="337962" cy="337962"/>
          </a:xfrm>
          <a:prstGeom prst="rect">
            <a:avLst/>
          </a:prstGeom>
        </p:spPr>
      </p:pic>
      <p:sp>
        <p:nvSpPr>
          <p:cNvPr id="6" name="Text 3"/>
          <p:cNvSpPr txBox="1"/>
          <p:nvPr/>
        </p:nvSpPr>
        <p:spPr>
          <a:xfrm>
            <a:off x="1371600" y="1581912"/>
            <a:ext cx="59436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On-device model</a:t>
            </a:r>
            <a:endParaRPr lang="en-US" sz="1600" dirty="0"/>
          </a:p>
        </p:txBody>
      </p:sp>
      <p:sp>
        <p:nvSpPr>
          <p:cNvPr id="7" name="Text 4"/>
          <p:cNvSpPr txBox="1"/>
          <p:nvPr/>
        </p:nvSpPr>
        <p:spPr>
          <a:xfrm>
            <a:off x="1371600" y="1929384"/>
            <a:ext cx="5943600" cy="457200"/>
          </a:xfrm>
          <a:prstGeom prst="rect">
            <a:avLst/>
          </a:prstGeom>
          <a:noFill/>
          <a:ln/>
        </p:spPr>
        <p:txBody>
          <a:bodyPr wrap="square" lIns="0" tIns="0" rIns="0" bIns="0" rtlCol="0" anchor="t"/>
          <a:lstStyle/>
          <a:p>
            <a:pPr indent="0" marL="0">
              <a:buNone/>
            </a:pPr>
            <a:r>
              <a:rPr lang="en-US" sz="1350" dirty="0">
                <a:solidFill>
                  <a:srgbClr val="C8CDE6"/>
                </a:solidFill>
                <a:latin typeface="Calibri" pitchFamily="34" charset="0"/>
                <a:ea typeface="Calibri" pitchFamily="34" charset="-122"/>
                <a:cs typeface="Calibri" pitchFamily="34" charset="-120"/>
              </a:rPr>
              <a:t>Run matching and single actions on a small on-device model: private, offline, faster.</a:t>
            </a:r>
            <a:endParaRPr lang="en-US" sz="1350" dirty="0"/>
          </a:p>
        </p:txBody>
      </p:sp>
      <p:sp>
        <p:nvSpPr>
          <p:cNvPr id="8" name="Shape 5"/>
          <p:cNvSpPr/>
          <p:nvPr/>
        </p:nvSpPr>
        <p:spPr>
          <a:xfrm>
            <a:off x="548640" y="2587752"/>
            <a:ext cx="603504" cy="603504"/>
          </a:xfrm>
          <a:prstGeom prst="ellipse">
            <a:avLst/>
          </a:prstGeom>
          <a:solidFill>
            <a:srgbClr val="222B55"/>
          </a:solidFill>
          <a:ln w="12700">
            <a:solidFill>
              <a:srgbClr val="222B55"/>
            </a:solidFill>
            <a:prstDash val="solid"/>
          </a:ln>
        </p:spPr>
      </p:sp>
      <p:pic>
        <p:nvPicPr>
          <p:cNvPr id="9" name="Image 1" descr="preencoded.png">    </p:cNvPr>
          <p:cNvPicPr>
            <a:picLocks noChangeAspect="1"/>
          </p:cNvPicPr>
          <p:nvPr/>
        </p:nvPicPr>
        <p:blipFill>
          <a:blip r:embed="rId2"/>
          <a:stretch>
            <a:fillRect/>
          </a:stretch>
        </p:blipFill>
        <p:spPr>
          <a:xfrm>
            <a:off x="681411" y="2720523"/>
            <a:ext cx="337962" cy="337962"/>
          </a:xfrm>
          <a:prstGeom prst="rect">
            <a:avLst/>
          </a:prstGeom>
        </p:spPr>
      </p:pic>
      <p:sp>
        <p:nvSpPr>
          <p:cNvPr id="10" name="Text 6"/>
          <p:cNvSpPr txBox="1"/>
          <p:nvPr/>
        </p:nvSpPr>
        <p:spPr>
          <a:xfrm>
            <a:off x="1371600" y="2569464"/>
            <a:ext cx="59436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Share what you taught</a:t>
            </a:r>
            <a:endParaRPr lang="en-US" sz="1600" dirty="0"/>
          </a:p>
        </p:txBody>
      </p:sp>
      <p:sp>
        <p:nvSpPr>
          <p:cNvPr id="11" name="Text 7"/>
          <p:cNvSpPr txBox="1"/>
          <p:nvPr/>
        </p:nvSpPr>
        <p:spPr>
          <a:xfrm>
            <a:off x="1371600" y="2916936"/>
            <a:ext cx="5943600" cy="457200"/>
          </a:xfrm>
          <a:prstGeom prst="rect">
            <a:avLst/>
          </a:prstGeom>
          <a:noFill/>
          <a:ln/>
        </p:spPr>
        <p:txBody>
          <a:bodyPr wrap="square" lIns="0" tIns="0" rIns="0" bIns="0" rtlCol="0" anchor="t"/>
          <a:lstStyle/>
          <a:p>
            <a:pPr indent="0" marL="0">
              <a:buNone/>
            </a:pPr>
            <a:r>
              <a:rPr lang="en-US" sz="1350" dirty="0">
                <a:solidFill>
                  <a:srgbClr val="C8CDE6"/>
                </a:solidFill>
                <a:latin typeface="Calibri" pitchFamily="34" charset="0"/>
                <a:ea typeface="Calibri" pitchFamily="34" charset="-122"/>
                <a:cs typeface="Calibri" pitchFamily="34" charset="-120"/>
              </a:rPr>
              <a:t>Export a learned task so family or a team can run it without re-teaching.</a:t>
            </a:r>
            <a:endParaRPr lang="en-US" sz="1350" dirty="0"/>
          </a:p>
        </p:txBody>
      </p:sp>
      <p:sp>
        <p:nvSpPr>
          <p:cNvPr id="12" name="Shape 8"/>
          <p:cNvSpPr/>
          <p:nvPr/>
        </p:nvSpPr>
        <p:spPr>
          <a:xfrm>
            <a:off x="548640" y="3575304"/>
            <a:ext cx="603504" cy="603504"/>
          </a:xfrm>
          <a:prstGeom prst="ellipse">
            <a:avLst/>
          </a:prstGeom>
          <a:solidFill>
            <a:srgbClr val="222B55"/>
          </a:solidFill>
          <a:ln w="12700">
            <a:solidFill>
              <a:srgbClr val="222B55"/>
            </a:solidFill>
            <a:prstDash val="solid"/>
          </a:ln>
        </p:spPr>
      </p:sp>
      <p:pic>
        <p:nvPicPr>
          <p:cNvPr id="13" name="Image 2" descr="preencoded.png">    </p:cNvPr>
          <p:cNvPicPr>
            <a:picLocks noChangeAspect="1"/>
          </p:cNvPicPr>
          <p:nvPr/>
        </p:nvPicPr>
        <p:blipFill>
          <a:blip r:embed="rId3"/>
          <a:stretch>
            <a:fillRect/>
          </a:stretch>
        </p:blipFill>
        <p:spPr>
          <a:xfrm>
            <a:off x="681411" y="3708075"/>
            <a:ext cx="337962" cy="337962"/>
          </a:xfrm>
          <a:prstGeom prst="rect">
            <a:avLst/>
          </a:prstGeom>
        </p:spPr>
      </p:pic>
      <p:sp>
        <p:nvSpPr>
          <p:cNvPr id="14" name="Text 9"/>
          <p:cNvSpPr txBox="1"/>
          <p:nvPr/>
        </p:nvSpPr>
        <p:spPr>
          <a:xfrm>
            <a:off x="1371600" y="3557016"/>
            <a:ext cx="59436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Routines</a:t>
            </a:r>
            <a:endParaRPr lang="en-US" sz="1600" dirty="0"/>
          </a:p>
        </p:txBody>
      </p:sp>
      <p:sp>
        <p:nvSpPr>
          <p:cNvPr id="15" name="Text 10"/>
          <p:cNvSpPr txBox="1"/>
          <p:nvPr/>
        </p:nvSpPr>
        <p:spPr>
          <a:xfrm>
            <a:off x="1371600" y="3904488"/>
            <a:ext cx="5943600" cy="457200"/>
          </a:xfrm>
          <a:prstGeom prst="rect">
            <a:avLst/>
          </a:prstGeom>
          <a:noFill/>
          <a:ln/>
        </p:spPr>
        <p:txBody>
          <a:bodyPr wrap="square" lIns="0" tIns="0" rIns="0" bIns="0" rtlCol="0" anchor="t"/>
          <a:lstStyle/>
          <a:p>
            <a:pPr indent="0" marL="0">
              <a:buNone/>
            </a:pPr>
            <a:r>
              <a:rPr lang="en-US" sz="1350" dirty="0">
                <a:solidFill>
                  <a:srgbClr val="C8CDE6"/>
                </a:solidFill>
                <a:latin typeface="Calibri" pitchFamily="34" charset="0"/>
                <a:ea typeface="Calibri" pitchFamily="34" charset="-122"/>
                <a:cs typeface="Calibri" pitchFamily="34" charset="-120"/>
              </a:rPr>
              <a:t>Run a taught task on a schedule or chain two of them: “every Friday, order…”.</a:t>
            </a:r>
            <a:endParaRPr lang="en-US" sz="1350" dirty="0"/>
          </a:p>
        </p:txBody>
      </p:sp>
      <p:sp>
        <p:nvSpPr>
          <p:cNvPr id="16" name="Shape 11"/>
          <p:cNvSpPr/>
          <p:nvPr/>
        </p:nvSpPr>
        <p:spPr>
          <a:xfrm>
            <a:off x="548640" y="4562856"/>
            <a:ext cx="603504" cy="603504"/>
          </a:xfrm>
          <a:prstGeom prst="ellipse">
            <a:avLst/>
          </a:prstGeom>
          <a:solidFill>
            <a:srgbClr val="222B55"/>
          </a:solidFill>
          <a:ln w="12700">
            <a:solidFill>
              <a:srgbClr val="222B55"/>
            </a:solidFill>
            <a:prstDash val="solid"/>
          </a:ln>
        </p:spPr>
      </p:sp>
      <p:pic>
        <p:nvPicPr>
          <p:cNvPr id="17" name="Image 3" descr="preencoded.png">    </p:cNvPr>
          <p:cNvPicPr>
            <a:picLocks noChangeAspect="1"/>
          </p:cNvPicPr>
          <p:nvPr/>
        </p:nvPicPr>
        <p:blipFill>
          <a:blip r:embed="rId4"/>
          <a:stretch>
            <a:fillRect/>
          </a:stretch>
        </p:blipFill>
        <p:spPr>
          <a:xfrm>
            <a:off x="681411" y="4695627"/>
            <a:ext cx="337962" cy="337962"/>
          </a:xfrm>
          <a:prstGeom prst="rect">
            <a:avLst/>
          </a:prstGeom>
        </p:spPr>
      </p:pic>
      <p:sp>
        <p:nvSpPr>
          <p:cNvPr id="18" name="Text 12"/>
          <p:cNvSpPr txBox="1"/>
          <p:nvPr/>
        </p:nvSpPr>
        <p:spPr>
          <a:xfrm>
            <a:off x="1371600" y="4544568"/>
            <a:ext cx="59436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More languages</a:t>
            </a:r>
            <a:endParaRPr lang="en-US" sz="1600" dirty="0"/>
          </a:p>
        </p:txBody>
      </p:sp>
      <p:sp>
        <p:nvSpPr>
          <p:cNvPr id="19" name="Text 13"/>
          <p:cNvSpPr txBox="1"/>
          <p:nvPr/>
        </p:nvSpPr>
        <p:spPr>
          <a:xfrm>
            <a:off x="1371600" y="4892040"/>
            <a:ext cx="5943600" cy="457200"/>
          </a:xfrm>
          <a:prstGeom prst="rect">
            <a:avLst/>
          </a:prstGeom>
          <a:noFill/>
          <a:ln/>
        </p:spPr>
        <p:txBody>
          <a:bodyPr wrap="square" lIns="0" tIns="0" rIns="0" bIns="0" rtlCol="0" anchor="t"/>
          <a:lstStyle/>
          <a:p>
            <a:pPr indent="0" marL="0">
              <a:buNone/>
            </a:pPr>
            <a:r>
              <a:rPr lang="en-US" sz="1350" dirty="0">
                <a:solidFill>
                  <a:srgbClr val="C8CDE6"/>
                </a:solidFill>
                <a:latin typeface="Calibri" pitchFamily="34" charset="0"/>
                <a:ea typeface="Calibri" pitchFamily="34" charset="-122"/>
                <a:cs typeface="Calibri" pitchFamily="34" charset="-120"/>
              </a:rPr>
              <a:t>Hindi and other Indian languages for commands and questions, not just Hinglish.</a:t>
            </a:r>
            <a:endParaRPr lang="en-US" sz="1350" dirty="0"/>
          </a:p>
        </p:txBody>
      </p:sp>
      <p:sp>
        <p:nvSpPr>
          <p:cNvPr id="20" name="Shape 14"/>
          <p:cNvSpPr/>
          <p:nvPr/>
        </p:nvSpPr>
        <p:spPr>
          <a:xfrm>
            <a:off x="7589520" y="1600200"/>
            <a:ext cx="4050792" cy="3749040"/>
          </a:xfrm>
          <a:prstGeom prst="roundRect">
            <a:avLst>
              <a:gd name="adj" fmla="val 2927"/>
            </a:avLst>
          </a:prstGeom>
          <a:solidFill>
            <a:srgbClr val="222B55"/>
          </a:solidFill>
          <a:ln w="12700">
            <a:solidFill>
              <a:srgbClr val="222B55"/>
            </a:solidFill>
            <a:prstDash val="solid"/>
          </a:ln>
        </p:spPr>
      </p:sp>
      <p:sp>
        <p:nvSpPr>
          <p:cNvPr id="21" name="Text 15"/>
          <p:cNvSpPr txBox="1"/>
          <p:nvPr/>
        </p:nvSpPr>
        <p:spPr>
          <a:xfrm>
            <a:off x="7863840" y="1828800"/>
            <a:ext cx="3566160" cy="64008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Thank you</a:t>
            </a:r>
            <a:endParaRPr lang="en-US" sz="3200" dirty="0"/>
          </a:p>
        </p:txBody>
      </p:sp>
      <p:sp>
        <p:nvSpPr>
          <p:cNvPr id="22" name="Text 16"/>
          <p:cNvSpPr txBox="1"/>
          <p:nvPr/>
        </p:nvSpPr>
        <p:spPr>
          <a:xfrm>
            <a:off x="7863840" y="2560320"/>
            <a:ext cx="3611880" cy="16459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Code, README, Dockerfile, docs</a:t>
            </a:r>
            <a:endParaRPr lang="en-US" sz="1350" dirty="0"/>
          </a:p>
          <a:p>
            <a:pPr indent="0" marL="0">
              <a:buNone/>
            </a:pPr>
            <a:r>
              <a:rPr lang="en-US" sz="1150" dirty="0">
                <a:solidFill>
                  <a:srgbClr val="3FD1B8"/>
                </a:solidFill>
                <a:latin typeface="Calibri" pitchFamily="34" charset="0"/>
                <a:ea typeface="Calibri" pitchFamily="34" charset="-122"/>
                <a:cs typeface="Calibri" pitchFamily="34" charset="-120"/>
              </a:rPr>
              <a:t>github.com/sgoel2be24-cyber/prism-teachable-voice</a:t>
            </a:r>
            <a:endParaRPr lang="en-US" sz="135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350" dirty="0"/>
          </a:p>
          <a:p>
            <a:pPr indent="0" marL="0">
              <a:buNone/>
            </a:pPr>
            <a:r>
              <a:rPr lang="en-US" sz="1350" b="1" dirty="0">
                <a:solidFill>
                  <a:srgbClr val="FFFFFF"/>
                </a:solidFill>
                <a:latin typeface="Calibri" pitchFamily="34" charset="0"/>
                <a:ea typeface="Calibri" pitchFamily="34" charset="-122"/>
                <a:cs typeface="Calibri" pitchFamily="34" charset="-120"/>
              </a:rPr>
              <a:t>Release tag</a:t>
            </a:r>
            <a:endParaRPr lang="en-US" sz="1350" dirty="0"/>
          </a:p>
          <a:p>
            <a:pPr indent="0" marL="0">
              <a:buNone/>
            </a:pPr>
            <a:r>
              <a:rPr lang="en-US" sz="1350" dirty="0">
                <a:solidFill>
                  <a:srgbClr val="C8CDE6"/>
                </a:solidFill>
                <a:latin typeface="Calibri" pitchFamily="34" charset="0"/>
                <a:ea typeface="Calibri" pitchFamily="34" charset="-122"/>
                <a:cs typeface="Calibri" pitchFamily="34" charset="-120"/>
              </a:rPr>
              <a:t>PRISM_GENAI_HACKATHON_Y2026</a:t>
            </a:r>
            <a:endParaRPr lang="en-US" sz="1350" dirty="0"/>
          </a:p>
        </p:txBody>
      </p:sp>
      <p:sp>
        <p:nvSpPr>
          <p:cNvPr id="23" name="Shape 17"/>
          <p:cNvSpPr/>
          <p:nvPr/>
        </p:nvSpPr>
        <p:spPr>
          <a:xfrm>
            <a:off x="7863840" y="4480560"/>
            <a:ext cx="3474720" cy="502920"/>
          </a:xfrm>
          <a:prstGeom prst="roundRect">
            <a:avLst>
              <a:gd name="adj" fmla="val 50000"/>
            </a:avLst>
          </a:prstGeom>
          <a:solidFill>
            <a:srgbClr val="FFFFFF"/>
          </a:solidFill>
          <a:ln w="12700">
            <a:solidFill>
              <a:srgbClr val="E2E5EE"/>
            </a:solidFill>
            <a:prstDash val="solid"/>
          </a:ln>
        </p:spPr>
      </p:sp>
      <p:sp>
        <p:nvSpPr>
          <p:cNvPr id="24" name="Shape 18"/>
          <p:cNvSpPr/>
          <p:nvPr/>
        </p:nvSpPr>
        <p:spPr>
          <a:xfrm>
            <a:off x="7927848" y="4544568"/>
            <a:ext cx="374904" cy="374904"/>
          </a:xfrm>
          <a:prstGeom prst="ellipse">
            <a:avLst/>
          </a:prstGeom>
          <a:solidFill>
            <a:srgbClr val="FF5B3A"/>
          </a:solidFill>
          <a:ln w="12700">
            <a:solidFill>
              <a:srgbClr val="FF5B3A"/>
            </a:solidFill>
            <a:prstDash val="solid"/>
          </a:ln>
        </p:spPr>
      </p:sp>
      <p:pic>
        <p:nvPicPr>
          <p:cNvPr id="25" name="Image 4" descr="preencoded.png">    </p:cNvPr>
          <p:cNvPicPr>
            <a:picLocks noChangeAspect="1"/>
          </p:cNvPicPr>
          <p:nvPr/>
        </p:nvPicPr>
        <p:blipFill>
          <a:blip r:embed="rId5"/>
          <a:stretch>
            <a:fillRect/>
          </a:stretch>
        </p:blipFill>
        <p:spPr>
          <a:xfrm>
            <a:off x="8002829" y="4619549"/>
            <a:ext cx="224942" cy="224942"/>
          </a:xfrm>
          <a:prstGeom prst="rect">
            <a:avLst/>
          </a:prstGeom>
        </p:spPr>
      </p:pic>
      <p:sp>
        <p:nvSpPr>
          <p:cNvPr id="26" name="Text 19"/>
          <p:cNvSpPr txBox="1"/>
          <p:nvPr/>
        </p:nvSpPr>
        <p:spPr>
          <a:xfrm>
            <a:off x="8421624" y="4480560"/>
            <a:ext cx="2825496" cy="502920"/>
          </a:xfrm>
          <a:prstGeom prst="rect">
            <a:avLst/>
          </a:prstGeom>
          <a:noFill/>
          <a:ln/>
        </p:spPr>
        <p:txBody>
          <a:bodyPr wrap="square" lIns="0" tIns="0" rIns="0" bIns="0" rtlCol="0" anchor="ctr">
            <a:normAutofit/>
          </a:bodyPr>
          <a:lstStyle/>
          <a:p>
            <a:pPr indent="0" marL="0">
              <a:buNone/>
            </a:pPr>
            <a:r>
              <a:rPr lang="en-US" sz="1400" i="1" dirty="0">
                <a:solidFill>
                  <a:srgbClr val="1A1F36"/>
                </a:solidFill>
                <a:latin typeface="Calibri" pitchFamily="34" charset="0"/>
                <a:ea typeface="Calibri" pitchFamily="34" charset="-122"/>
                <a:cs typeface="Calibri" pitchFamily="34" charset="-120"/>
              </a:rPr>
              <a:t>“Did the last run succeed?”</a:t>
            </a:r>
            <a:endParaRPr lang="en-US" sz="1400" dirty="0"/>
          </a:p>
        </p:txBody>
      </p:sp>
      <p:sp>
        <p:nvSpPr>
          <p:cNvPr id="28" name="Text 2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1B4"/>
                </a:solidFill>
                <a:latin typeface="Calibri" pitchFamily="34" charset="0"/>
                <a:ea typeface="Calibri" pitchFamily="34" charset="-122"/>
                <a:cs typeface="Calibri" pitchFamily="34" charset="-120"/>
              </a:rPr>
              <a:t>Teachable Voice Automation · Theme 3 · Team Update, TIET</a:t>
            </a:r>
            <a:endParaRPr lang="en-US" sz="1000" dirty="0"/>
          </a:p>
        </p:txBody>
      </p:sp>
      <p:sp>
        <p:nvSpPr>
          <p:cNvPr id="29" name="Text 21"/>
          <p:cNvSpPr txBox="1"/>
          <p:nvPr/>
        </p:nvSpPr>
        <p:spPr>
          <a:xfrm>
            <a:off x="10728655" y="6473952"/>
            <a:ext cx="914400" cy="274320"/>
          </a:xfrm>
          <a:prstGeom prst="rect">
            <a:avLst/>
          </a:prstGeom>
          <a:noFill/>
          <a:ln/>
        </p:spPr>
        <p:txBody>
          <a:bodyPr wrap="square" lIns="0" tIns="0" rIns="0" bIns="0" rtlCol="0" anchor="ctr"/>
          <a:lstStyle/>
          <a:p>
            <a:pPr algn="r" indent="0" marL="0">
              <a:buNone/>
            </a:pPr>
            <a:r>
              <a:rPr lang="en-US" sz="1000" dirty="0">
                <a:solidFill>
                  <a:srgbClr val="8A91B4"/>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Teachable Voice Automation — Team Update, TIET</dc:title>
  <dc:subject>PptxGenJS Presentation</dc:subject>
  <dc:creator>Team Update (TIET)</dc:creator>
  <cp:lastModifiedBy>Team Update (TIET)</cp:lastModifiedBy>
  <cp:revision>1</cp:revision>
  <dcterms:created xsi:type="dcterms:W3CDTF">2026-09-30T08:37:49Z</dcterms:created>
  <dcterms:modified xsi:type="dcterms:W3CDTF">2026-09-30T08:37:49Z</dcterms:modified>
</cp:coreProperties>
</file>